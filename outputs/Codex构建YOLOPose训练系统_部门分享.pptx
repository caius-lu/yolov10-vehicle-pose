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2b807454194c2d" /><Relationship Type="http://schemas.openxmlformats.org/officeDocument/2006/relationships/extended-properties" Target="/docProps/app.xml" Id="R2e027e2263c542e0" /><Relationship Type="http://schemas.openxmlformats.org/officeDocument/2006/relationships/officeDocument" Target="/ppt/presentation.xml" Id="R84f0fd7cc44641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0e38b9fa7e4012"/>
  </p:sldMasterIdLst>
  <p:notesMasterIdLst>
    <p:notesMasterId xmlns:r="http://schemas.openxmlformats.org/officeDocument/2006/relationships" r:id="Rdd20f06f87714010"/>
  </p:notesMasterIdLst>
  <p:sldIdLst>
    <p:sldId xmlns:r="http://schemas.openxmlformats.org/officeDocument/2006/relationships" id="256" r:id="R8a607a8e5e3a42c0"/>
    <p:sldId xmlns:r="http://schemas.openxmlformats.org/officeDocument/2006/relationships" id="257" r:id="R83e0ac32720947bc"/>
    <p:sldId xmlns:r="http://schemas.openxmlformats.org/officeDocument/2006/relationships" id="258" r:id="R787fd7d582b043da"/>
    <p:sldId xmlns:r="http://schemas.openxmlformats.org/officeDocument/2006/relationships" id="259" r:id="R08487c6d89124a23"/>
    <p:sldId xmlns:r="http://schemas.openxmlformats.org/officeDocument/2006/relationships" id="260" r:id="R564de8b0af064aa8"/>
    <p:sldId xmlns:r="http://schemas.openxmlformats.org/officeDocument/2006/relationships" id="261" r:id="R6e295c81e951410a"/>
    <p:sldId xmlns:r="http://schemas.openxmlformats.org/officeDocument/2006/relationships" id="262" r:id="Rcb8c2b3a576c4283"/>
    <p:sldId xmlns:r="http://schemas.openxmlformats.org/officeDocument/2006/relationships" id="263" r:id="Rb31605cc6a704563"/>
    <p:sldId xmlns:r="http://schemas.openxmlformats.org/officeDocument/2006/relationships" id="264" r:id="R81138699113b45f0"/>
    <p:sldId xmlns:r="http://schemas.openxmlformats.org/officeDocument/2006/relationships" id="265" r:id="Rf0b1f4b5b79243fb"/>
    <p:sldId xmlns:r="http://schemas.openxmlformats.org/officeDocument/2006/relationships" id="266" r:id="Rcc6e7a2835a94f4a"/>
    <p:sldId xmlns:r="http://schemas.openxmlformats.org/officeDocument/2006/relationships" id="267" r:id="R43236894e25b4688"/>
    <p:sldId xmlns:r="http://schemas.openxmlformats.org/officeDocument/2006/relationships" id="268" r:id="Re9730dc5ef374f07"/>
    <p:sldId xmlns:r="http://schemas.openxmlformats.org/officeDocument/2006/relationships" id="269" r:id="R0ace6ea3ebda4bd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c727deb75d4ceb" /><Relationship Type="http://schemas.openxmlformats.org/officeDocument/2006/relationships/slideMaster" Target="/ppt/slideMasters/slideMaster1.xml" Id="Rf50e38b9fa7e4012" /><Relationship Type="http://schemas.openxmlformats.org/officeDocument/2006/relationships/notesMaster" Target="/ppt/notesMasters/notesMaster1.xml" Id="Rdd20f06f87714010" /><Relationship Type="http://schemas.openxmlformats.org/officeDocument/2006/relationships/presProps" Target="/ppt/presProps.xml" Id="Ra672d56dfacc41e2" /><Relationship Type="http://schemas.openxmlformats.org/officeDocument/2006/relationships/tableStyles" Target="/ppt/tableStyles.xml" Id="R526e99d031f14d35" /><Relationship Type="http://schemas.openxmlformats.org/officeDocument/2006/relationships/slide" Target="/ppt/slides/slide1.xml" Id="R8a607a8e5e3a42c0" /><Relationship Type="http://schemas.openxmlformats.org/officeDocument/2006/relationships/slide" Target="/ppt/slides/slide2.xml" Id="R83e0ac32720947bc" /><Relationship Type="http://schemas.openxmlformats.org/officeDocument/2006/relationships/slide" Target="/ppt/slides/slide3.xml" Id="R787fd7d582b043da" /><Relationship Type="http://schemas.openxmlformats.org/officeDocument/2006/relationships/slide" Target="/ppt/slides/slide4.xml" Id="R08487c6d89124a23" /><Relationship Type="http://schemas.openxmlformats.org/officeDocument/2006/relationships/slide" Target="/ppt/slides/slide5.xml" Id="R564de8b0af064aa8" /><Relationship Type="http://schemas.openxmlformats.org/officeDocument/2006/relationships/slide" Target="/ppt/slides/slide6.xml" Id="R6e295c81e951410a" /><Relationship Type="http://schemas.openxmlformats.org/officeDocument/2006/relationships/slide" Target="/ppt/slides/slide7.xml" Id="Rcb8c2b3a576c4283" /><Relationship Type="http://schemas.openxmlformats.org/officeDocument/2006/relationships/slide" Target="/ppt/slides/slide8.xml" Id="Rb31605cc6a704563" /><Relationship Type="http://schemas.openxmlformats.org/officeDocument/2006/relationships/slide" Target="/ppt/slides/slide9.xml" Id="R81138699113b45f0" /><Relationship Type="http://schemas.openxmlformats.org/officeDocument/2006/relationships/slide" Target="/ppt/slides/slide10.xml" Id="Rf0b1f4b5b79243fb" /><Relationship Type="http://schemas.openxmlformats.org/officeDocument/2006/relationships/slide" Target="/ppt/slides/slide11.xml" Id="Rcc6e7a2835a94f4a" /><Relationship Type="http://schemas.openxmlformats.org/officeDocument/2006/relationships/slide" Target="/ppt/slides/slide12.xml" Id="R43236894e25b4688" /><Relationship Type="http://schemas.openxmlformats.org/officeDocument/2006/relationships/slide" Target="/ppt/slides/slide13.xml" Id="Re9730dc5ef374f07" /><Relationship Type="http://schemas.openxmlformats.org/officeDocument/2006/relationships/slide" Target="/ppt/slides/slide14.xml" Id="R0ace6ea3ebda4b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be20d384934a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79e0bf421b4c36" /><Relationship Type="http://schemas.openxmlformats.org/officeDocument/2006/relationships/notesMaster" Target="/ppt/notesMasters/notesMaster1.xml" Id="Rd9f977cca58245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edeb48aded4d38" /><Relationship Type="http://schemas.openxmlformats.org/officeDocument/2006/relationships/notesMaster" Target="/ppt/notesMasters/notesMaster1.xml" Id="Re08b880926f742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0b24a0f56a49a8" /><Relationship Type="http://schemas.openxmlformats.org/officeDocument/2006/relationships/notesMaster" Target="/ppt/notesMasters/notesMaster1.xml" Id="R703a3759351243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f3683e96aa4871" /><Relationship Type="http://schemas.openxmlformats.org/officeDocument/2006/relationships/notesMaster" Target="/ppt/notesMasters/notesMaster1.xml" Id="R7e8ad517e09d40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a42231c35b4573" /><Relationship Type="http://schemas.openxmlformats.org/officeDocument/2006/relationships/notesMaster" Target="/ppt/notesMasters/notesMaster1.xml" Id="R934cea7736d141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f2369193f942bf" /><Relationship Type="http://schemas.openxmlformats.org/officeDocument/2006/relationships/notesMaster" Target="/ppt/notesMasters/notesMaster1.xml" Id="R37a13776d2a24b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d49cda5430441a" /><Relationship Type="http://schemas.openxmlformats.org/officeDocument/2006/relationships/notesMaster" Target="/ppt/notesMasters/notesMaster1.xml" Id="R221c23c1e28942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bfe1a9ed934838" /><Relationship Type="http://schemas.openxmlformats.org/officeDocument/2006/relationships/notesMaster" Target="/ppt/notesMasters/notesMaster1.xml" Id="R7cbfea164a884d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9901be237440da" /><Relationship Type="http://schemas.openxmlformats.org/officeDocument/2006/relationships/notesMaster" Target="/ppt/notesMasters/notesMaster1.xml" Id="R1d10986bee8d46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fc2ac442ba48f0" /><Relationship Type="http://schemas.openxmlformats.org/officeDocument/2006/relationships/notesMaster" Target="/ppt/notesMasters/notesMaster1.xml" Id="R43f1e2662bd846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3115c90d8c4db2" /><Relationship Type="http://schemas.openxmlformats.org/officeDocument/2006/relationships/notesMaster" Target="/ppt/notesMasters/notesMaster1.xml" Id="R77a4ec55a64549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e69d55a2684fae" /><Relationship Type="http://schemas.openxmlformats.org/officeDocument/2006/relationships/notesMaster" Target="/ppt/notesMasters/notesMaster1.xml" Id="R1551d2632a7941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4843058e974fd2" /><Relationship Type="http://schemas.openxmlformats.org/officeDocument/2006/relationships/notesMaster" Target="/ppt/notesMasters/notesMaster1.xml" Id="R73407506efb74e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c72982199647cd" /><Relationship Type="http://schemas.openxmlformats.org/officeDocument/2006/relationships/notesMaster" Target="/ppt/notesMasters/notesMaster1.xml" Id="R236ecb78db1842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7a19f2f0f24d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e7ef6e730e46fa" /><Relationship Type="http://schemas.openxmlformats.org/officeDocument/2006/relationships/slideLayout" Target="/ppt/slideLayouts/slideLayout1.xml" Id="R44ee62dfecff48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ee62dfecff48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ad7b06eb24862" /><Relationship Type="http://schemas.openxmlformats.org/officeDocument/2006/relationships/notesSlide" Target="/ppt/notesSlides/notesSlide1.xml" Id="R05b206a60ef14b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0d43fa56c4cbd" /><Relationship Type="http://schemas.openxmlformats.org/officeDocument/2006/relationships/image" Target="/ppt/media/image.jpeg" Id="Re5befda08c2e42ba" /><Relationship Type="http://schemas.openxmlformats.org/officeDocument/2006/relationships/notesSlide" Target="/ppt/notesSlides/notesSlide2.xml" Id="Re1eee9898ec248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be6753ba648b7" /><Relationship Type="http://schemas.openxmlformats.org/officeDocument/2006/relationships/notesSlide" Target="/ppt/notesSlides/notesSlide3.xml" Id="Rf5828c1156eb43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d703882e34078" /><Relationship Type="http://schemas.openxmlformats.org/officeDocument/2006/relationships/notesSlide" Target="/ppt/notesSlides/notesSlide4.xml" Id="Rd6975012c0ff4a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55f936b8241c5" /><Relationship Type="http://schemas.openxmlformats.org/officeDocument/2006/relationships/notesSlide" Target="/ppt/notesSlides/notesSlide5.xml" Id="R0deab56df42d4c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f9a891b77401a" /><Relationship Type="http://schemas.openxmlformats.org/officeDocument/2006/relationships/notesSlide" Target="/ppt/notesSlides/notesSlide6.xml" Id="R92f48304cd554c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aa87f9e884151" /><Relationship Type="http://schemas.openxmlformats.org/officeDocument/2006/relationships/image" Target="/ppt/media/image.png" Id="R0c8064f6e85449c6" /><Relationship Type="http://schemas.openxmlformats.org/officeDocument/2006/relationships/notesSlide" Target="/ppt/notesSlides/notesSlide7.xml" Id="R7d40d13963924f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045f7e64e4753" /><Relationship Type="http://schemas.openxmlformats.org/officeDocument/2006/relationships/image" Target="/ppt/media/image2.jpeg" Id="R707c1cd7fe6c447b" /><Relationship Type="http://schemas.openxmlformats.org/officeDocument/2006/relationships/image" Target="/ppt/media/image3.jpeg" Id="R4301f90f29254107" /><Relationship Type="http://schemas.openxmlformats.org/officeDocument/2006/relationships/notesSlide" Target="/ppt/notesSlides/notesSlide8.xml" Id="R4b8964545cd042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b0c17c3554338" /><Relationship Type="http://schemas.openxmlformats.org/officeDocument/2006/relationships/image" Target="/ppt/media/image4.jpeg" Id="R71a7c4fb69174994" /><Relationship Type="http://schemas.openxmlformats.org/officeDocument/2006/relationships/notesSlide" Target="/ppt/notesSlides/notesSlide9.xml" Id="R0b600bec686944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6788b8a68427d" /><Relationship Type="http://schemas.openxmlformats.org/officeDocument/2006/relationships/chart" Target="/ppt/slides/charts/chart1.xml" Id="R413a935e168c4a5a" /><Relationship Type="http://schemas.openxmlformats.org/officeDocument/2006/relationships/notesSlide" Target="/ppt/notesSlides/notesSlide10.xml" Id="Ra7163e326e4c45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28e747ad548af" /><Relationship Type="http://schemas.openxmlformats.org/officeDocument/2006/relationships/notesSlide" Target="/ppt/notesSlides/notesSlide11.xml" Id="R294d152b4b3f47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6adca4c0d4914" /><Relationship Type="http://schemas.openxmlformats.org/officeDocument/2006/relationships/chart" Target="/ppt/slides/charts/chart2.xml" Id="R569d0ed818b745ac" /><Relationship Type="http://schemas.openxmlformats.org/officeDocument/2006/relationships/notesSlide" Target="/ppt/notesSlides/notesSlide12.xml" Id="Re111078b593949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e81363c0249b1" /><Relationship Type="http://schemas.openxmlformats.org/officeDocument/2006/relationships/notesSlide" Target="/ppt/notesSlides/notesSlide13.xml" Id="R31bbe05a74a34a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3767a01cc4122" /><Relationship Type="http://schemas.openxmlformats.org/officeDocument/2006/relationships/notesSlide" Target="/ppt/notesSlides/notesSlide14.xml" Id="R70700cbb8a2744f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/mnt/e</c:v>
          </c:tx>
          <c:spPr>
            <a:solidFill xmlns:a="http://schemas.openxmlformats.org/drawingml/2006/main">
              <a:srgbClr val="E5484D"/>
            </a:solidFill>
          </c:spPr>
          <c:cat>
            <c:strLit>
              <c:ptCount val="2"/>
              <c:pt idx="0">
                <c:v>平均延迟</c:v>
              </c:pt>
              <c:pt idx="1">
                <c:v>P95</c:v>
              </c:pt>
            </c:strLit>
          </c:cat>
          <c:val>
            <c:numLit>
              <c:formatCode>General</c:formatCode>
              <c:ptCount val="2"/>
              <c:pt idx="0">
                <c:v>60.1</c:v>
              </c:pt>
              <c:pt idx="1">
                <c:v>109.25</c:v>
              </c:pt>
            </c:numLit>
          </c:val>
        </c:ser>
        <c:ser>
          <c:idx val="1"/>
          <c:order val="1"/>
          <c:tx>
            <c:v>WSL ext4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平均延迟</c:v>
              </c:pt>
              <c:pt idx="1">
                <c:v>P95</c:v>
              </c:pt>
            </c:strLit>
          </c:cat>
          <c:val>
            <c:numLit>
              <c:formatCode>General</c:formatCode>
              <c:ptCount val="2"/>
              <c:pt idx="0">
                <c:v>16.63</c:v>
              </c:pt>
              <c:pt idx="1">
                <c:v>18.62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毫秒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有效标注数</c:v>
          </c:tx>
          <c:spPr>
            <a:solidFill xmlns:a="http://schemas.openxmlformats.org/drawingml/2006/main">
              <a:srgbClr val="3D8DFF"/>
            </a:solidFill>
          </c:spPr>
          <c:cat>
            <c:numLit>
              <c:formatCode>General</c:formatCode>
              <c:ptCount val="1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</c:numLit>
          </c:cat>
          <c:val>
            <c:numLit>
              <c:formatCode>General</c:formatCode>
              <c:ptCount val="14"/>
              <c:pt idx="0">
                <c:v>57868</c:v>
              </c:pt>
              <c:pt idx="1">
                <c:v>58232</c:v>
              </c:pt>
              <c:pt idx="2">
                <c:v>55739</c:v>
              </c:pt>
              <c:pt idx="3">
                <c:v>56330</c:v>
              </c:pt>
              <c:pt idx="4">
                <c:v>57745</c:v>
              </c:pt>
              <c:pt idx="5">
                <c:v>57856</c:v>
              </c:pt>
              <c:pt idx="6">
                <c:v>54945</c:v>
              </c:pt>
              <c:pt idx="7">
                <c:v>55196</c:v>
              </c:pt>
              <c:pt idx="8">
                <c:v>2862</c:v>
              </c:pt>
              <c:pt idx="9">
                <c:v>57236</c:v>
              </c:pt>
              <c:pt idx="10">
                <c:v>57505</c:v>
              </c:pt>
              <c:pt idx="11">
                <c:v>55875</c:v>
              </c:pt>
              <c:pt idx="12">
                <c:v>56224</c:v>
              </c:pt>
              <c:pt idx="13">
                <c:v>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76DDBAD-A408-4253-A12E-7D791F93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部门工程实践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63A72C2-986F-482A-AAC1-FA048D86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990600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用 Codex 构建
YOLOPose 训练系统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7A15255-F704-496C-BE3E-6484D8BD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9906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从需求、远程 GPU、训练恢复，到指标、可视门禁与 3.61× 系统优化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C477F6B5-B7A1-4A48-BCE5-6E9C934F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CarFusion · YOLOv10n · RTX 3090 Ti · 2026.07</a:t>
            </a:r>
          </a:p>
        </p:txBody>
      </p:sp>
    </p:spTree>
    <p:extLst>
      <p:ext uri="{BB962C8B-B14F-4D97-AF65-F5344CB8AC3E}">
        <p14:creationId xmlns:p14="http://schemas.microsoft.com/office/powerpoint/2010/main" val="256010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2">
            <a:extLst xmlns:a="http://schemas.openxmlformats.org/drawingml/2006/main">
              <a:ext uri="{FF2B5EF4-FFF2-40B4-BE49-F238E27FC236}">
                <a16:creationId xmlns:a16="http://schemas.microsoft.com/office/drawing/2014/main" id="{FBDD2EA4-B671-4FF6-B4BB-7F2657B8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E5F7527-4FDD-4BDD-971E-BC40FF55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任务不是“写一个 Head”，而是交付可审计闭环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DCBD2FA4-F908-4AE1-93C3-E8A0A67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4" name="s2-l1">
            <a:extLst xmlns:a="http://schemas.openxmlformats.org/drawingml/2006/main">
              <a:ext uri="{FF2B5EF4-FFF2-40B4-BE49-F238E27FC236}">
                <a16:creationId xmlns:a16="http://schemas.microsoft.com/office/drawing/2014/main" id="{4828FDAE-812C-4D47-B6D9-EC783D48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输入</a:t>
            </a:r>
          </a:p>
        </p:txBody>
      </p:sp>
      <p:sp>
        <p:nvSpPr>
          <p:cNvPr id="5" name="s2-b1">
            <a:extLst xmlns:a="http://schemas.openxmlformats.org/drawingml/2006/main">
              <a:ext uri="{FF2B5EF4-FFF2-40B4-BE49-F238E27FC236}">
                <a16:creationId xmlns:a16="http://schemas.microsoft.com/office/drawing/2014/main" id="{BA25FDA1-1438-4B1F-BB74-5E4B881C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95525"/>
            <a:ext cx="4476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一份使用顺序 + 9 个阶段提示词</a:t>
            </a:r>
          </a:p>
        </p:txBody>
      </p:sp>
      <p:sp>
        <p:nvSpPr>
          <p:cNvPr id="6" name="s2-l2">
            <a:extLst xmlns:a="http://schemas.openxmlformats.org/drawingml/2006/main">
              <a:ext uri="{FF2B5EF4-FFF2-40B4-BE49-F238E27FC236}">
                <a16:creationId xmlns:a16="http://schemas.microsoft.com/office/drawing/2014/main" id="{F98C2AF0-8EC6-47E9-897F-6830D0C3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约束</a:t>
            </a:r>
          </a:p>
        </p:txBody>
      </p:sp>
      <p:sp>
        <p:nvSpPr>
          <p:cNvPr id="7" name="s2-b2">
            <a:extLst xmlns:a="http://schemas.openxmlformats.org/drawingml/2006/main">
              <a:ext uri="{FF2B5EF4-FFF2-40B4-BE49-F238E27FC236}">
                <a16:creationId xmlns:a16="http://schemas.microsoft.com/office/drawing/2014/main" id="{6AB57DD4-2D5F-4AA0-BF7F-4705F0FB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4762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不破坏检测语义；不伪造数据与指标；每一步留下证据</a:t>
            </a:r>
          </a:p>
        </p:txBody>
      </p:sp>
      <p:sp>
        <p:nvSpPr>
          <p:cNvPr id="8" name="s2-l3">
            <a:extLst xmlns:a="http://schemas.openxmlformats.org/drawingml/2006/main">
              <a:ext uri="{FF2B5EF4-FFF2-40B4-BE49-F238E27FC236}">
                <a16:creationId xmlns:a16="http://schemas.microsoft.com/office/drawing/2014/main" id="{8ABCE45F-5158-428C-8C75-113F065A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交付</a:t>
            </a:r>
          </a:p>
        </p:txBody>
      </p:sp>
      <p:sp>
        <p:nvSpPr>
          <p:cNvPr id="9" name="s2-b3">
            <a:extLst xmlns:a="http://schemas.openxmlformats.org/drawingml/2006/main">
              <a:ext uri="{FF2B5EF4-FFF2-40B4-BE49-F238E27FC236}">
                <a16:creationId xmlns:a16="http://schemas.microsoft.com/office/drawing/2014/main" id="{AF9293B6-6A39-4894-A861-F83ED44A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476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代码 + 测试 + 训练 + 评估 + benchmark + 文档</a:t>
            </a:r>
          </a:p>
        </p:txBody>
      </p:sp>
      <p:sp>
        <p:nvSpPr>
          <p:cNvPr id="10" name="s2-image-frame">
            <a:extLst xmlns:a="http://schemas.openxmlformats.org/drawingml/2006/main">
              <a:ext uri="{FF2B5EF4-FFF2-40B4-BE49-F238E27FC236}">
                <a16:creationId xmlns:a16="http://schemas.microsoft.com/office/drawing/2014/main" id="{B78F0978-41B6-44D3-9E77-B91774FB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66875"/>
            <a:ext cx="61722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efda08c2e42ba"/>
          <a:srcRect xmlns:a="http://schemas.openxmlformats.org/drawingml/2006/main" l="9857" t="0" r="9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666875"/>
            <a:ext cx="6172200" cy="4324350"/>
          </a:xfrm>
          <a:prstGeom xmlns:a="http://schemas.openxmlformats.org/drawingml/2006/main" prst="roundRect">
            <a:avLst>
              <a:gd name="adj" fmla="val 2643"/>
            </a:avLst>
          </a:prstGeom>
        </p:spPr>
      </p:pic>
    </p:spTree>
    <p:extLst>
      <p:ext uri="{BB962C8B-B14F-4D97-AF65-F5344CB8AC3E}">
        <p14:creationId xmlns:p14="http://schemas.microsoft.com/office/powerpoint/2010/main" val="21271715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92E18254-DD6E-44FA-A7EA-A14FC558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1A7135E-D6BA-443E-88BB-2C1D4CC5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Codex 把自然语言目标变成九阶段门禁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843EF000-5860-40A6-91B7-91FB7CE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cxnSp>
        <p:nvCxnSpPr>
          <p:cNvPr id="23" name="s3-axis"/>
          <p:cNvCxnSpPr/>
          <p:nvPr/>
        </p:nvCxnSpPr>
        <p:spPr>
          <a:xfrm xmlns:a="http://schemas.openxmlformats.org/drawingml/2006/main">
            <a:off x="742950" y="3333750"/>
            <a:ext cx="106870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3-node1">
            <a:extLst xmlns:a="http://schemas.openxmlformats.org/drawingml/2006/main">
              <a:ext uri="{FF2B5EF4-FFF2-40B4-BE49-F238E27FC236}">
                <a16:creationId xmlns:a16="http://schemas.microsoft.com/office/drawing/2014/main" id="{CEB607B0-5191-4865-8BF2-D92A7046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node2">
            <a:extLst xmlns:a="http://schemas.openxmlformats.org/drawingml/2006/main">
              <a:ext uri="{FF2B5EF4-FFF2-40B4-BE49-F238E27FC236}">
                <a16:creationId xmlns:a16="http://schemas.microsoft.com/office/drawing/2014/main" id="{17CB668F-D74D-4192-89CE-3503DED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node3">
            <a:extLst xmlns:a="http://schemas.openxmlformats.org/drawingml/2006/main">
              <a:ext uri="{FF2B5EF4-FFF2-40B4-BE49-F238E27FC236}">
                <a16:creationId xmlns:a16="http://schemas.microsoft.com/office/drawing/2014/main" id="{D60B953B-D150-44C4-B5BE-BCB16F17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node4">
            <a:extLst xmlns:a="http://schemas.openxmlformats.org/drawingml/2006/main">
              <a:ext uri="{FF2B5EF4-FFF2-40B4-BE49-F238E27FC236}">
                <a16:creationId xmlns:a16="http://schemas.microsoft.com/office/drawing/2014/main" id="{4ED32FCC-3A52-4B8D-85CE-1614522B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-label1">
            <a:extLst xmlns:a="http://schemas.openxmlformats.org/drawingml/2006/main">
              <a:ext uri="{FF2B5EF4-FFF2-40B4-BE49-F238E27FC236}">
                <a16:creationId xmlns:a16="http://schemas.microsoft.com/office/drawing/2014/main" id="{F23FC516-5CDD-4360-94E3-E55A59B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01–03</a:t>
            </a:r>
          </a:p>
        </p:txBody>
      </p:sp>
      <p:sp>
        <p:nvSpPr>
          <p:cNvPr id="10" name="s3-label2">
            <a:extLst xmlns:a="http://schemas.openxmlformats.org/drawingml/2006/main">
              <a:ext uri="{FF2B5EF4-FFF2-40B4-BE49-F238E27FC236}">
                <a16:creationId xmlns:a16="http://schemas.microsoft.com/office/drawing/2014/main" id="{C2E476CB-E5BC-4DFB-A9A7-8AAA2BB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04–06</a:t>
            </a:r>
          </a:p>
        </p:txBody>
      </p:sp>
      <p:sp>
        <p:nvSpPr>
          <p:cNvPr id="11" name="s3-label3">
            <a:extLst xmlns:a="http://schemas.openxmlformats.org/drawingml/2006/main">
              <a:ext uri="{FF2B5EF4-FFF2-40B4-BE49-F238E27FC236}">
                <a16:creationId xmlns:a16="http://schemas.microsoft.com/office/drawing/2014/main" id="{B62DE044-6CA7-486A-8C63-465254E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07–08</a:t>
            </a:r>
          </a:p>
        </p:txBody>
      </p:sp>
      <p:sp>
        <p:nvSpPr>
          <p:cNvPr id="12" name="s3-label4">
            <a:extLst xmlns:a="http://schemas.openxmlformats.org/drawingml/2006/main">
              <a:ext uri="{FF2B5EF4-FFF2-40B4-BE49-F238E27FC236}">
                <a16:creationId xmlns:a16="http://schemas.microsoft.com/office/drawing/2014/main" id="{9EEE30B3-EF42-464E-B7B9-EBADDA80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43200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  <p:sp>
        <p:nvSpPr>
          <p:cNvPr id="13" name="s3-title1">
            <a:extLst xmlns:a="http://schemas.openxmlformats.org/drawingml/2006/main">
              <a:ext uri="{FF2B5EF4-FFF2-40B4-BE49-F238E27FC236}">
                <a16:creationId xmlns:a16="http://schemas.microsoft.com/office/drawing/2014/main" id="{67430A42-3894-4E28-8BF5-8DE95541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审计与设计</a:t>
            </a:r>
          </a:p>
        </p:txBody>
      </p:sp>
      <p:sp>
        <p:nvSpPr>
          <p:cNvPr id="14" name="s3-body1">
            <a:extLst xmlns:a="http://schemas.openxmlformats.org/drawingml/2006/main">
              <a:ext uri="{FF2B5EF4-FFF2-40B4-BE49-F238E27FC236}">
                <a16:creationId xmlns:a16="http://schemas.microsoft.com/office/drawing/2014/main" id="{5A6A2AC7-03C2-47D6-B178-DBB4EBF3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固定上游
读取调用链
定义风险与验收</a:t>
            </a:r>
          </a:p>
        </p:txBody>
      </p:sp>
      <p:sp>
        <p:nvSpPr>
          <p:cNvPr id="15" name="s3-title2">
            <a:extLst xmlns:a="http://schemas.openxmlformats.org/drawingml/2006/main">
              <a:ext uri="{FF2B5EF4-FFF2-40B4-BE49-F238E27FC236}">
                <a16:creationId xmlns:a16="http://schemas.microsoft.com/office/drawing/2014/main" id="{CD6B03EE-A8C2-4174-96BA-B89EBF1D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实现与训练</a:t>
            </a:r>
          </a:p>
        </p:txBody>
      </p:sp>
      <p:sp>
        <p:nvSpPr>
          <p:cNvPr id="16" name="s3-body2">
            <a:extLst xmlns:a="http://schemas.openxmlformats.org/drawingml/2006/main">
              <a:ext uri="{FF2B5EF4-FFF2-40B4-BE49-F238E27FC236}">
                <a16:creationId xmlns:a16="http://schemas.microsoft.com/office/drawing/2014/main" id="{328A32BD-DA51-4867-9E06-ED06AB2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2857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TDD 实现
数据转换 / 质检
smoke → overfit → baseline</a:t>
            </a:r>
          </a:p>
        </p:txBody>
      </p:sp>
      <p:sp>
        <p:nvSpPr>
          <p:cNvPr id="17" name="s3-title3">
            <a:extLst xmlns:a="http://schemas.openxmlformats.org/drawingml/2006/main">
              <a:ext uri="{FF2B5EF4-FFF2-40B4-BE49-F238E27FC236}">
                <a16:creationId xmlns:a16="http://schemas.microsoft.com/office/drawing/2014/main" id="{86645C46-4239-4997-BF3F-7F5E867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评估与优化</a:t>
            </a:r>
          </a:p>
        </p:txBody>
      </p:sp>
      <p:sp>
        <p:nvSpPr>
          <p:cNvPr id="18" name="s3-body3">
            <a:extLst xmlns:a="http://schemas.openxmlformats.org/drawingml/2006/main">
              <a:ext uri="{FF2B5EF4-FFF2-40B4-BE49-F238E27FC236}">
                <a16:creationId xmlns:a16="http://schemas.microsoft.com/office/drawing/2014/main" id="{BFB3DEE9-B78A-4C05-A291-6060438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指标 + 可视门禁
benchmark
独立性能验证</a:t>
            </a:r>
          </a:p>
        </p:txBody>
      </p:sp>
      <p:sp>
        <p:nvSpPr>
          <p:cNvPr id="19" name="s3-title4">
            <a:extLst xmlns:a="http://schemas.openxmlformats.org/drawingml/2006/main">
              <a:ext uri="{FF2B5EF4-FFF2-40B4-BE49-F238E27FC236}">
                <a16:creationId xmlns:a16="http://schemas.microsoft.com/office/drawing/2014/main" id="{00D52671-1CBB-48CC-9D02-144982A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可复现交付</a:t>
            </a:r>
          </a:p>
        </p:txBody>
      </p:sp>
    </p:spTree>
    <p:extLst>
      <p:ext uri="{BB962C8B-B14F-4D97-AF65-F5344CB8AC3E}">
        <p14:creationId xmlns:p14="http://schemas.microsoft.com/office/powerpoint/2010/main" val="1054704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4">
            <a:extLst xmlns:a="http://schemas.openxmlformats.org/drawingml/2006/main">
              <a:ext uri="{FF2B5EF4-FFF2-40B4-BE49-F238E27FC236}">
                <a16:creationId xmlns:a16="http://schemas.microsoft.com/office/drawing/2014/main" id="{E1337F58-A6A9-4527-8756-BC5FD30B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EB9FBB8E-B20F-41A7-9CFF-8FCDD787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先审计真实调用链，关键点监督才不会错位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34230DE4-DB60-4843-9907-0AB0A594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4" name="s4-left-title">
            <a:extLst xmlns:a="http://schemas.openxmlformats.org/drawingml/2006/main">
              <a:ext uri="{FF2B5EF4-FFF2-40B4-BE49-F238E27FC236}">
                <a16:creationId xmlns:a16="http://schemas.microsoft.com/office/drawing/2014/main" id="{A2477635-937A-4A9A-B33A-65FF1C6B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YOLOv10 的关键风险</a:t>
            </a:r>
          </a:p>
        </p:txBody>
      </p:sp>
      <p:sp>
        <p:nvSpPr>
          <p:cNvPr id="5" name="s4-left-body">
            <a:extLst xmlns:a="http://schemas.openxmlformats.org/drawingml/2006/main">
              <a:ext uri="{FF2B5EF4-FFF2-40B4-BE49-F238E27FC236}">
                <a16:creationId xmlns:a16="http://schemas.microsoft.com/office/drawing/2014/main" id="{73F26C40-929A-45D0-B906-085A6CA3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409575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训练同时存在 one-to-many 与 one-to-one 分支。关键点必须继承各自 bbox assigner 的 target_gt_idx，不能按预测框顺序猜 GT。</a:t>
            </a:r>
          </a:p>
        </p:txBody>
      </p:sp>
      <p:sp>
        <p:nvSpPr>
          <p:cNvPr id="6" name="s4-code-bg">
            <a:extLst xmlns:a="http://schemas.openxmlformats.org/drawingml/2006/main">
              <a:ext uri="{FF2B5EF4-FFF2-40B4-BE49-F238E27FC236}">
                <a16:creationId xmlns:a16="http://schemas.microsoft.com/office/drawing/2014/main" id="{8FB7B538-7778-4F13-97AA-DF63C814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4-code">
            <a:extLst xmlns:a="http://schemas.openxmlformats.org/drawingml/2006/main">
              <a:ext uri="{FF2B5EF4-FFF2-40B4-BE49-F238E27FC236}">
                <a16:creationId xmlns:a16="http://schemas.microsoft.com/office/drawing/2014/main" id="{45BDBAC4-9728-42CF-9D51-688973D4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5623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t>target_gt_idx
  → matched GT keypoints
  → pose / visibility loss</a:t>
            </a:r>
          </a:p>
        </p:txBody>
      </p:sp>
      <p:cxnSp>
        <p:nvCxnSpPr>
          <p:cNvPr id="26" name="s4-arrow1"/>
          <p:cNvCxnSpPr/>
          <p:nvPr/>
        </p:nvCxnSpPr>
        <p:spPr>
          <a:xfrm xmlns:a="http://schemas.openxmlformats.org/drawingml/2006/main">
            <a:off x="5048250" y="2876550"/>
            <a:ext cx="114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7" name="s4-arrow2"/>
          <p:cNvCxnSpPr/>
          <p:nvPr/>
        </p:nvCxnSpPr>
        <p:spPr>
          <a:xfrm xmlns:a="http://schemas.openxmlformats.org/drawingml/2006/main">
            <a:off x="7762875" y="2876550"/>
            <a:ext cx="114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0" name="s4-n1">
            <a:extLst xmlns:a="http://schemas.openxmlformats.org/drawingml/2006/main">
              <a:ext uri="{FF2B5EF4-FFF2-40B4-BE49-F238E27FC236}">
                <a16:creationId xmlns:a16="http://schemas.microsoft.com/office/drawing/2014/main" id="{038804CA-7AE9-4B5C-8A1A-09EC8747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14550"/>
            <a:ext cx="2333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4-n1t">
            <a:extLst xmlns:a="http://schemas.openxmlformats.org/drawingml/2006/main">
              <a:ext uri="{FF2B5EF4-FFF2-40B4-BE49-F238E27FC236}">
                <a16:creationId xmlns:a16="http://schemas.microsoft.com/office/drawing/2014/main" id="{C1B7F502-BFA3-4DE0-A109-EC83C354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765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0198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Backbone / Neck</a:t>
            </a:r>
          </a:p>
        </p:txBody>
      </p:sp>
      <p:sp>
        <p:nvSpPr>
          <p:cNvPr id="12" name="s4-n1b">
            <a:extLst xmlns:a="http://schemas.openxmlformats.org/drawingml/2006/main">
              <a:ext uri="{FF2B5EF4-FFF2-40B4-BE49-F238E27FC236}">
                <a16:creationId xmlns:a16="http://schemas.microsoft.com/office/drawing/2014/main" id="{79939B4A-6DB6-4443-935C-5ED4159A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0990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P3 · P4 · P5</a:t>
            </a:r>
          </a:p>
        </p:txBody>
      </p:sp>
      <p:sp>
        <p:nvSpPr>
          <p:cNvPr id="13" name="s4-n2">
            <a:extLst xmlns:a="http://schemas.openxmlformats.org/drawingml/2006/main">
              <a:ext uri="{FF2B5EF4-FFF2-40B4-BE49-F238E27FC236}">
                <a16:creationId xmlns:a16="http://schemas.microsoft.com/office/drawing/2014/main" id="{E6E0FB75-6B73-447A-9D66-3EB8A938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14550"/>
            <a:ext cx="2333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4-n2t">
            <a:extLst xmlns:a="http://schemas.openxmlformats.org/drawingml/2006/main">
              <a:ext uri="{FF2B5EF4-FFF2-40B4-BE49-F238E27FC236}">
                <a16:creationId xmlns:a16="http://schemas.microsoft.com/office/drawing/2014/main" id="{C7E2C77D-5746-4EB7-BB68-31A32DAE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765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52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v10Pose Head</a:t>
            </a:r>
          </a:p>
        </p:txBody>
      </p:sp>
      <p:sp>
        <p:nvSpPr>
          <p:cNvPr id="15" name="s4-n2b">
            <a:extLst xmlns:a="http://schemas.openxmlformats.org/drawingml/2006/main">
              <a:ext uri="{FF2B5EF4-FFF2-40B4-BE49-F238E27FC236}">
                <a16:creationId xmlns:a16="http://schemas.microsoft.com/office/drawing/2014/main" id="{A2A1C012-13BD-463A-A342-6EE78620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0990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14 × 3 · pure conv</a:t>
            </a:r>
          </a:p>
        </p:txBody>
      </p:sp>
      <p:sp>
        <p:nvSpPr>
          <p:cNvPr id="16" name="s4-n3">
            <a:extLst xmlns:a="http://schemas.openxmlformats.org/drawingml/2006/main">
              <a:ext uri="{FF2B5EF4-FFF2-40B4-BE49-F238E27FC236}">
                <a16:creationId xmlns:a16="http://schemas.microsoft.com/office/drawing/2014/main" id="{2EF1589B-5778-403B-B03B-EA70FE87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114550"/>
            <a:ext cx="1362075" cy="156210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4-n3t">
            <a:extLst xmlns:a="http://schemas.openxmlformats.org/drawingml/2006/main">
              <a:ext uri="{FF2B5EF4-FFF2-40B4-BE49-F238E27FC236}">
                <a16:creationId xmlns:a16="http://schemas.microsoft.com/office/drawing/2014/main" id="{E554EAE9-1E29-41EF-BABE-12EC9D13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457450"/>
            <a:ext cx="1047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双分支
Loss</a:t>
            </a:r>
          </a:p>
        </p:txBody>
      </p:sp>
      <p:sp>
        <p:nvSpPr>
          <p:cNvPr id="18" name="s4-foot">
            <a:extLst xmlns:a="http://schemas.openxmlformats.org/drawingml/2006/main">
              <a:ext uri="{FF2B5EF4-FFF2-40B4-BE49-F238E27FC236}">
                <a16:creationId xmlns:a16="http://schemas.microsoft.com/office/drawing/2014/main" id="{8D619FAA-F475-4E3F-8DBD-108298C3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05300"/>
            <a:ext cx="66484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训练保留 Detect；推理只取 one-to-one / NMS-free</a:t>
            </a:r>
          </a:p>
        </p:txBody>
      </p:sp>
    </p:spTree>
    <p:extLst>
      <p:ext uri="{BB962C8B-B14F-4D97-AF65-F5344CB8AC3E}">
        <p14:creationId xmlns:p14="http://schemas.microsoft.com/office/powerpoint/2010/main" val="19460946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5">
            <a:extLst xmlns:a="http://schemas.openxmlformats.org/drawingml/2006/main">
              <a:ext uri="{FF2B5EF4-FFF2-40B4-BE49-F238E27FC236}">
                <a16:creationId xmlns:a16="http://schemas.microsoft.com/office/drawing/2014/main" id="{B60D47D4-F4EF-4B91-BFEE-FD37A2EF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D3B52A8-4397-4278-B1E5-354A16CA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测试把“应该正确”变成可重复证据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F1F707C0-880E-44A8-888C-EF63B14C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4" name="s5-intro">
            <a:extLst xmlns:a="http://schemas.openxmlformats.org/drawingml/2006/main">
              <a:ext uri="{FF2B5EF4-FFF2-40B4-BE49-F238E27FC236}">
                <a16:creationId xmlns:a16="http://schemas.microsoft.com/office/drawing/2014/main" id="{54F71FBE-0422-4C32-A424-DE63B9DA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715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先定义可检查的不变量，再写最小实现。最终全量 pytest 退出码为 0；Vehicle Pose 聚焦回归 9/9 通过。</a:t>
            </a:r>
          </a:p>
        </p:txBody>
      </p:sp>
      <p:sp>
        <p:nvSpPr>
          <p:cNvPr id="5" name="s5-c1">
            <a:extLst xmlns:a="http://schemas.openxmlformats.org/drawingml/2006/main">
              <a:ext uri="{FF2B5EF4-FFF2-40B4-BE49-F238E27FC236}">
                <a16:creationId xmlns:a16="http://schemas.microsoft.com/office/drawing/2014/main" id="{7A0F2B23-8452-439E-9095-6BD851AF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assigner GT 索引贯穿 bbox 与 keypoint</a:t>
            </a:r>
          </a:p>
        </p:txBody>
      </p:sp>
      <p:sp>
        <p:nvSpPr>
          <p:cNvPr id="6" name="s5-c2">
            <a:extLst xmlns:a="http://schemas.openxmlformats.org/drawingml/2006/main">
              <a:ext uri="{FF2B5EF4-FFF2-40B4-BE49-F238E27FC236}">
                <a16:creationId xmlns:a16="http://schemas.microsoft.com/office/drawing/2014/main" id="{8EA601F5-57F8-4B89-88E8-81FDA9E1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003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one-to-many / one-to-one 均可反传</a:t>
            </a:r>
          </a:p>
        </p:txBody>
      </p:sp>
      <p:sp>
        <p:nvSpPr>
          <p:cNvPr id="7" name="s5-c3">
            <a:extLst xmlns:a="http://schemas.openxmlformats.org/drawingml/2006/main">
              <a:ext uri="{FF2B5EF4-FFF2-40B4-BE49-F238E27FC236}">
                <a16:creationId xmlns:a16="http://schemas.microsoft.com/office/drawing/2014/main" id="{6B97BC7A-6E69-4F6E-909E-49614C63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861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空目标、checkpoint、官方 Detect 回归</a:t>
            </a:r>
          </a:p>
        </p:txBody>
      </p:sp>
      <p:sp>
        <p:nvSpPr>
          <p:cNvPr id="8" name="s5-c4">
            <a:extLst xmlns:a="http://schemas.openxmlformats.org/drawingml/2006/main">
              <a:ext uri="{FF2B5EF4-FFF2-40B4-BE49-F238E27FC236}">
                <a16:creationId xmlns:a16="http://schemas.microsoft.com/office/drawing/2014/main" id="{DE5A224D-CDBF-4141-B6D3-74A0A710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719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one2one_only 与原输出最大误差 0</a:t>
            </a:r>
          </a:p>
        </p:txBody>
      </p:sp>
      <p:sp>
        <p:nvSpPr>
          <p:cNvPr id="9" name="s5-c5">
            <a:extLst xmlns:a="http://schemas.openxmlformats.org/drawingml/2006/main">
              <a:ext uri="{FF2B5EF4-FFF2-40B4-BE49-F238E27FC236}">
                <a16:creationId xmlns:a16="http://schemas.microsoft.com/office/drawing/2014/main" id="{A2243EEA-281A-4F06-95FE-42AEB2D7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577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Predictor xywh → xyxy 回归测试</a:t>
            </a:r>
          </a:p>
        </p:txBody>
      </p:sp>
      <p:sp>
        <p:nvSpPr>
          <p:cNvPr id="10" name="s5-stat">
            <a:extLst xmlns:a="http://schemas.openxmlformats.org/drawingml/2006/main">
              <a:ext uri="{FF2B5EF4-FFF2-40B4-BE49-F238E27FC236}">
                <a16:creationId xmlns:a16="http://schemas.microsoft.com/office/drawing/2014/main" id="{B1938139-C968-4F69-9F9C-6FF78366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524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5-stat-value">
            <a:extLst xmlns:a="http://schemas.openxmlformats.org/drawingml/2006/main">
              <a:ext uri="{FF2B5EF4-FFF2-40B4-BE49-F238E27FC236}">
                <a16:creationId xmlns:a16="http://schemas.microsoft.com/office/drawing/2014/main" id="{E9A7314E-D399-4C5A-BAF1-2CED6EA1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2190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9 / 9</a:t>
            </a:r>
          </a:p>
        </p:txBody>
      </p:sp>
      <p:sp>
        <p:nvSpPr>
          <p:cNvPr id="12" name="s5-stat-label">
            <a:extLst xmlns:a="http://schemas.openxmlformats.org/drawingml/2006/main">
              <a:ext uri="{FF2B5EF4-FFF2-40B4-BE49-F238E27FC236}">
                <a16:creationId xmlns:a16="http://schemas.microsoft.com/office/drawing/2014/main" id="{03D16B6E-9B60-4CF7-A85F-332B32F8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342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Vehicle Pose 回归
1.18 秒完成</a:t>
            </a:r>
          </a:p>
        </p:txBody>
      </p:sp>
    </p:spTree>
    <p:extLst>
      <p:ext uri="{BB962C8B-B14F-4D97-AF65-F5344CB8AC3E}">
        <p14:creationId xmlns:p14="http://schemas.microsoft.com/office/powerpoint/2010/main" val="11153363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6">
            <a:extLst xmlns:a="http://schemas.openxmlformats.org/drawingml/2006/main">
              <a:ext uri="{FF2B5EF4-FFF2-40B4-BE49-F238E27FC236}">
                <a16:creationId xmlns:a16="http://schemas.microsoft.com/office/drawing/2014/main" id="{953F78EF-FA03-45BA-94E6-4118A4E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CAF357F-A008-424C-B961-67DAB59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远程长任务靠断点、哈希和门禁推进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5504692-3C37-4D2F-8086-84775BA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06</a:t>
            </a:r>
          </a:p>
        </p:txBody>
      </p:sp>
      <p:sp>
        <p:nvSpPr>
          <p:cNvPr id="4" name="s6-card1">
            <a:extLst xmlns:a="http://schemas.openxmlformats.org/drawingml/2006/main">
              <a:ext uri="{FF2B5EF4-FFF2-40B4-BE49-F238E27FC236}">
                <a16:creationId xmlns:a16="http://schemas.microsoft.com/office/drawing/2014/main" id="{6F505442-4984-4119-A7F4-BEE316F1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card2">
            <a:extLst xmlns:a="http://schemas.openxmlformats.org/drawingml/2006/main">
              <a:ext uri="{FF2B5EF4-FFF2-40B4-BE49-F238E27FC236}">
                <a16:creationId xmlns:a16="http://schemas.microsoft.com/office/drawing/2014/main" id="{6571E7CC-A9F6-4CD6-B638-BAF641C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card3">
            <a:extLst xmlns:a="http://schemas.openxmlformats.org/drawingml/2006/main">
              <a:ext uri="{FF2B5EF4-FFF2-40B4-BE49-F238E27FC236}">
                <a16:creationId xmlns:a16="http://schemas.microsoft.com/office/drawing/2014/main" id="{CEDF93D0-EA0B-423B-A2C0-B190340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k1">
            <a:extLst xmlns:a="http://schemas.openxmlformats.org/drawingml/2006/main">
              <a:ext uri="{FF2B5EF4-FFF2-40B4-BE49-F238E27FC236}">
                <a16:creationId xmlns:a16="http://schemas.microsoft.com/office/drawing/2014/main" id="{FAAD76E6-DA93-4CCE-9628-AB16DAC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数据</a:t>
            </a:r>
          </a:p>
        </p:txBody>
      </p:sp>
      <p:sp>
        <p:nvSpPr>
          <p:cNvPr id="8" name="s6-t1">
            <a:extLst xmlns:a="http://schemas.openxmlformats.org/drawingml/2006/main">
              <a:ext uri="{FF2B5EF4-FFF2-40B4-BE49-F238E27FC236}">
                <a16:creationId xmlns:a16="http://schemas.microsoft.com/office/drawing/2014/main" id="{9F6D837B-C583-42AC-9669-924DDEB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32 GiB 归档
先 SHA-256，再解压</a:t>
            </a:r>
          </a:p>
        </p:txBody>
      </p:sp>
      <p:sp>
        <p:nvSpPr>
          <p:cNvPr id="9" name="s6-b1">
            <a:extLst xmlns:a="http://schemas.openxmlformats.org/drawingml/2006/main">
              <a:ext uri="{FF2B5EF4-FFF2-40B4-BE49-F238E27FC236}">
                <a16:creationId xmlns:a16="http://schemas.microsoft.com/office/drawing/2014/main" id="{330B87E2-9D45-4586-BA2A-30E73DA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磁盘不足后改到 Windows E 盘；不把半截归档当成可用数据。</a:t>
            </a:r>
          </a:p>
        </p:txBody>
      </p:sp>
      <p:sp>
        <p:nvSpPr>
          <p:cNvPr id="10" name="s6-k2">
            <a:extLst xmlns:a="http://schemas.openxmlformats.org/drawingml/2006/main">
              <a:ext uri="{FF2B5EF4-FFF2-40B4-BE49-F238E27FC236}">
                <a16:creationId xmlns:a16="http://schemas.microsoft.com/office/drawing/2014/main" id="{F0D3AB0A-084D-42C7-BBC9-6263369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训练</a:t>
            </a:r>
          </a:p>
        </p:txBody>
      </p:sp>
      <p:sp>
        <p:nvSpPr>
          <p:cNvPr id="11" name="s6-t2">
            <a:extLst xmlns:a="http://schemas.openxmlformats.org/drawingml/2006/main">
              <a:ext uri="{FF2B5EF4-FFF2-40B4-BE49-F238E27FC236}">
                <a16:creationId xmlns:a16="http://schemas.microsoft.com/office/drawing/2014/main" id="{8B3964F3-CC8F-43AF-B2BB-BE0F4DC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epoch 176
WSL 重启中断</a:t>
            </a:r>
          </a:p>
        </p:txBody>
      </p:sp>
      <p:sp>
        <p:nvSpPr>
          <p:cNvPr id="12" name="s6-b2">
            <a:extLst xmlns:a="http://schemas.openxmlformats.org/drawingml/2006/main">
              <a:ext uri="{FF2B5EF4-FFF2-40B4-BE49-F238E27FC236}">
                <a16:creationId xmlns:a16="http://schemas.microsoft.com/office/drawing/2014/main" id="{18AAB9C3-92E5-4D15-9C6C-7A1785B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核对进程、挂载、last.pt 和 results.csv；只续跑原任务，不启动重复 baseline。</a:t>
            </a:r>
          </a:p>
        </p:txBody>
      </p:sp>
      <p:sp>
        <p:nvSpPr>
          <p:cNvPr id="13" name="s6-k3">
            <a:extLst xmlns:a="http://schemas.openxmlformats.org/drawingml/2006/main">
              <a:ext uri="{FF2B5EF4-FFF2-40B4-BE49-F238E27FC236}">
                <a16:creationId xmlns:a16="http://schemas.microsoft.com/office/drawing/2014/main" id="{48FA2360-8E9F-4ED2-B563-2296F15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恢复</a:t>
            </a:r>
          </a:p>
        </p:txBody>
      </p:sp>
      <p:sp>
        <p:nvSpPr>
          <p:cNvPr id="14" name="s6-t3">
            <a:extLst xmlns:a="http://schemas.openxmlformats.org/drawingml/2006/main">
              <a:ext uri="{FF2B5EF4-FFF2-40B4-BE49-F238E27FC236}">
                <a16:creationId xmlns:a16="http://schemas.microsoft.com/office/drawing/2014/main" id="{26A71D2F-1DAF-4730-B518-9A5F29C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175 epoch
训练成果保住</a:t>
            </a:r>
          </a:p>
        </p:txBody>
      </p:sp>
      <p:sp>
        <p:nvSpPr>
          <p:cNvPr id="15" name="s6-b3">
            <a:extLst xmlns:a="http://schemas.openxmlformats.org/drawingml/2006/main">
              <a:ext uri="{FF2B5EF4-FFF2-40B4-BE49-F238E27FC236}">
                <a16:creationId xmlns:a16="http://schemas.microsoft.com/office/drawing/2014/main" id="{1F4F2B97-5F7F-4B8E-98E8-FE05C8A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最后 25 epoch 用时 1.230 h；checkpoint 让故障成为可恢复事件。</a:t>
            </a:r>
          </a:p>
        </p:txBody>
      </p:sp>
      <p:cxnSp>
        <p:nvCxnSpPr>
          <p:cNvPr id="35" name="s6-axis"/>
          <p:cNvCxnSpPr/>
          <p:nvPr/>
        </p:nvCxnSpPr>
        <p:spPr>
          <a:xfrm xmlns:a="http://schemas.openxmlformats.org/drawingml/2006/main">
            <a:off x="952500" y="5600700"/>
            <a:ext cx="1000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s6-dot1">
            <a:extLst xmlns:a="http://schemas.openxmlformats.org/drawingml/2006/main">
              <a:ext uri="{FF2B5EF4-FFF2-40B4-BE49-F238E27FC236}">
                <a16:creationId xmlns:a16="http://schemas.microsoft.com/office/drawing/2014/main" id="{5DCB7394-88A7-4642-9642-4C6DE78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dot2">
            <a:extLst xmlns:a="http://schemas.openxmlformats.org/drawingml/2006/main">
              <a:ext uri="{FF2B5EF4-FFF2-40B4-BE49-F238E27FC236}">
                <a16:creationId xmlns:a16="http://schemas.microsoft.com/office/drawing/2014/main" id="{41A30679-9092-4CF1-BD23-5A231F3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dot3">
            <a:extLst xmlns:a="http://schemas.openxmlformats.org/drawingml/2006/main">
              <a:ext uri="{FF2B5EF4-FFF2-40B4-BE49-F238E27FC236}">
                <a16:creationId xmlns:a16="http://schemas.microsoft.com/office/drawing/2014/main" id="{2CB30759-7BF8-4ED3-A918-FE25518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04206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7">
            <a:extLst xmlns:a="http://schemas.openxmlformats.org/drawingml/2006/main">
              <a:ext uri="{FF2B5EF4-FFF2-40B4-BE49-F238E27FC236}">
                <a16:creationId xmlns:a16="http://schemas.microsoft.com/office/drawing/2014/main" id="{55FDED32-D549-4A73-9400-762D7D7B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DA722D4-6469-4870-813C-89524112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200 epochs 后，检测与姿态形成可复现基线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29CCC1C3-69E8-493B-B705-0877062D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07</a:t>
            </a:r>
          </a:p>
        </p:txBody>
      </p:sp>
      <p:sp>
        <p:nvSpPr>
          <p:cNvPr id="4" name="s7-stat1">
            <a:extLst xmlns:a="http://schemas.openxmlformats.org/drawingml/2006/main">
              <a:ext uri="{FF2B5EF4-FFF2-40B4-BE49-F238E27FC236}">
                <a16:creationId xmlns:a16="http://schemas.microsoft.com/office/drawing/2014/main" id="{D5D6A779-B49F-4E66-9AB8-D959F095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7-stat2">
            <a:extLst xmlns:a="http://schemas.openxmlformats.org/drawingml/2006/main">
              <a:ext uri="{FF2B5EF4-FFF2-40B4-BE49-F238E27FC236}">
                <a16:creationId xmlns:a16="http://schemas.microsoft.com/office/drawing/2014/main" id="{6491C3E3-81BD-4172-8022-1C3119C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7-stat3">
            <a:extLst xmlns:a="http://schemas.openxmlformats.org/drawingml/2006/main">
              <a:ext uri="{FF2B5EF4-FFF2-40B4-BE49-F238E27FC236}">
                <a16:creationId xmlns:a16="http://schemas.microsoft.com/office/drawing/2014/main" id="{9ED630AF-8B06-43EE-B3DF-33DEAA25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7-v1">
            <a:extLst xmlns:a="http://schemas.openxmlformats.org/drawingml/2006/main">
              <a:ext uri="{FF2B5EF4-FFF2-40B4-BE49-F238E27FC236}">
                <a16:creationId xmlns:a16="http://schemas.microsoft.com/office/drawing/2014/main" id="{6439BBC3-6AC6-487D-9CC5-35162754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0.665</a:t>
            </a:r>
          </a:p>
        </p:txBody>
      </p:sp>
      <p:sp>
        <p:nvSpPr>
          <p:cNvPr id="8" name="s7-l1">
            <a:extLst xmlns:a="http://schemas.openxmlformats.org/drawingml/2006/main">
              <a:ext uri="{FF2B5EF4-FFF2-40B4-BE49-F238E27FC236}">
                <a16:creationId xmlns:a16="http://schemas.microsoft.com/office/drawing/2014/main" id="{23CF6CC3-BD80-4603-8198-A2A4F95B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Box mAP50-95</a:t>
            </a:r>
          </a:p>
        </p:txBody>
      </p:sp>
      <p:sp>
        <p:nvSpPr>
          <p:cNvPr id="9" name="s7-v2">
            <a:extLst xmlns:a="http://schemas.openxmlformats.org/drawingml/2006/main">
              <a:ext uri="{FF2B5EF4-FFF2-40B4-BE49-F238E27FC236}">
                <a16:creationId xmlns:a16="http://schemas.microsoft.com/office/drawing/2014/main" id="{05ECF9EB-2985-4815-903C-537C035F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0.515</a:t>
            </a:r>
          </a:p>
        </p:txBody>
      </p:sp>
      <p:sp>
        <p:nvSpPr>
          <p:cNvPr id="10" name="s7-l2">
            <a:extLst xmlns:a="http://schemas.openxmlformats.org/drawingml/2006/main">
              <a:ext uri="{FF2B5EF4-FFF2-40B4-BE49-F238E27FC236}">
                <a16:creationId xmlns:a16="http://schemas.microsoft.com/office/drawing/2014/main" id="{3239F3EE-3004-4390-A575-22C6A7E9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Pose mAP50-95</a:t>
            </a:r>
          </a:p>
        </p:txBody>
      </p:sp>
      <p:sp>
        <p:nvSpPr>
          <p:cNvPr id="11" name="s7-v3">
            <a:extLst xmlns:a="http://schemas.openxmlformats.org/drawingml/2006/main">
              <a:ext uri="{FF2B5EF4-FFF2-40B4-BE49-F238E27FC236}">
                <a16:creationId xmlns:a16="http://schemas.microsoft.com/office/drawing/2014/main" id="{27AD3CC4-09DC-4D84-952C-536233C1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0.6686</a:t>
            </a:r>
          </a:p>
        </p:txBody>
      </p:sp>
      <p:sp>
        <p:nvSpPr>
          <p:cNvPr id="12" name="s7-l3">
            <a:extLst xmlns:a="http://schemas.openxmlformats.org/drawingml/2006/main">
              <a:ext uri="{FF2B5EF4-FFF2-40B4-BE49-F238E27FC236}">
                <a16:creationId xmlns:a16="http://schemas.microsoft.com/office/drawing/2014/main" id="{777A1CF7-8072-44A8-A1B5-88BBCED8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PCK@0.05</a:t>
            </a:r>
          </a:p>
        </p:txBody>
      </p:sp>
      <p:sp>
        <p:nvSpPr>
          <p:cNvPr id="13" name="s7-data">
            <a:extLst xmlns:a="http://schemas.openxmlformats.org/drawingml/2006/main">
              <a:ext uri="{FF2B5EF4-FFF2-40B4-BE49-F238E27FC236}">
                <a16:creationId xmlns:a16="http://schemas.microsoft.com/office/drawing/2014/main" id="{EB931DA8-5C8C-4E79-82C6-B0CA748E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14500"/>
            <a:ext cx="29527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验证集
3,606 图
11,569 实例</a:t>
            </a:r>
          </a:p>
        </p:txBody>
      </p:sp>
      <p:sp>
        <p:nvSpPr>
          <p:cNvPr id="14" name="s7-image-frame">
            <a:extLst xmlns:a="http://schemas.openxmlformats.org/drawingml/2006/main">
              <a:ext uri="{FF2B5EF4-FFF2-40B4-BE49-F238E27FC236}">
                <a16:creationId xmlns:a16="http://schemas.microsoft.com/office/drawing/2014/main" id="{0CF844A8-3588-4041-B839-298F95C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113919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064f6e85449c6"/>
          <a:stretch xmlns:a="http://schemas.openxmlformats.org/drawingml/2006/main"/>
        </p:blipFill>
        <p:spPr>
          <a:xfrm xmlns:a="http://schemas.openxmlformats.org/drawingml/2006/main">
            <a:off x="1562100" y="3276600"/>
            <a:ext cx="9067800" cy="2590800"/>
          </a:xfrm>
          <a:prstGeom xmlns:a="http://schemas.openxmlformats.org/drawingml/2006/main" prst="roundRect">
            <a:avLst>
              <a:gd name="adj" fmla="val 4412"/>
            </a:avLst>
          </a:prstGeom>
        </p:spPr>
      </p:pic>
    </p:spTree>
    <p:extLst>
      <p:ext uri="{BB962C8B-B14F-4D97-AF65-F5344CB8AC3E}">
        <p14:creationId xmlns:p14="http://schemas.microsoft.com/office/powerpoint/2010/main" val="16828435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8">
            <a:extLst xmlns:a="http://schemas.openxmlformats.org/drawingml/2006/main">
              <a:ext uri="{FF2B5EF4-FFF2-40B4-BE49-F238E27FC236}">
                <a16:creationId xmlns:a16="http://schemas.microsoft.com/office/drawing/2014/main" id="{D14621A7-F144-431B-87CB-A28855AF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705BCDA-70D0-4646-89B4-CE6727ED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可视化发现了指标没有暴露的 Predictor 缺陷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6CC876D3-E3FE-4F76-832C-8E3E99CE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08</a:t>
            </a:r>
          </a:p>
        </p:txBody>
      </p:sp>
      <p:sp>
        <p:nvSpPr>
          <p:cNvPr id="4" name="s8-before-label">
            <a:extLst xmlns:a="http://schemas.openxmlformats.org/drawingml/2006/main">
              <a:ext uri="{FF2B5EF4-FFF2-40B4-BE49-F238E27FC236}">
                <a16:creationId xmlns:a16="http://schemas.microsoft.com/office/drawing/2014/main" id="{7B17ADD0-F8D8-4F66-85BB-1545C6C1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5484D"/>
                </a:solidFill>
                <a:latin typeface="PingFang SC"/>
                <a:ea typeface="PingFang SC"/>
                <a:cs typeface="PingFang SC"/>
              </a:defRPr>
            </a:pPr>
            <a:r>
              <a:t>修复前：关键点大体合理，但宽图上的框被当成 xyxy 直接缩放，出现巨框。</a:t>
            </a:r>
          </a:p>
        </p:txBody>
      </p:sp>
      <p:sp>
        <p:nvSpPr>
          <p:cNvPr id="5" name="s8-after-label">
            <a:extLst xmlns:a="http://schemas.openxmlformats.org/drawingml/2006/main">
              <a:ext uri="{FF2B5EF4-FFF2-40B4-BE49-F238E27FC236}">
                <a16:creationId xmlns:a16="http://schemas.microsoft.com/office/drawing/2014/main" id="{A3439E71-B62A-4788-B814-3E0C5EA8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修复后：先 xywh→xyxy，再 scale_boxes；框与关键点回到车辆轮廓。</a:t>
            </a:r>
          </a:p>
        </p:txBody>
      </p:sp>
      <p:sp>
        <p:nvSpPr>
          <p:cNvPr id="6" name="s8-frame1">
            <a:extLst xmlns:a="http://schemas.openxmlformats.org/drawingml/2006/main">
              <a:ext uri="{FF2B5EF4-FFF2-40B4-BE49-F238E27FC236}">
                <a16:creationId xmlns:a16="http://schemas.microsoft.com/office/drawing/2014/main" id="{BAA5145D-9B89-4056-AB55-33FA91F9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429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E5484D"/>
            </a:solidFill>
            <a:prstDash val="solid"/>
          </a:ln>
        </p:spPr>
      </p:sp>
      <p:sp>
        <p:nvSpPr>
          <p:cNvPr id="7" name="s8-frame2">
            <a:extLst xmlns:a="http://schemas.openxmlformats.org/drawingml/2006/main">
              <a:ext uri="{FF2B5EF4-FFF2-40B4-BE49-F238E27FC236}">
                <a16:creationId xmlns:a16="http://schemas.microsoft.com/office/drawing/2014/main" id="{7802FFEF-7B33-476C-B0BF-38705B96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5429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0FBF6"/>
          </a:solidFill>
          <a:ln xmlns:a="http://schemas.openxmlformats.org/drawingml/2006/main" w="9525">
            <a:solidFill>
              <a:srgbClr val="18A36B"/>
            </a:solidFill>
            <a:prstDash val="solid"/>
          </a:ln>
        </p:spPr>
      </p:sp>
      <p:sp>
        <p:nvSpPr>
          <p:cNvPr id="8" name="s8-note">
            <a:extLst xmlns:a="http://schemas.openxmlformats.org/drawingml/2006/main">
              <a:ext uri="{FF2B5EF4-FFF2-40B4-BE49-F238E27FC236}">
                <a16:creationId xmlns:a16="http://schemas.microsoft.com/office/drawing/2014/main" id="{C115F946-DC8B-4306-9650-488EEFC9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895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Validator 指标没变：缺陷只在 raw Predictor 路径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c1cd7fe6c447b"/>
          <a:srcRect xmlns:a="http://schemas.openxmlformats.org/drawingml/2006/main" l="3407" t="0" r="34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2419350"/>
            <a:ext cx="5238750" cy="3162300"/>
          </a:xfrm>
          <a:prstGeom xmlns:a="http://schemas.openxmlformats.org/drawingml/2006/main" prst="roundRect">
            <a:avLst>
              <a:gd name="adj" fmla="val 3614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1f90f29254107"/>
          <a:srcRect xmlns:a="http://schemas.openxmlformats.org/drawingml/2006/main" l="3407" t="0" r="34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419350"/>
            <a:ext cx="5238750" cy="3162300"/>
          </a:xfrm>
          <a:prstGeom xmlns:a="http://schemas.openxmlformats.org/drawingml/2006/main" prst="roundRect">
            <a:avLst>
              <a:gd name="adj" fmla="val 3614"/>
            </a:avLst>
          </a:prstGeom>
        </p:spPr>
      </p:pic>
    </p:spTree>
    <p:extLst>
      <p:ext uri="{BB962C8B-B14F-4D97-AF65-F5344CB8AC3E}">
        <p14:creationId xmlns:p14="http://schemas.microsoft.com/office/powerpoint/2010/main" val="8470050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9">
            <a:extLst xmlns:a="http://schemas.openxmlformats.org/drawingml/2006/main">
              <a:ext uri="{FF2B5EF4-FFF2-40B4-BE49-F238E27FC236}">
                <a16:creationId xmlns:a16="http://schemas.microsoft.com/office/drawing/2014/main" id="{3166546A-C683-4E9C-9035-5F180776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54597864-B09C-49DC-9CC2-C375B9D9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100 图视觉门禁通过后，才继续做性能结论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D24F515B-E284-4D15-86B8-CBD6A60D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  <p:sp>
        <p:nvSpPr>
          <p:cNvPr id="4" name="s9-l1">
            <a:extLst xmlns:a="http://schemas.openxmlformats.org/drawingml/2006/main">
              <a:ext uri="{FF2B5EF4-FFF2-40B4-BE49-F238E27FC236}">
                <a16:creationId xmlns:a16="http://schemas.microsoft.com/office/drawing/2014/main" id="{541126AF-1BF3-47D4-801A-BB911A19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固定样本覆盖</a:t>
            </a:r>
          </a:p>
        </p:txBody>
      </p:sp>
      <p:sp>
        <p:nvSpPr>
          <p:cNvPr id="5" name="s9-b1">
            <a:extLst xmlns:a="http://schemas.openxmlformats.org/drawingml/2006/main">
              <a:ext uri="{FF2B5EF4-FFF2-40B4-BE49-F238E27FC236}">
                <a16:creationId xmlns:a16="http://schemas.microsoft.com/office/drawing/2014/main" id="{29F2B400-0CCC-46F1-AE36-50591257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9052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宽图 · 边缘截断
遮挡 · 多车 · 尺度变化</a:t>
            </a:r>
          </a:p>
        </p:txBody>
      </p:sp>
      <p:sp>
        <p:nvSpPr>
          <p:cNvPr id="6" name="s9-l2">
            <a:extLst xmlns:a="http://schemas.openxmlformats.org/drawingml/2006/main">
              <a:ext uri="{FF2B5EF4-FFF2-40B4-BE49-F238E27FC236}">
                <a16:creationId xmlns:a16="http://schemas.microsoft.com/office/drawing/2014/main" id="{4E548546-1706-4F6A-91A7-6AB40305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检查结论</a:t>
            </a:r>
          </a:p>
        </p:txBody>
      </p:sp>
      <p:sp>
        <p:nvSpPr>
          <p:cNvPr id="7" name="s9-b2">
            <a:extLst xmlns:a="http://schemas.openxmlformats.org/drawingml/2006/main">
              <a:ext uri="{FF2B5EF4-FFF2-40B4-BE49-F238E27FC236}">
                <a16:creationId xmlns:a16="http://schemas.microsoft.com/office/drawing/2014/main" id="{1AB8BF36-5419-43C1-898F-D22E9227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4476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框与车辆轮廓一致
关键点落在车身/车轮区域
异常与遮挡指标方向一致</a:t>
            </a:r>
          </a:p>
        </p:txBody>
      </p:sp>
      <p:sp>
        <p:nvSpPr>
          <p:cNvPr id="8" name="s9-frame">
            <a:extLst xmlns:a="http://schemas.openxmlformats.org/drawingml/2006/main">
              <a:ext uri="{FF2B5EF4-FFF2-40B4-BE49-F238E27FC236}">
                <a16:creationId xmlns:a16="http://schemas.microsoft.com/office/drawing/2014/main" id="{8FF9EA05-0F68-4D37-AB4E-2346B31E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19250"/>
            <a:ext cx="65532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7c4fb69174994"/>
          <a:srcRect xmlns:a="http://schemas.openxmlformats.org/drawingml/2006/main" l="5054" t="0" r="50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714500"/>
            <a:ext cx="6362700" cy="3981450"/>
          </a:xfrm>
          <a:prstGeom xmlns:a="http://schemas.openxmlformats.org/drawingml/2006/main" prst="roundRect">
            <a:avLst>
              <a:gd name="adj" fmla="val 2871"/>
            </a:avLst>
          </a:prstGeom>
        </p:spPr>
      </p:pic>
    </p:spTree>
    <p:extLst>
      <p:ext uri="{BB962C8B-B14F-4D97-AF65-F5344CB8AC3E}">
        <p14:creationId xmlns:p14="http://schemas.microsoft.com/office/powerpoint/2010/main" val="15052564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0">
            <a:extLst xmlns:a="http://schemas.openxmlformats.org/drawingml/2006/main">
              <a:ext uri="{FF2B5EF4-FFF2-40B4-BE49-F238E27FC236}">
                <a16:creationId xmlns:a16="http://schemas.microsoft.com/office/drawing/2014/main" id="{8202CE1C-059F-40E4-93DA-2EA633A4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F6B04CD-11E2-4C1E-91D5-CDA93448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最大的端到端耗时不在模型，而在 /mnt/e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9E38C73-2A80-4A6F-8C83-2CB1DF8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10</a:t>
            </a:r>
          </a:p>
        </p:txBody>
      </p:sp>
      <p:sp>
        <p:nvSpPr>
          <p:cNvPr id="4" name="s10-chart-frame">
            <a:extLst xmlns:a="http://schemas.openxmlformats.org/drawingml/2006/main">
              <a:ext uri="{FF2B5EF4-FFF2-40B4-BE49-F238E27FC236}">
                <a16:creationId xmlns:a16="http://schemas.microsoft.com/office/drawing/2014/main" id="{D9BD1F2A-45FB-4D64-9D0D-69A98D9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0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0-method">
            <a:extLst xmlns:a="http://schemas.openxmlformats.org/drawingml/2006/main">
              <a:ext uri="{FF2B5EF4-FFF2-40B4-BE49-F238E27FC236}">
                <a16:creationId xmlns:a16="http://schemas.microsoft.com/office/drawing/2014/main" id="{9BA9C8E9-574A-4B98-A93C-33EC5A2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095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同一 checkpoint · 同一 100 JPEG · 3 × 1000 次 · batch 1</a:t>
            </a:r>
          </a:p>
        </p:txBody>
      </p:sp>
      <p:sp>
        <p:nvSpPr>
          <p:cNvPr id="6" name="s10-stat1">
            <a:extLst xmlns:a="http://schemas.openxmlformats.org/drawingml/2006/main">
              <a:ext uri="{FF2B5EF4-FFF2-40B4-BE49-F238E27FC236}">
                <a16:creationId xmlns:a16="http://schemas.microsoft.com/office/drawing/2014/main" id="{0882864E-963E-47A0-BBB5-A320F24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200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−72.3%</a:t>
            </a:r>
          </a:p>
        </p:txBody>
      </p:sp>
      <p:sp>
        <p:nvSpPr>
          <p:cNvPr id="7" name="s10-stat1l">
            <a:extLst xmlns:a="http://schemas.openxmlformats.org/drawingml/2006/main">
              <a:ext uri="{FF2B5EF4-FFF2-40B4-BE49-F238E27FC236}">
                <a16:creationId xmlns:a16="http://schemas.microsoft.com/office/drawing/2014/main" id="{41886ECD-DBD7-4E2E-A406-243B930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平均延迟</a:t>
            </a:r>
          </a:p>
        </p:txBody>
      </p:sp>
      <p:sp>
        <p:nvSpPr>
          <p:cNvPr id="8" name="s10-stat2">
            <a:extLst xmlns:a="http://schemas.openxmlformats.org/drawingml/2006/main">
              <a:ext uri="{FF2B5EF4-FFF2-40B4-BE49-F238E27FC236}">
                <a16:creationId xmlns:a16="http://schemas.microsoft.com/office/drawing/2014/main" id="{345622D2-EC3D-4EC5-8D75-B85861E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90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3.61×</a:t>
            </a:r>
          </a:p>
        </p:txBody>
      </p:sp>
      <p:sp>
        <p:nvSpPr>
          <p:cNvPr id="9" name="s10-stat2l">
            <a:extLst xmlns:a="http://schemas.openxmlformats.org/drawingml/2006/main">
              <a:ext uri="{FF2B5EF4-FFF2-40B4-BE49-F238E27FC236}">
                <a16:creationId xmlns:a16="http://schemas.microsoft.com/office/drawing/2014/main" id="{151CF7FC-A3DD-4420-802B-2AF969D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吞吐提升</a:t>
            </a:r>
          </a:p>
        </p:txBody>
      </p:sp>
      <p:sp>
        <p:nvSpPr>
          <p:cNvPr id="10" name="s10-conclusion">
            <a:extLst xmlns:a="http://schemas.openxmlformats.org/drawingml/2006/main">
              <a:ext uri="{FF2B5EF4-FFF2-40B4-BE49-F238E27FC236}">
                <a16:creationId xmlns:a16="http://schemas.microsoft.com/office/drawing/2014/main" id="{B7288699-A378-4BB8-81DD-1922273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图片字节 SHA-256 一致，模型与精度未改变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704850" y="1905000"/>
          <a:ext xmlns:a="http://schemas.openxmlformats.org/drawingml/2006/main" cx="60579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3a935e168c4a5a"/>
          </a:graphicData>
        </a:graphic>
      </p:graphicFrame>
    </p:spTree>
    <p:extLst>
      <p:ext uri="{BB962C8B-B14F-4D97-AF65-F5344CB8AC3E}">
        <p14:creationId xmlns:p14="http://schemas.microsoft.com/office/powerpoint/2010/main" val="10899185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11">
            <a:extLst xmlns:a="http://schemas.openxmlformats.org/drawingml/2006/main">
              <a:ext uri="{FF2B5EF4-FFF2-40B4-BE49-F238E27FC236}">
                <a16:creationId xmlns:a16="http://schemas.microsoft.com/office/drawing/2014/main" id="{91C78C6B-7B7C-4A3D-8F0D-62A1C1B3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21AACA50-9136-43F0-B1A9-C8AF43A7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零精度损失方案被固化成独立、可审计入口</a:t>
            </a:r>
          </a:p>
        </p:txBody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43E7B8DA-F775-451E-9059-4A391990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11</a:t>
            </a:r>
          </a:p>
        </p:txBody>
      </p:sp>
      <p:sp>
        <p:nvSpPr>
          <p:cNvPr id="4" name="s11-code-bg">
            <a:extLst xmlns:a="http://schemas.openxmlformats.org/drawingml/2006/main">
              <a:ext uri="{FF2B5EF4-FFF2-40B4-BE49-F238E27FC236}">
                <a16:creationId xmlns:a16="http://schemas.microsoft.com/office/drawing/2014/main" id="{14E403BB-AAC9-4A5C-A54A-FB29731C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68580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1-code">
            <a:extLst xmlns:a="http://schemas.openxmlformats.org/drawingml/2006/main">
              <a:ext uri="{FF2B5EF4-FFF2-40B4-BE49-F238E27FC236}">
                <a16:creationId xmlns:a16="http://schemas.microsoft.com/office/drawing/2014/main" id="{807A7011-2EF0-494F-A010-09F4E233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286500" cy="232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t>scripts/stage_carfusion_to_wsl.sh \
  datasets/CarFusion/yolo_pose \
  /home/caius/datasets/CarFusion/yolo_pose \
  reports/optimization/runtime_configs/\
    CarFusion-pose-wsl.yaml</a:t>
            </a:r>
          </a:p>
        </p:txBody>
      </p:sp>
      <p:sp>
        <p:nvSpPr>
          <p:cNvPr id="6" name="s11-step1">
            <a:extLst xmlns:a="http://schemas.openxmlformats.org/drawingml/2006/main">
              <a:ext uri="{FF2B5EF4-FFF2-40B4-BE49-F238E27FC236}">
                <a16:creationId xmlns:a16="http://schemas.microsoft.com/office/drawing/2014/main" id="{99068428-F84A-430E-9BC9-49D5B5ED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① 解引用复制</a:t>
            </a:r>
          </a:p>
        </p:txBody>
      </p:sp>
      <p:sp>
        <p:nvSpPr>
          <p:cNvPr id="7" name="s11-step1b">
            <a:extLst xmlns:a="http://schemas.openxmlformats.org/drawingml/2006/main">
              <a:ext uri="{FF2B5EF4-FFF2-40B4-BE49-F238E27FC236}">
                <a16:creationId xmlns:a16="http://schemas.microsoft.com/office/drawing/2014/main" id="{89B48647-B240-46E7-8482-2AF73873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524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图片从 Windows 挂载盘实体化到 ext4</a:t>
            </a:r>
          </a:p>
        </p:txBody>
      </p:sp>
      <p:sp>
        <p:nvSpPr>
          <p:cNvPr id="8" name="s11-step2">
            <a:extLst xmlns:a="http://schemas.openxmlformats.org/drawingml/2006/main">
              <a:ext uri="{FF2B5EF4-FFF2-40B4-BE49-F238E27FC236}">
                <a16:creationId xmlns:a16="http://schemas.microsoft.com/office/drawing/2014/main" id="{37523F9B-7E85-47B7-9B6B-D4110240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6705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② SHA-256 门禁</a:t>
            </a:r>
          </a:p>
        </p:txBody>
      </p:sp>
      <p:sp>
        <p:nvSpPr>
          <p:cNvPr id="9" name="s11-step2b">
            <a:extLst xmlns:a="http://schemas.openxmlformats.org/drawingml/2006/main">
              <a:ext uri="{FF2B5EF4-FFF2-40B4-BE49-F238E27FC236}">
                <a16:creationId xmlns:a16="http://schemas.microsoft.com/office/drawing/2014/main" id="{EFCD1E13-74C9-4867-9FDE-D10CE288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05200"/>
            <a:ext cx="3524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缺失、额外或哈希不一致即失败</a:t>
            </a:r>
          </a:p>
        </p:txBody>
      </p:sp>
      <p:sp>
        <p:nvSpPr>
          <p:cNvPr id="10" name="s11-step3">
            <a:extLst xmlns:a="http://schemas.openxmlformats.org/drawingml/2006/main">
              <a:ext uri="{FF2B5EF4-FFF2-40B4-BE49-F238E27FC236}">
                <a16:creationId xmlns:a16="http://schemas.microsoft.com/office/drawing/2014/main" id="{FFD365B2-515B-48CD-AAE9-C7509493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③ 新 runtime YAML</a:t>
            </a:r>
          </a:p>
        </p:txBody>
      </p:sp>
      <p:sp>
        <p:nvSpPr>
          <p:cNvPr id="11" name="s11-step3b">
            <a:extLst xmlns:a="http://schemas.openxmlformats.org/drawingml/2006/main">
              <a:ext uri="{FF2B5EF4-FFF2-40B4-BE49-F238E27FC236}">
                <a16:creationId xmlns:a16="http://schemas.microsoft.com/office/drawing/2014/main" id="{74482F8A-7A1E-4C39-AE1D-65D8EDCB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00600"/>
            <a:ext cx="352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原数据、代码、checkpoint、baseline 输出均不改</a:t>
            </a:r>
          </a:p>
        </p:txBody>
      </p:sp>
      <p:sp>
        <p:nvSpPr>
          <p:cNvPr id="12" name="s11-source">
            <a:extLst xmlns:a="http://schemas.openxmlformats.org/drawingml/2006/main">
              <a:ext uri="{FF2B5EF4-FFF2-40B4-BE49-F238E27FC236}">
                <a16:creationId xmlns:a16="http://schemas.microsoft.com/office/drawing/2014/main" id="{CC5ABB68-947E-49C9-9724-D0BB56C4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依据：Microsoft WSL 文件系统性能建议</a:t>
            </a:r>
          </a:p>
        </p:txBody>
      </p:sp>
    </p:spTree>
    <p:extLst>
      <p:ext uri="{BB962C8B-B14F-4D97-AF65-F5344CB8AC3E}">
        <p14:creationId xmlns:p14="http://schemas.microsoft.com/office/powerpoint/2010/main" val="11691429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12">
            <a:extLst xmlns:a="http://schemas.openxmlformats.org/drawingml/2006/main">
              <a:ext uri="{FF2B5EF4-FFF2-40B4-BE49-F238E27FC236}">
                <a16:creationId xmlns:a16="http://schemas.microsoft.com/office/drawing/2014/main" id="{AE4355D3-B0F9-496E-99C9-5896F48D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8C938FAE-A6A8-4B6D-80AD-9939577A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结果必须连同限制一起交付</a:t>
            </a:r>
          </a:p>
        </p:txBody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4589774D-B9A2-4716-9C77-8D7BBB90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12</a:t>
            </a:r>
          </a:p>
        </p:txBody>
      </p:sp>
      <p:sp>
        <p:nvSpPr>
          <p:cNvPr id="4" name="s12-chart-frame">
            <a:extLst xmlns:a="http://schemas.openxmlformats.org/drawingml/2006/main">
              <a:ext uri="{FF2B5EF4-FFF2-40B4-BE49-F238E27FC236}">
                <a16:creationId xmlns:a16="http://schemas.microsoft.com/office/drawing/2014/main" id="{240162AF-D1BC-435B-8A92-D9070B23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2-stat">
            <a:extLst xmlns:a="http://schemas.openxmlformats.org/drawingml/2006/main">
              <a:ext uri="{FF2B5EF4-FFF2-40B4-BE49-F238E27FC236}">
                <a16:creationId xmlns:a16="http://schemas.microsoft.com/office/drawing/2014/main" id="{D92F41B2-62A9-4837-91F3-CD181621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24050"/>
            <a:ext cx="3048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5484D"/>
                </a:solidFill>
                <a:latin typeface="PingFang SC"/>
                <a:ea typeface="PingFang SC"/>
                <a:cs typeface="PingFang SC"/>
              </a:defRPr>
            </a:pPr>
            <a:r>
              <a:t>索引 13</a:t>
            </a:r>
          </a:p>
        </p:txBody>
      </p:sp>
      <p:sp>
        <p:nvSpPr>
          <p:cNvPr id="6" name="s12-stat2">
            <a:extLst xmlns:a="http://schemas.openxmlformats.org/drawingml/2006/main">
              <a:ext uri="{FF2B5EF4-FFF2-40B4-BE49-F238E27FC236}">
                <a16:creationId xmlns:a16="http://schemas.microsoft.com/office/drawing/2014/main" id="{B7887A0A-E683-483F-9A94-126C90D4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43200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有效标注 = 0</a:t>
            </a:r>
          </a:p>
        </p:txBody>
      </p:sp>
      <p:sp>
        <p:nvSpPr>
          <p:cNvPr id="7" name="s12-body">
            <a:extLst xmlns:a="http://schemas.openxmlformats.org/drawingml/2006/main">
              <a:ext uri="{FF2B5EF4-FFF2-40B4-BE49-F238E27FC236}">
                <a16:creationId xmlns:a16="http://schemas.microsoft.com/office/drawing/2014/main" id="{B2FBEB54-91FB-4199-9D54-77202B10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62350"/>
            <a:ext cx="3238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模型接口仍为 14×3；当前数据只支持 13 个点的监督与精度声明。</a:t>
            </a:r>
          </a:p>
        </p:txBody>
      </p:sp>
      <p:sp>
        <p:nvSpPr>
          <p:cNvPr id="8" name="s12-foot">
            <a:extLst xmlns:a="http://schemas.openxmlformats.org/drawingml/2006/main">
              <a:ext uri="{FF2B5EF4-FFF2-40B4-BE49-F238E27FC236}">
                <a16:creationId xmlns:a16="http://schemas.microsoft.com/office/drawing/2014/main" id="{D4E7EC34-6BAF-4554-A4F9-6E0C9CCE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48250"/>
            <a:ext cx="3238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flip_idx 继续为空，左右语义确认前禁用水平翻转。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6667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9d0ed818b745ac"/>
          </a:graphicData>
        </a:graphic>
      </p:graphicFrame>
    </p:spTree>
    <p:extLst>
      <p:ext uri="{BB962C8B-B14F-4D97-AF65-F5344CB8AC3E}">
        <p14:creationId xmlns:p14="http://schemas.microsoft.com/office/powerpoint/2010/main" val="20491906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3">
            <a:extLst xmlns:a="http://schemas.openxmlformats.org/drawingml/2006/main">
              <a:ext uri="{FF2B5EF4-FFF2-40B4-BE49-F238E27FC236}">
                <a16:creationId xmlns:a16="http://schemas.microsoft.com/office/drawing/2014/main" id="{42B2824D-47F3-48FD-B317-BC2A03AD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775D1FB2-50BF-478F-BF30-66F3704F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可复用的 Codex 模式：目标、约束、证据、恢复、复盘</a:t>
            </a:r>
          </a:p>
        </p:txBody>
      </p:sp>
      <p:sp>
        <p:nvSpPr>
          <p:cNvPr id="3" name="page-13">
            <a:extLst xmlns:a="http://schemas.openxmlformats.org/drawingml/2006/main">
              <a:ext uri="{FF2B5EF4-FFF2-40B4-BE49-F238E27FC236}">
                <a16:creationId xmlns:a16="http://schemas.microsoft.com/office/drawing/2014/main" id="{C0DD3CD8-FD10-4FB1-88EB-9C7B6409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13</a:t>
            </a:r>
          </a:p>
        </p:txBody>
      </p:sp>
      <p:cxnSp>
        <p:nvCxnSpPr>
          <p:cNvPr id="29" name="s13-axis"/>
          <p:cNvCxnSpPr/>
          <p:nvPr/>
        </p:nvCxnSpPr>
        <p:spPr>
          <a:xfrm xmlns:a="http://schemas.openxmlformats.org/drawingml/2006/main">
            <a:off x="952500" y="3524250"/>
            <a:ext cx="102870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5" name="s13-dot-1">
            <a:extLst xmlns:a="http://schemas.openxmlformats.org/drawingml/2006/main">
              <a:ext uri="{FF2B5EF4-FFF2-40B4-BE49-F238E27FC236}">
                <a16:creationId xmlns:a16="http://schemas.microsoft.com/office/drawing/2014/main" id="{17140976-CF37-4ECF-925F-74246B3C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3-num-1">
            <a:extLst xmlns:a="http://schemas.openxmlformats.org/drawingml/2006/main">
              <a:ext uri="{FF2B5EF4-FFF2-40B4-BE49-F238E27FC236}">
                <a16:creationId xmlns:a16="http://schemas.microsoft.com/office/drawing/2014/main" id="{470001FA-DD20-4C47-83C2-3E5A20F9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1</a:t>
            </a:r>
          </a:p>
        </p:txBody>
      </p:sp>
      <p:sp>
        <p:nvSpPr>
          <p:cNvPr id="7" name="s13-title-1">
            <a:extLst xmlns:a="http://schemas.openxmlformats.org/drawingml/2006/main">
              <a:ext uri="{FF2B5EF4-FFF2-40B4-BE49-F238E27FC236}">
                <a16:creationId xmlns:a16="http://schemas.microsoft.com/office/drawing/2014/main" id="{D61EFD9A-0AF5-45F6-A51B-8C26EE9F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定义完成</a:t>
            </a:r>
          </a:p>
        </p:txBody>
      </p:sp>
      <p:sp>
        <p:nvSpPr>
          <p:cNvPr id="8" name="s13-body-1">
            <a:extLst xmlns:a="http://schemas.openxmlformats.org/drawingml/2006/main">
              <a:ext uri="{FF2B5EF4-FFF2-40B4-BE49-F238E27FC236}">
                <a16:creationId xmlns:a16="http://schemas.microsoft.com/office/drawing/2014/main" id="{FADE9A16-BCAB-4196-A83E-CE23076D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目标 + 不可破坏项</a:t>
            </a:r>
          </a:p>
        </p:txBody>
      </p:sp>
      <p:sp>
        <p:nvSpPr>
          <p:cNvPr id="9" name="s13-dot-2">
            <a:extLst xmlns:a="http://schemas.openxmlformats.org/drawingml/2006/main">
              <a:ext uri="{FF2B5EF4-FFF2-40B4-BE49-F238E27FC236}">
                <a16:creationId xmlns:a16="http://schemas.microsoft.com/office/drawing/2014/main" id="{15F9754A-4BA3-4558-AF3E-A84468B1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3-num-2">
            <a:extLst xmlns:a="http://schemas.openxmlformats.org/drawingml/2006/main">
              <a:ext uri="{FF2B5EF4-FFF2-40B4-BE49-F238E27FC236}">
                <a16:creationId xmlns:a16="http://schemas.microsoft.com/office/drawing/2014/main" id="{99C38A51-9608-48B6-8C78-FE31D401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2</a:t>
            </a:r>
          </a:p>
        </p:txBody>
      </p:sp>
      <p:sp>
        <p:nvSpPr>
          <p:cNvPr id="11" name="s13-title-2">
            <a:extLst xmlns:a="http://schemas.openxmlformats.org/drawingml/2006/main">
              <a:ext uri="{FF2B5EF4-FFF2-40B4-BE49-F238E27FC236}">
                <a16:creationId xmlns:a16="http://schemas.microsoft.com/office/drawing/2014/main" id="{7A05E8A9-E0B0-4083-BAE3-A4F48563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先读后改</a:t>
            </a:r>
          </a:p>
        </p:txBody>
      </p:sp>
      <p:sp>
        <p:nvSpPr>
          <p:cNvPr id="12" name="s13-body-2">
            <a:extLst xmlns:a="http://schemas.openxmlformats.org/drawingml/2006/main">
              <a:ext uri="{FF2B5EF4-FFF2-40B4-BE49-F238E27FC236}">
                <a16:creationId xmlns:a16="http://schemas.microsoft.com/office/drawing/2014/main" id="{632DFDB3-E17A-4519-88E4-EC35D94E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仓库 / 环境 / 数据</a:t>
            </a:r>
          </a:p>
        </p:txBody>
      </p:sp>
      <p:sp>
        <p:nvSpPr>
          <p:cNvPr id="13" name="s13-dot-3">
            <a:extLst xmlns:a="http://schemas.openxmlformats.org/drawingml/2006/main">
              <a:ext uri="{FF2B5EF4-FFF2-40B4-BE49-F238E27FC236}">
                <a16:creationId xmlns:a16="http://schemas.microsoft.com/office/drawing/2014/main" id="{38AB1F08-F94E-4F80-9DDE-3ADCE7BF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3-num-3">
            <a:extLst xmlns:a="http://schemas.openxmlformats.org/drawingml/2006/main">
              <a:ext uri="{FF2B5EF4-FFF2-40B4-BE49-F238E27FC236}">
                <a16:creationId xmlns:a16="http://schemas.microsoft.com/office/drawing/2014/main" id="{F26B20F6-8D52-4730-93B9-4C28028D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3</a:t>
            </a:r>
          </a:p>
        </p:txBody>
      </p:sp>
      <p:sp>
        <p:nvSpPr>
          <p:cNvPr id="15" name="s13-title-3">
            <a:extLst xmlns:a="http://schemas.openxmlformats.org/drawingml/2006/main">
              <a:ext uri="{FF2B5EF4-FFF2-40B4-BE49-F238E27FC236}">
                <a16:creationId xmlns:a16="http://schemas.microsoft.com/office/drawing/2014/main" id="{F5172F2B-6C7B-43BF-916B-813188E7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测试先行</a:t>
            </a:r>
          </a:p>
        </p:txBody>
      </p:sp>
      <p:sp>
        <p:nvSpPr>
          <p:cNvPr id="16" name="s13-body-3">
            <a:extLst xmlns:a="http://schemas.openxmlformats.org/drawingml/2006/main">
              <a:ext uri="{FF2B5EF4-FFF2-40B4-BE49-F238E27FC236}">
                <a16:creationId xmlns:a16="http://schemas.microsoft.com/office/drawing/2014/main" id="{31655B1D-3CE9-47DB-B8B1-EA0A7F9E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把假设变成回归</a:t>
            </a:r>
          </a:p>
        </p:txBody>
      </p:sp>
      <p:sp>
        <p:nvSpPr>
          <p:cNvPr id="17" name="s13-dot-4">
            <a:extLst xmlns:a="http://schemas.openxmlformats.org/drawingml/2006/main">
              <a:ext uri="{FF2B5EF4-FFF2-40B4-BE49-F238E27FC236}">
                <a16:creationId xmlns:a16="http://schemas.microsoft.com/office/drawing/2014/main" id="{6BF2DDD1-4B52-429D-A84E-553A834F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13-num-4">
            <a:extLst xmlns:a="http://schemas.openxmlformats.org/drawingml/2006/main">
              <a:ext uri="{FF2B5EF4-FFF2-40B4-BE49-F238E27FC236}">
                <a16:creationId xmlns:a16="http://schemas.microsoft.com/office/drawing/2014/main" id="{A5B70BEF-15EB-42D0-BB6F-24CEDF62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4</a:t>
            </a:r>
          </a:p>
        </p:txBody>
      </p:sp>
      <p:sp>
        <p:nvSpPr>
          <p:cNvPr id="19" name="s13-title-4">
            <a:extLst xmlns:a="http://schemas.openxmlformats.org/drawingml/2006/main">
              <a:ext uri="{FF2B5EF4-FFF2-40B4-BE49-F238E27FC236}">
                <a16:creationId xmlns:a16="http://schemas.microsoft.com/office/drawing/2014/main" id="{AF8F0F05-54F7-4A44-82C4-EDDC68AA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门禁推进</a:t>
            </a:r>
          </a:p>
        </p:txBody>
      </p:sp>
      <p:sp>
        <p:nvSpPr>
          <p:cNvPr id="20" name="s13-body-4">
            <a:extLst xmlns:a="http://schemas.openxmlformats.org/drawingml/2006/main">
              <a:ext uri="{FF2B5EF4-FFF2-40B4-BE49-F238E27FC236}">
                <a16:creationId xmlns:a16="http://schemas.microsoft.com/office/drawing/2014/main" id="{116CA031-BC2C-41BD-9BE2-6FCD382E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哈希 / 指标 / 可视化</a:t>
            </a:r>
          </a:p>
        </p:txBody>
      </p:sp>
      <p:sp>
        <p:nvSpPr>
          <p:cNvPr id="21" name="s13-dot-5">
            <a:extLst xmlns:a="http://schemas.openxmlformats.org/drawingml/2006/main">
              <a:ext uri="{FF2B5EF4-FFF2-40B4-BE49-F238E27FC236}">
                <a16:creationId xmlns:a16="http://schemas.microsoft.com/office/drawing/2014/main" id="{D10DC175-014F-4DC4-BE87-8F0AA4B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3-num-5">
            <a:extLst xmlns:a="http://schemas.openxmlformats.org/drawingml/2006/main">
              <a:ext uri="{FF2B5EF4-FFF2-40B4-BE49-F238E27FC236}">
                <a16:creationId xmlns:a16="http://schemas.microsoft.com/office/drawing/2014/main" id="{D7C2FE1B-A7E2-4ABE-9FC0-70101CBD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5</a:t>
            </a:r>
          </a:p>
        </p:txBody>
      </p:sp>
      <p:sp>
        <p:nvSpPr>
          <p:cNvPr id="23" name="s13-title-5">
            <a:extLst xmlns:a="http://schemas.openxmlformats.org/drawingml/2006/main">
              <a:ext uri="{FF2B5EF4-FFF2-40B4-BE49-F238E27FC236}">
                <a16:creationId xmlns:a16="http://schemas.microsoft.com/office/drawing/2014/main" id="{90F191AD-535C-46B2-8FB1-6EDDCFA6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证据交付</a:t>
            </a:r>
          </a:p>
        </p:txBody>
      </p:sp>
      <p:sp>
        <p:nvSpPr>
          <p:cNvPr id="24" name="s13-body-5">
            <a:extLst xmlns:a="http://schemas.openxmlformats.org/drawingml/2006/main">
              <a:ext uri="{FF2B5EF4-FFF2-40B4-BE49-F238E27FC236}">
                <a16:creationId xmlns:a16="http://schemas.microsoft.com/office/drawing/2014/main" id="{2DF5A05B-39CA-44F4-B17E-1C4490F4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报告 / 命令 / 限制</a:t>
            </a:r>
          </a:p>
        </p:txBody>
      </p:sp>
      <p:sp>
        <p:nvSpPr>
          <p:cNvPr id="25" name="s13-takeaway">
            <a:extLst xmlns:a="http://schemas.openxmlformats.org/drawingml/2006/main">
              <a:ext uri="{FF2B5EF4-FFF2-40B4-BE49-F238E27FC236}">
                <a16:creationId xmlns:a16="http://schemas.microsoft.com/office/drawing/2014/main" id="{DEEC5D3F-2D12-4BC9-B1FB-C87872D2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10287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Codex 的价值不是替你敲更多代码，而是持续维护一个可验证的工程状态。</a:t>
            </a:r>
          </a:p>
        </p:txBody>
      </p:sp>
    </p:spTree>
    <p:extLst>
      <p:ext uri="{BB962C8B-B14F-4D97-AF65-F5344CB8AC3E}">
        <p14:creationId xmlns:p14="http://schemas.microsoft.com/office/powerpoint/2010/main" val="6354214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14-kicker">
            <a:extLst xmlns:a="http://schemas.openxmlformats.org/drawingml/2006/main">
              <a:ext uri="{FF2B5EF4-FFF2-40B4-BE49-F238E27FC236}">
                <a16:creationId xmlns:a16="http://schemas.microsoft.com/office/drawing/2014/main" id="{90CB7C2E-E879-4278-8A86-2F8A08C3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905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结论</a:t>
            </a:r>
          </a:p>
        </p:txBody>
      </p:sp>
      <p:sp>
        <p:nvSpPr>
          <p:cNvPr id="2" name="s14-title">
            <a:extLst xmlns:a="http://schemas.openxmlformats.org/drawingml/2006/main">
              <a:ext uri="{FF2B5EF4-FFF2-40B4-BE49-F238E27FC236}">
                <a16:creationId xmlns:a16="http://schemas.microsoft.com/office/drawing/2014/main" id="{A6099B59-330B-46D6-BE30-E3E26B5B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9906000" cy="251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把 Codex 放进
有边界的工程闭环</a:t>
            </a:r>
          </a:p>
        </p:txBody>
      </p:sp>
      <p:sp>
        <p:nvSpPr>
          <p:cNvPr id="3" name="s14-body">
            <a:extLst xmlns:a="http://schemas.openxmlformats.org/drawingml/2006/main">
              <a:ext uri="{FF2B5EF4-FFF2-40B4-BE49-F238E27FC236}">
                <a16:creationId xmlns:a16="http://schemas.microsoft.com/office/drawing/2014/main" id="{684179D1-F5FD-4F4B-A9DC-EA85FC46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61912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先定义不可破坏项
用测试与可视化互证
让失败可恢复、让结论可追溯</a:t>
            </a:r>
          </a:p>
        </p:txBody>
      </p:sp>
      <p:sp>
        <p:nvSpPr>
          <p:cNvPr id="4" name="s14-action">
            <a:extLst xmlns:a="http://schemas.openxmlformats.org/drawingml/2006/main">
              <a:ext uri="{FF2B5EF4-FFF2-40B4-BE49-F238E27FC236}">
                <a16:creationId xmlns:a16="http://schemas.microsoft.com/office/drawing/2014/main" id="{AF23653B-F275-4DBD-8984-C9B336B2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95900"/>
            <a:ext cx="4286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下一次训练：先执行 ext4 数据本地化，再测 DataLoader 参数</a:t>
            </a:r>
          </a:p>
        </p:txBody>
      </p:sp>
    </p:spTree>
    <p:extLst>
      <p:ext uri="{BB962C8B-B14F-4D97-AF65-F5344CB8AC3E}">
        <p14:creationId xmlns:p14="http://schemas.microsoft.com/office/powerpoint/2010/main" val="6901171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2026-07-19T06:01:58.9540000Z</dcterms:created>
  <dcterms:modified xsi:type="dcterms:W3CDTF">2026-07-19T06:01:58.9540000Z</dcterms:modified>
</coreProperties>
</file>