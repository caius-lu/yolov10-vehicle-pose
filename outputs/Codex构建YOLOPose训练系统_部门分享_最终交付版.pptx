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c3f5a3e5b8412b" /><Relationship Type="http://schemas.openxmlformats.org/officeDocument/2006/relationships/extended-properties" Target="/docProps/app.xml" Id="R8eb595ed5da94bbd" /><Relationship Type="http://schemas.openxmlformats.org/officeDocument/2006/relationships/officeDocument" Target="/ppt/presentation.xml" Id="Rfea09b8d07164f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19181a14942ee"/>
  </p:sldMasterIdLst>
  <p:notesMasterIdLst>
    <p:notesMasterId xmlns:r="http://schemas.openxmlformats.org/officeDocument/2006/relationships" r:id="Rc05c39cb541c4613"/>
  </p:notesMasterIdLst>
  <p:sldIdLst>
    <p:sldId xmlns:r="http://schemas.openxmlformats.org/officeDocument/2006/relationships" id="256" r:id="R3175ea0ca87d4847"/>
    <p:sldId xmlns:r="http://schemas.openxmlformats.org/officeDocument/2006/relationships" id="257" r:id="Rbc987dd028764487"/>
    <p:sldId xmlns:r="http://schemas.openxmlformats.org/officeDocument/2006/relationships" id="258" r:id="R74990f961fda4231"/>
    <p:sldId xmlns:r="http://schemas.openxmlformats.org/officeDocument/2006/relationships" id="259" r:id="Re9a7f331cf3f4c34"/>
    <p:sldId xmlns:r="http://schemas.openxmlformats.org/officeDocument/2006/relationships" id="260" r:id="R04c5a1fe999e4cc8"/>
    <p:sldId xmlns:r="http://schemas.openxmlformats.org/officeDocument/2006/relationships" id="261" r:id="R58af44352d9d482c"/>
    <p:sldId xmlns:r="http://schemas.openxmlformats.org/officeDocument/2006/relationships" id="262" r:id="R962db2803dc84cf0"/>
    <p:sldId xmlns:r="http://schemas.openxmlformats.org/officeDocument/2006/relationships" id="263" r:id="R06d73ed113b3487f"/>
    <p:sldId xmlns:r="http://schemas.openxmlformats.org/officeDocument/2006/relationships" id="264" r:id="R77b763f029714042"/>
    <p:sldId xmlns:r="http://schemas.openxmlformats.org/officeDocument/2006/relationships" id="265" r:id="R6097892d2e304774"/>
    <p:sldId xmlns:r="http://schemas.openxmlformats.org/officeDocument/2006/relationships" id="266" r:id="Rab72fef0c8c14e2f"/>
    <p:sldId xmlns:r="http://schemas.openxmlformats.org/officeDocument/2006/relationships" id="267" r:id="Rb2ea52ae952840a3"/>
    <p:sldId xmlns:r="http://schemas.openxmlformats.org/officeDocument/2006/relationships" id="268" r:id="Rf00845742bbc4af6"/>
    <p:sldId xmlns:r="http://schemas.openxmlformats.org/officeDocument/2006/relationships" id="269" r:id="Rebc35bb2a96940e1"/>
    <p:sldId xmlns:r="http://schemas.openxmlformats.org/officeDocument/2006/relationships" id="270" r:id="R9049ff5f83814569"/>
    <p:sldId xmlns:r="http://schemas.openxmlformats.org/officeDocument/2006/relationships" id="271" r:id="R8147d0920c1a43bf"/>
    <p:sldId xmlns:r="http://schemas.openxmlformats.org/officeDocument/2006/relationships" id="272" r:id="Rfa6e203ec0da4c85"/>
    <p:sldId xmlns:r="http://schemas.openxmlformats.org/officeDocument/2006/relationships" id="273" r:id="R606efa4e63f5444b"/>
    <p:sldId xmlns:r="http://schemas.openxmlformats.org/officeDocument/2006/relationships" id="274" r:id="R75bc5c3bb7184660"/>
    <p:sldId xmlns:r="http://schemas.openxmlformats.org/officeDocument/2006/relationships" id="275" r:id="R233d3d7809e94b5c"/>
    <p:sldId xmlns:r="http://schemas.openxmlformats.org/officeDocument/2006/relationships" id="276" r:id="Rc78b27533c3640c1"/>
    <p:sldId xmlns:r="http://schemas.openxmlformats.org/officeDocument/2006/relationships" id="277" r:id="R7f0d17b72b0a47af"/>
    <p:sldId xmlns:r="http://schemas.openxmlformats.org/officeDocument/2006/relationships" id="278" r:id="R2ad09cff2d114f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4ccbc0fcfc4445" /><Relationship Type="http://schemas.openxmlformats.org/officeDocument/2006/relationships/slideMaster" Target="/ppt/slideMasters/slideMaster1.xml" Id="R33519181a14942ee" /><Relationship Type="http://schemas.openxmlformats.org/officeDocument/2006/relationships/notesMaster" Target="/ppt/notesMasters/notesMaster1.xml" Id="Rc05c39cb541c4613" /><Relationship Type="http://schemas.openxmlformats.org/officeDocument/2006/relationships/presProps" Target="/ppt/presProps.xml" Id="R0ae0c5502cc54cfc" /><Relationship Type="http://schemas.openxmlformats.org/officeDocument/2006/relationships/tableStyles" Target="/ppt/tableStyles.xml" Id="Rc8d1db8cf68e4c71" /><Relationship Type="http://schemas.openxmlformats.org/officeDocument/2006/relationships/slide" Target="/ppt/slides/slide1.xml" Id="R3175ea0ca87d4847" /><Relationship Type="http://schemas.openxmlformats.org/officeDocument/2006/relationships/slide" Target="/ppt/slides/slide2.xml" Id="Rbc987dd028764487" /><Relationship Type="http://schemas.openxmlformats.org/officeDocument/2006/relationships/slide" Target="/ppt/slides/slide3.xml" Id="R74990f961fda4231" /><Relationship Type="http://schemas.openxmlformats.org/officeDocument/2006/relationships/slide" Target="/ppt/slides/slide4.xml" Id="Re9a7f331cf3f4c34" /><Relationship Type="http://schemas.openxmlformats.org/officeDocument/2006/relationships/slide" Target="/ppt/slides/slide5.xml" Id="R04c5a1fe999e4cc8" /><Relationship Type="http://schemas.openxmlformats.org/officeDocument/2006/relationships/slide" Target="/ppt/slides/slide6.xml" Id="R58af44352d9d482c" /><Relationship Type="http://schemas.openxmlformats.org/officeDocument/2006/relationships/slide" Target="/ppt/slides/slide7.xml" Id="R962db2803dc84cf0" /><Relationship Type="http://schemas.openxmlformats.org/officeDocument/2006/relationships/slide" Target="/ppt/slides/slide8.xml" Id="R06d73ed113b3487f" /><Relationship Type="http://schemas.openxmlformats.org/officeDocument/2006/relationships/slide" Target="/ppt/slides/slide9.xml" Id="R77b763f029714042" /><Relationship Type="http://schemas.openxmlformats.org/officeDocument/2006/relationships/slide" Target="/ppt/slides/slide10.xml" Id="R6097892d2e304774" /><Relationship Type="http://schemas.openxmlformats.org/officeDocument/2006/relationships/slide" Target="/ppt/slides/slide11.xml" Id="Rab72fef0c8c14e2f" /><Relationship Type="http://schemas.openxmlformats.org/officeDocument/2006/relationships/slide" Target="/ppt/slides/slide12.xml" Id="Rb2ea52ae952840a3" /><Relationship Type="http://schemas.openxmlformats.org/officeDocument/2006/relationships/slide" Target="/ppt/slides/slide13.xml" Id="Rf00845742bbc4af6" /><Relationship Type="http://schemas.openxmlformats.org/officeDocument/2006/relationships/slide" Target="/ppt/slides/slide14.xml" Id="Rebc35bb2a96940e1" /><Relationship Type="http://schemas.openxmlformats.org/officeDocument/2006/relationships/slide" Target="/ppt/slides/slide15.xml" Id="R9049ff5f83814569" /><Relationship Type="http://schemas.openxmlformats.org/officeDocument/2006/relationships/slide" Target="/ppt/slides/slide16.xml" Id="R8147d0920c1a43bf" /><Relationship Type="http://schemas.openxmlformats.org/officeDocument/2006/relationships/slide" Target="/ppt/slides/slide17.xml" Id="Rfa6e203ec0da4c85" /><Relationship Type="http://schemas.openxmlformats.org/officeDocument/2006/relationships/slide" Target="/ppt/slides/slide18.xml" Id="R606efa4e63f5444b" /><Relationship Type="http://schemas.openxmlformats.org/officeDocument/2006/relationships/slide" Target="/ppt/slides/slide19.xml" Id="R75bc5c3bb7184660" /><Relationship Type="http://schemas.openxmlformats.org/officeDocument/2006/relationships/slide" Target="/ppt/slides/slide20.xml" Id="R233d3d7809e94b5c" /><Relationship Type="http://schemas.openxmlformats.org/officeDocument/2006/relationships/slide" Target="/ppt/slides/slide21.xml" Id="Rc78b27533c3640c1" /><Relationship Type="http://schemas.openxmlformats.org/officeDocument/2006/relationships/slide" Target="/ppt/slides/slide22.xml" Id="R7f0d17b72b0a47af" /><Relationship Type="http://schemas.openxmlformats.org/officeDocument/2006/relationships/slide" Target="/ppt/slides/slide23.xml" Id="R2ad09cff2d11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96d22549641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99916209aa421d" /><Relationship Type="http://schemas.openxmlformats.org/officeDocument/2006/relationships/notesMaster" Target="/ppt/notesMasters/notesMaster1.xml" Id="R09b52d54748a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6fb0ea8e6c4a3c" /><Relationship Type="http://schemas.openxmlformats.org/officeDocument/2006/relationships/notesMaster" Target="/ppt/notesMasters/notesMaster1.xml" Id="Rb0ae3ecd9439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b7c0948394c73" /><Relationship Type="http://schemas.openxmlformats.org/officeDocument/2006/relationships/notesMaster" Target="/ppt/notesMasters/notesMaster1.xml" Id="R63ad1865699f48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2b9eaff7c4a5d" /><Relationship Type="http://schemas.openxmlformats.org/officeDocument/2006/relationships/notesMaster" Target="/ppt/notesMasters/notesMaster1.xml" Id="R5bab3a1d713340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9c97b94f94c19" /><Relationship Type="http://schemas.openxmlformats.org/officeDocument/2006/relationships/notesMaster" Target="/ppt/notesMasters/notesMaster1.xml" Id="R860a209b452b4b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b727d9dbcf4628" /><Relationship Type="http://schemas.openxmlformats.org/officeDocument/2006/relationships/notesMaster" Target="/ppt/notesMasters/notesMaster1.xml" Id="Ra459e0eecd144a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701bab0979459d" /><Relationship Type="http://schemas.openxmlformats.org/officeDocument/2006/relationships/notesMaster" Target="/ppt/notesMasters/notesMaster1.xml" Id="R904ea6ae1b09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05736203b848b5" /><Relationship Type="http://schemas.openxmlformats.org/officeDocument/2006/relationships/notesMaster" Target="/ppt/notesMasters/notesMaster1.xml" Id="R9bb0a54b550448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8b49a2c2dd4a9d" /><Relationship Type="http://schemas.openxmlformats.org/officeDocument/2006/relationships/notesMaster" Target="/ppt/notesMasters/notesMaster1.xml" Id="R2ef2b5bd2c1f43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f7b38864a541a4" /><Relationship Type="http://schemas.openxmlformats.org/officeDocument/2006/relationships/notesMaster" Target="/ppt/notesMasters/notesMaster1.xml" Id="Re448c1abcd1d4b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fc84dfe1194d30" /><Relationship Type="http://schemas.openxmlformats.org/officeDocument/2006/relationships/notesMaster" Target="/ppt/notesMasters/notesMaster1.xml" Id="Rc4674e65514041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402b96e47d46f5" /><Relationship Type="http://schemas.openxmlformats.org/officeDocument/2006/relationships/notesMaster" Target="/ppt/notesMasters/notesMaster1.xml" Id="Ra9ab3e1950ff44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b00670f66b4d15" /><Relationship Type="http://schemas.openxmlformats.org/officeDocument/2006/relationships/notesMaster" Target="/ppt/notesMasters/notesMaster1.xml" Id="Rab36babee64945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9dc6616c544ae7" /><Relationship Type="http://schemas.openxmlformats.org/officeDocument/2006/relationships/notesMaster" Target="/ppt/notesMasters/notesMaster1.xml" Id="R52b76b8b7ea243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5948e80d274af9" /><Relationship Type="http://schemas.openxmlformats.org/officeDocument/2006/relationships/notesMaster" Target="/ppt/notesMasters/notesMaster1.xml" Id="Rbd5e21bbe68847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ad00fa05224612" /><Relationship Type="http://schemas.openxmlformats.org/officeDocument/2006/relationships/notesMaster" Target="/ppt/notesMasters/notesMaster1.xml" Id="R54c44777264141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0b33c66b67479c" /><Relationship Type="http://schemas.openxmlformats.org/officeDocument/2006/relationships/notesMaster" Target="/ppt/notesMasters/notesMaster1.xml" Id="R251bdb94c92747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ea886b4ea740e1" /><Relationship Type="http://schemas.openxmlformats.org/officeDocument/2006/relationships/notesMaster" Target="/ppt/notesMasters/notesMaster1.xml" Id="R78a7873815024f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2603c90466489c" /><Relationship Type="http://schemas.openxmlformats.org/officeDocument/2006/relationships/notesMaster" Target="/ppt/notesMasters/notesMaster1.xml" Id="R6065c6e256ed44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686a10db3a4db0" /><Relationship Type="http://schemas.openxmlformats.org/officeDocument/2006/relationships/notesMaster" Target="/ppt/notesMasters/notesMaster1.xml" Id="Rc5431b4bf7b04f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851379c23946c5" /><Relationship Type="http://schemas.openxmlformats.org/officeDocument/2006/relationships/notesMaster" Target="/ppt/notesMasters/notesMaster1.xml" Id="Re2a558858e804eb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03843a5b1645f8" /><Relationship Type="http://schemas.openxmlformats.org/officeDocument/2006/relationships/notesMaster" Target="/ppt/notesMasters/notesMaster1.xml" Id="R2b72755a2e8f49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c2bc77f800042b8" /><Relationship Type="http://schemas.openxmlformats.org/officeDocument/2006/relationships/notesMaster" Target="/ppt/notesMasters/notesMaster1.xml" Id="R557467ed90ac43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今天分享的不是一个 Pose Head 的代码 walkthrough，而是一次完整工程闭环。起点是一组阶段提示词和一个不完整仓库，终点是可以在远程 GPU 上恢复训练、验证指标、查看可视结果、测量端到端耗时，并且能解释每个结论从哪里来的训练系统。</a:t>
            </a:r>
          </a:p>
          <a:p xmlns:a="http://schemas.openxmlformats.org/drawingml/2006/main">
            <a:r>
              <a:t>我会重点讲 Codex 如何被约束、如何监控长任务，以及我们如何用证据否决看似合理但没有部署收益的优化。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先明确任务边界。输入不是一份详细设计，而是一份使用顺序和九个阶段目标。</a:t>
            </a:r>
          </a:p>
          <a:p xmlns:a="http://schemas.openxmlformats.org/drawingml/2006/main">
            <a:r>
              <a:t>真正需要交付的是可审计的状态：代码、测试、训练、评估、benchmark 和文档相互一致。任何一步都不能靠“看起来应该对”。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九个阶段被压缩成四组门禁。第一组先读仓库、上游和调用链；第二组才实现、转换数据并跑 smoke、overfit、baseline；第三组让指标、可视化和 benchmark 互证；最后才整理可复现交付。</a:t>
            </a:r>
          </a:p>
          <a:p xmlns:a="http://schemas.openxmlformats.org/drawingml/2006/main">
            <a:r>
              <a:t>这个顺序很关键：Codex 的自动化能力只有放在门禁之后才可靠。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YOLOv10 Pose 最容易出错的地方不是卷积层，而是匹配语义。训练同时存在 one-to-many 与 one-to-one 分支，关键点监督必须继承各自 bbox assigner 的 target_gt_idx。</a:t>
            </a:r>
          </a:p>
          <a:p xmlns:a="http://schemas.openxmlformats.org/drawingml/2006/main">
            <a:r>
              <a:t>如果按预测顺序猜 GT，loss 会正常下降，但监督已经错位，这类错误几乎不会通过肉眼读代码被发现。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所以测试先定义不变量：assigner 索引贯穿 bbox 与 keypoint；双分支都能反传；空目标和 checkpoint 可工作；原 Detect 行为没有回归；优化后的 one2one_only 与原输出数值一致。</a:t>
            </a:r>
          </a:p>
          <a:p xmlns:a="http://schemas.openxmlformats.org/drawingml/2006/main">
            <a:r>
              <a:t>最终全量 pytest 28 个通过，Vehicle Pose 聚焦回归 9 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远程长任务里，故障是常态。数据归档 32 GiB，先做 SHA-256 再解压；磁盘不足后转移到 Windows E 盘。训练到 epoch 176 时 WSL 重启。</a:t>
            </a:r>
          </a:p>
          <a:p xmlns:a="http://schemas.openxmlformats.org/drawingml/2006/main">
            <a:r>
              <a:t>恢复时不重新起 baseline，而是核对挂载、进程、last.pt 和 results.csv，只续跑原任务。checkpoint 把故障从灾难变成一个可恢复事件。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 epochs 后形成基线：Box mAP50-95 为 0.665，Pose mAP50-95 为 0.515，PCK@0.05 为 0.6686。</a:t>
            </a:r>
          </a:p>
          <a:p xmlns:a="http://schemas.openxmlformats.org/drawingml/2006/main">
            <a:r>
              <a:t>这些数值必须和验证集规模、checkpoint、运行配置绑定，脱离这些上下文的单个 mAP 没有工程意义。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指标通过并不代表推理链正确。固定样本可视化发现 raw Predictor 把 xywh 当作 xyxy 再缩放，宽图上出现巨框；Validator 指标没变，因为它走的是另一条路径。</a:t>
            </a:r>
          </a:p>
          <a:p xmlns:a="http://schemas.openxmlformats.org/drawingml/2006/main">
            <a:r>
              <a:t>修复后增加回归测试，避免视觉路径再次漂移。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可视门禁覆盖宽图、边缘截断、遮挡、多车和尺度变化。100 张图全部检查后，框、关键点和异常样本与指标方向一致，才允许进入性能结论。</a:t>
            </a:r>
          </a:p>
          <a:p xmlns:a="http://schemas.openxmlformats.org/drawingml/2006/main">
            <a:r>
              <a:t>这是一个很实用的原则：指标回答总体是否变好，可视化回答系统是否真的在做我们以为它在做的事。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第一次系统测速发现最大端到端瓶颈不在模型，而在 Windows 挂载盘。相同图片字节、相同 checkpoint、相同循环，迁移到 WSL ext4 后平均延迟下降 72.3%，吞吐提升 3.61 倍。</a:t>
            </a:r>
          </a:p>
          <a:p xmlns:a="http://schemas.openxmlformats.org/drawingml/2006/main">
            <a:r>
              <a:t>这说明优化顺序必须从端到端分解开始，不能直接假设网络就是主瓶颈。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数据本地化被做成独立入口：解引用复制、SHA-256 门禁、新 runtime YAML。原训练数据、代码、checkpoint 和 baseline 输出都不改。</a:t>
            </a:r>
          </a:p>
          <a:p xmlns:a="http://schemas.openxmlformats.org/drawingml/2006/main">
            <a:r>
              <a:t>分享时我希望大家注意：优化不仅是一个数字，还要有可复现入口和失败条件。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基线也有明确限制。模型接口是 14×3，但索引 13 在当前数据中有效标注为零，因此只能声明 13 个点的监督与精度。</a:t>
            </a:r>
          </a:p>
          <a:p xmlns:a="http://schemas.openxmlformats.org/drawingml/2006/main">
            <a:r>
              <a:t>flip_idx 保持为空，因为左右语义未确认之前，水平翻转可能制造错误标签。限制应该和结果一起交付。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Codex 模式可以复用：先定义完成和不可破坏项；读环境和数据后再改；把假设转成回归；用哈希、指标和可视化推进门禁；最后交付命令、报告和限制。</a:t>
            </a:r>
          </a:p>
          <a:p xmlns:a="http://schemas.openxmlformats.org/drawingml/2006/main">
            <a:r>
              <a:t>核心不是让 Codex 写更多代码，而是让它持续维护一个可验证的工程状态。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为了不退出长任务，我们增加了心跳监控。频率最终调整为每 30 分钟一次，不是每 30 分钟输出一句“还在跑”，而是每次重新读取 PID、GPU、日志、epoch 和结果文件。</a:t>
            </a:r>
          </a:p>
          <a:p xmlns:a="http://schemas.openxmlformats.org/drawingml/2006/main">
            <a:r>
              <a:t>允许的自动动作只有项目内、可回滚、安全修复；恢复前必须确认没有重复任务。所有门禁通过后，心跳自动停止。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我们也验证了同架构低分辨率蒸馏。512 学生模型 3 epochs 后 Pose mAP50-95 为 0.474，PCK@0.05 为 0.6355。同卡同进程 AB/BA 延迟中心值为 7.001 ms，而 640 baseline 是 6.905 ms，差异仅 1.39%。严谨结论不是“学生必然更慢”，而是没有测得实际加速。</a:t>
            </a:r>
          </a:p>
          <a:p xmlns:a="http://schemas.openxmlformats.org/drawingml/2006/main">
            <a:r>
              <a:t>继续增加 epoch 可能改善权重和精度，却不会减少层、通道或算子数量。kernel launch 与小算子约束是合理解释，但仍需 profiler 证明。因此当前方案触发延迟门禁，停止追加训练。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真正通过门禁的是部署路径优化：保留 640 输入和基线权重，推理只取 one-to-one 分支，融合 Conv/BN，再用 FP16。</a:t>
            </a:r>
          </a:p>
          <a:p xmlns:a="http://schemas.openxmlformats.org/drawingml/2006/main">
            <a:r>
              <a:t>严格四轮 AB/BA、每轮 1000 次，平均延迟从 7.147 ms 到 5.727 ms，下降 19.88%。完整 3606 图验证中 Pose mAP50-95 为 0.514，PCK@0.05 为 0.6676，仅低 0.001。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精度提升单独形成闭环，不和当前延迟方案混在一起。第一步先确认索引 13 和 visibility 语义；第二步按尺度、遮挡、截断做误差切片；第三步尝试 visibility-aware loss、难例采样和合法增强；第四步必须回到全量指标、固定可视样本和延迟回归。</a:t>
            </a:r>
          </a:p>
          <a:p xmlns:a="http://schemas.openxmlformats.org/drawingml/2006/main">
            <a:r>
              <a:t>只有数据证据仍支持时，才考虑更大模型或更高输入分辨率。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经验丰富的工程团队不需要给 Codex 一篇长作文，需要的是工程契约：目标和完成条件、不可破坏项、证据源、允许动作、停止规则。</a:t>
            </a:r>
          </a:p>
          <a:p xmlns:a="http://schemas.openxmlformats.org/drawingml/2006/main">
            <a:r>
              <a:t>心跳提示词也是同样结构：读取真实状态，只报告变化；安全修复后续跑；不动训练数据，不覆盖 baseline，不启动重复任务；优化必须同时通过延迟和精度门禁。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这一页只回答结构问题：我们做的是结构化通道剪枝，不是把权重置零。Torch-Pruning 的 DepGraph 会把一个通道相关的 Conv 输出、BN 参数和下游 Conv 输入作为依赖组同步删除。当前实现只允许 Backbone、Neck 和 Head 隐藏塔成为剪枝根；检测和姿态最终输出卷积全部保护，因此 DFL 64、类别 1、姿态 42 的语义和维度不变。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这里必须区分实测与估算。Baseline 的 4,005,986 参数和 8.03 MiB checkpoint 来自远程实际模型。10% 与 15% 是依据 1-(1-r)^2 给出的理论候选：约 3.245M/6.51 MiB 与 2.894M/5.80 MiB。远程 20/20 回归、53 个安全根、18 个保护输出和有限前向已经验证；但完整 DepGraph 尚未产出模型，所以当前没有可宣称的剪枝精度与延迟。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剪枝改变隐藏通道宽度，因此恢复蒸馏不能依赖中间 feature shape。实现对齐 one-to-many 与 one-to-one 两个分支的 raw outputs：DFL 用温度 2 的 KL，类别与可见性用 sigmoid MSE，关键点 XY 用 SmoothL1。教师固定为 640 baseline，eval 且无梯度；学生仍然保留真实 GT 监督。部署阶段只保留 Student，教师不进入 optimizer、EMA 或 checkpoint，因此不会增加部署延迟。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训练采用保守的 20 epoch 低学习率恢复：SGD、lr0 2e-4、batch 16、同一 640 输入，总损失是 Lsup 加 0.25 倍 LKD。右上角的 20/20 PASS 有星号：它只证明代码接口、梯度边界和前向输出契约在远程通过，不代表完整剪枝模型训练已经完成。正式结论必须再过模型文件、参数/FLOPs、精度、端到端延迟四个门禁。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最后的结论是，Codex 的主要价值不是自动生成某段代码，而是跨越本地、WSL、远程 GPU 和长时间训练，维护一个可验证状态。</a:t>
            </a:r>
          </a:p>
          <a:p xmlns:a="http://schemas.openxmlformats.org/drawingml/2006/main">
            <a:r>
              <a:t>本项目最终部署选择是 640、one-to-one-only、Conv/BN fuse 和 FP16。蒸馏被保留为负证据，精度提升进入独立闭环。这样每个结果都可复现，每个失败都能解释，每个下一步都有门禁。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d149a9c17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e6f874cdef4909" /><Relationship Type="http://schemas.openxmlformats.org/officeDocument/2006/relationships/slideLayout" Target="/ppt/slideLayouts/slideLayout1.xml" Id="R6d47be0df42a4b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7be0df42a4b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f2ab16d3d47da" /><Relationship Type="http://schemas.openxmlformats.org/officeDocument/2006/relationships/notesSlide" Target="/ppt/notesSlides/notesSlide1.xml" Id="R2b44da615cc3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e8dce60ae4404" /><Relationship Type="http://schemas.openxmlformats.org/officeDocument/2006/relationships/image" Target="/ppt/media/image.jpeg" Id="R011912d0b6bd47df" /><Relationship Type="http://schemas.openxmlformats.org/officeDocument/2006/relationships/notesSlide" Target="/ppt/notesSlides/notesSlide2.xml" Id="R83a2b0fbaffc45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fa2645b374d96" /><Relationship Type="http://schemas.openxmlformats.org/officeDocument/2006/relationships/notesSlide" Target="/ppt/notesSlides/notesSlide3.xml" Id="R1909e06ecd6c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84cdef7754342" /><Relationship Type="http://schemas.openxmlformats.org/officeDocument/2006/relationships/notesSlide" Target="/ppt/notesSlides/notesSlide4.xml" Id="Ra05db18fd4fa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bd98461834724" /><Relationship Type="http://schemas.openxmlformats.org/officeDocument/2006/relationships/notesSlide" Target="/ppt/notesSlides/notesSlide5.xml" Id="Rddc59a6c017944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2463126de40dc" /><Relationship Type="http://schemas.openxmlformats.org/officeDocument/2006/relationships/notesSlide" Target="/ppt/notesSlides/notesSlide6.xml" Id="R8e52bfe68ff74c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b1ac2b1c34cae" /><Relationship Type="http://schemas.openxmlformats.org/officeDocument/2006/relationships/image" Target="/ppt/media/image.png" Id="R42c8e63de3c74b40" /><Relationship Type="http://schemas.openxmlformats.org/officeDocument/2006/relationships/notesSlide" Target="/ppt/notesSlides/notesSlide7.xml" Id="R62315402b1c44d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37585b1b64c14" /><Relationship Type="http://schemas.openxmlformats.org/officeDocument/2006/relationships/image" Target="/ppt/media/image2.jpeg" Id="Ra11c5ce1cedd4b55" /><Relationship Type="http://schemas.openxmlformats.org/officeDocument/2006/relationships/image" Target="/ppt/media/image3.jpeg" Id="R10bdf0d20e0c4c76" /><Relationship Type="http://schemas.openxmlformats.org/officeDocument/2006/relationships/notesSlide" Target="/ppt/notesSlides/notesSlide8.xml" Id="R1ec64a043e5e42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f99480f704db5" /><Relationship Type="http://schemas.openxmlformats.org/officeDocument/2006/relationships/image" Target="/ppt/media/image4.jpeg" Id="Rcb36eeb30357441c" /><Relationship Type="http://schemas.openxmlformats.org/officeDocument/2006/relationships/notesSlide" Target="/ppt/notesSlides/notesSlide9.xml" Id="Rff65b6903e8a42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4cd8fde444e7e" /><Relationship Type="http://schemas.openxmlformats.org/officeDocument/2006/relationships/chart" Target="/ppt/slides/charts/chart1.xml" Id="Rffac33bcf3e94485" /><Relationship Type="http://schemas.openxmlformats.org/officeDocument/2006/relationships/notesSlide" Target="/ppt/notesSlides/notesSlide10.xml" Id="R8bc76b42171147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0273794e3471e" /><Relationship Type="http://schemas.openxmlformats.org/officeDocument/2006/relationships/notesSlide" Target="/ppt/notesSlides/notesSlide11.xml" Id="Rb539f741348946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281f5f2d043c7" /><Relationship Type="http://schemas.openxmlformats.org/officeDocument/2006/relationships/chart" Target="/ppt/slides/charts/chart2.xml" Id="R86f397ac66264059" /><Relationship Type="http://schemas.openxmlformats.org/officeDocument/2006/relationships/notesSlide" Target="/ppt/notesSlides/notesSlide12.xml" Id="R95df34142fc549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02f3a623e4b1f" /><Relationship Type="http://schemas.openxmlformats.org/officeDocument/2006/relationships/notesSlide" Target="/ppt/notesSlides/notesSlide13.xml" Id="R1ba00138f5d14b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ad2eade324776" /><Relationship Type="http://schemas.openxmlformats.org/officeDocument/2006/relationships/notesSlide" Target="/ppt/notesSlides/notesSlide14.xml" Id="R21e1762eb18341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d02048f5f41a4" /><Relationship Type="http://schemas.openxmlformats.org/officeDocument/2006/relationships/chart" Target="/ppt/slides/charts/chart3.xml" Id="R5c9af675eb254e4e" /><Relationship Type="http://schemas.openxmlformats.org/officeDocument/2006/relationships/notesSlide" Target="/ppt/notesSlides/notesSlide15.xml" Id="Reec8eba567734f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bab944ca14d91" /><Relationship Type="http://schemas.openxmlformats.org/officeDocument/2006/relationships/chart" Target="/ppt/slides/charts/chart4.xml" Id="R811866e572a84c4d" /><Relationship Type="http://schemas.openxmlformats.org/officeDocument/2006/relationships/notesSlide" Target="/ppt/notesSlides/notesSlide16.xml" Id="R34723aee5c1e42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689cbedde4c10" /><Relationship Type="http://schemas.openxmlformats.org/officeDocument/2006/relationships/notesSlide" Target="/ppt/notesSlides/notesSlide17.xml" Id="Rf4578b0c53534b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dfbde389f464d" /><Relationship Type="http://schemas.openxmlformats.org/officeDocument/2006/relationships/notesSlide" Target="/ppt/notesSlides/notesSlide18.xml" Id="R0710b2a644ed4c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297f3f75e4775" /><Relationship Type="http://schemas.openxmlformats.org/officeDocument/2006/relationships/image" Target="/ppt/media/image2.png" Id="R8508ae744c4e4671" /><Relationship Type="http://schemas.openxmlformats.org/officeDocument/2006/relationships/image" Target="/ppt/media/image3.png" Id="R16743b90bd454847" /><Relationship Type="http://schemas.openxmlformats.org/officeDocument/2006/relationships/notesSlide" Target="/ppt/notesSlides/notesSlide19.xml" Id="R7e857b4af40d42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9a0dd762b4007" /><Relationship Type="http://schemas.openxmlformats.org/officeDocument/2006/relationships/image" Target="/ppt/media/image4.png" Id="Rf03148f9fde44d9f" /><Relationship Type="http://schemas.openxmlformats.org/officeDocument/2006/relationships/notesSlide" Target="/ppt/notesSlides/notesSlide20.xml" Id="R801e2156cf5640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c3f956d7b4b89" /><Relationship Type="http://schemas.openxmlformats.org/officeDocument/2006/relationships/image" Target="/ppt/media/image5.png" Id="R4dab94049e9f469d" /><Relationship Type="http://schemas.openxmlformats.org/officeDocument/2006/relationships/notesSlide" Target="/ppt/notesSlides/notesSlide21.xml" Id="R5b6877a3bce245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e4674ebf749e3" /><Relationship Type="http://schemas.openxmlformats.org/officeDocument/2006/relationships/notesSlide" Target="/ppt/notesSlides/notesSlide22.xml" Id="R4c46c33144704d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0542758404b13" /><Relationship Type="http://schemas.openxmlformats.org/officeDocument/2006/relationships/notesSlide" Target="/ppt/notesSlides/notesSlide23.xml" Id="Rfbd5c2661805433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/mnt/e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60.1</c:v>
              </c:pt>
              <c:pt idx="1">
                <c:v>109.25</c:v>
              </c:pt>
            </c:numLit>
          </c:val>
        </c:ser>
        <c:ser>
          <c:idx val="1"/>
          <c:order val="1"/>
          <c:tx>
            <c:v>WSL ext4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16.63</c:v>
              </c:pt>
              <c:pt idx="1">
                <c:v>18.62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有效标注数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</c:numLit>
          </c:cat>
          <c:val>
            <c:numLit>
              <c:formatCode>General</c:formatCode>
              <c:ptCount val="14"/>
              <c:pt idx="0">
                <c:v>57868</c:v>
              </c:pt>
              <c:pt idx="1">
                <c:v>58232</c:v>
              </c:pt>
              <c:pt idx="2">
                <c:v>55739</c:v>
              </c:pt>
              <c:pt idx="3">
                <c:v>56330</c:v>
              </c:pt>
              <c:pt idx="4">
                <c:v>57745</c:v>
              </c:pt>
              <c:pt idx="5">
                <c:v>57856</c:v>
              </c:pt>
              <c:pt idx="6">
                <c:v>54945</c:v>
              </c:pt>
              <c:pt idx="7">
                <c:v>55196</c:v>
              </c:pt>
              <c:pt idx="8">
                <c:v>2862</c:v>
              </c:pt>
              <c:pt idx="9">
                <c:v>57236</c:v>
              </c:pt>
              <c:pt idx="10">
                <c:v>57505</c:v>
              </c:pt>
              <c:pt idx="11">
                <c:v>55875</c:v>
              </c:pt>
              <c:pt idx="12">
                <c:v>56224</c:v>
              </c:pt>
              <c:pt idx="13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640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512 distilled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92.04</c:v>
              </c:pt>
              <c:pt idx="1">
                <c:v>95.05</c:v>
              </c:pt>
              <c:pt idx="2">
                <c:v>101.39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FP32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Fused FP16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80.12</c:v>
              </c:pt>
              <c:pt idx="1">
                <c:v>124.8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部门工程实践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用 Codex 构建
YOLOPose 训练系统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从需求、远程 GPU、训练恢复，到指标、可视门禁与 3.61× 系统优化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CarFusion · YOLOv10n · RTX 3090 Ti · 2026.07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任务不是“写一个 Head”，而是交付可审计闭环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一份使用顺序 + 9 个阶段提示词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约束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不破坏检测语义；不伪造数据与指标；每一步留下证据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交付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代码 + 测试 + 训练 + 评估 + benchmark + 文档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912d0b6bd47df"/>
          <a:srcRect xmlns:a="http://schemas.openxmlformats.org/drawingml/2006/main" l="9857" t="0" r="9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把自然语言目标变成九阶段门禁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cxnSp>
        <p:nvCxnSpPr>
          <p:cNvPr id="51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01–03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04–06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07–08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审计与设计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固定上游
读取调用链
定义风险与验收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实现与训练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 实现
数据转换 / 质检
smoke → overfit → baseline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评估与优化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指标 + 可视门禁
benchmark
独立性能验证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可复现交付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先审计真实调用链，关键点监督才不会错位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YOLOv10 的关键风险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训练同时存在 one-to-many 与 one-to-one 分支。关键点必须继承各自 bbox assigner 的 target_gt_idx，不能按预测框顺序猜 GT。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target_gt_idx
  → matched GT keypoints
  → pose / visibility loss</a:t>
            </a:r>
          </a:p>
        </p:txBody>
      </p:sp>
      <p:cxnSp>
        <p:nvCxnSpPr>
          <p:cNvPr id="89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90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Backbone / Neck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P3 · P4 · P5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v10Pose Head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 × 3 · pure conv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
Loss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训练保留 Detect；推理只取 one-to-one / NMS-free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60D47D4-F4EF-4B91-BFEE-FD37A2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D3B52A8-4397-4278-B1E5-354A16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测试把“应该正确”变成可重复证据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1F707C0-880E-44A8-888C-EF63B14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4" name="s5-intro">
            <a:extLst xmlns:a="http://schemas.openxmlformats.org/drawingml/2006/main">
              <a:ext uri="{FF2B5EF4-FFF2-40B4-BE49-F238E27FC236}">
                <a16:creationId xmlns:a16="http://schemas.microsoft.com/office/drawing/2014/main" id="{54F71FBE-0422-4C32-A424-DE63B9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先定义可检查的不变量，再写最小实现。最终全量 pytest 退出码为 0；Vehicle Pose 聚焦回归 9/9 通过。</a:t>
            </a:r>
          </a:p>
        </p:txBody>
      </p:sp>
      <p:sp>
        <p:nvSpPr>
          <p:cNvPr id="5" name="s5-c1">
            <a:extLst xmlns:a="http://schemas.openxmlformats.org/drawingml/2006/main">
              <a:ext uri="{FF2B5EF4-FFF2-40B4-BE49-F238E27FC236}">
                <a16:creationId xmlns:a16="http://schemas.microsoft.com/office/drawing/2014/main" id="{7A0F2B23-8452-439E-9095-6BD851A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assigner GT 索引贯穿 bbox 与 keypoint</a:t>
            </a:r>
          </a:p>
        </p:txBody>
      </p:sp>
      <p:sp>
        <p:nvSpPr>
          <p:cNvPr id="6" name="s5-c2">
            <a:extLst xmlns:a="http://schemas.openxmlformats.org/drawingml/2006/main">
              <a:ext uri="{FF2B5EF4-FFF2-40B4-BE49-F238E27FC236}">
                <a16:creationId xmlns:a16="http://schemas.microsoft.com/office/drawing/2014/main" id="{8EA601F5-57F8-4B89-88E8-81FDA9E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one-to-many / one-to-one 均可反传</a:t>
            </a:r>
          </a:p>
        </p:txBody>
      </p:sp>
      <p:sp>
        <p:nvSpPr>
          <p:cNvPr id="7" name="s5-c3">
            <a:extLst xmlns:a="http://schemas.openxmlformats.org/drawingml/2006/main">
              <a:ext uri="{FF2B5EF4-FFF2-40B4-BE49-F238E27FC236}">
                <a16:creationId xmlns:a16="http://schemas.microsoft.com/office/drawing/2014/main" id="{6B97BC7A-6E69-4F6E-909E-49614C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空目标、checkpoint、官方 Detect 回归</a:t>
            </a:r>
          </a:p>
        </p:txBody>
      </p:sp>
      <p:sp>
        <p:nvSpPr>
          <p:cNvPr id="8" name="s5-c4">
            <a:extLst xmlns:a="http://schemas.openxmlformats.org/drawingml/2006/main">
              <a:ext uri="{FF2B5EF4-FFF2-40B4-BE49-F238E27FC236}">
                <a16:creationId xmlns:a16="http://schemas.microsoft.com/office/drawing/2014/main" id="{DE5A224D-CDBF-4141-B6D3-74A0A71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one2one_only 与原输出最大误差 0</a:t>
            </a:r>
          </a:p>
        </p:txBody>
      </p:sp>
      <p:sp>
        <p:nvSpPr>
          <p:cNvPr id="9" name="s5-c5">
            <a:extLst xmlns:a="http://schemas.openxmlformats.org/drawingml/2006/main">
              <a:ext uri="{FF2B5EF4-FFF2-40B4-BE49-F238E27FC236}">
                <a16:creationId xmlns:a16="http://schemas.microsoft.com/office/drawing/2014/main" id="{A2243EEA-281A-4F06-95FE-42AEB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Predictor xywh → xyxy 回归测试</a:t>
            </a:r>
          </a:p>
        </p:txBody>
      </p:sp>
      <p:sp>
        <p:nvSpPr>
          <p:cNvPr id="10" name="s5-stat">
            <a:extLst xmlns:a="http://schemas.openxmlformats.org/drawingml/2006/main">
              <a:ext uri="{FF2B5EF4-FFF2-40B4-BE49-F238E27FC236}">
                <a16:creationId xmlns:a16="http://schemas.microsoft.com/office/drawing/2014/main" id="{B1938139-C968-4F69-9F9C-6FF783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24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-value">
            <a:extLst xmlns:a="http://schemas.openxmlformats.org/drawingml/2006/main">
              <a:ext uri="{FF2B5EF4-FFF2-40B4-BE49-F238E27FC236}">
                <a16:creationId xmlns:a16="http://schemas.microsoft.com/office/drawing/2014/main" id="{E9A7314E-D399-4C5A-BAF1-2CED6E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9 / 9</a:t>
            </a:r>
          </a:p>
        </p:txBody>
      </p:sp>
      <p:sp>
        <p:nvSpPr>
          <p:cNvPr id="12" name="s5-stat-label">
            <a:extLst xmlns:a="http://schemas.openxmlformats.org/drawingml/2006/main">
              <a:ext uri="{FF2B5EF4-FFF2-40B4-BE49-F238E27FC236}">
                <a16:creationId xmlns:a16="http://schemas.microsoft.com/office/drawing/2014/main" id="{03D16B6E-9B60-4CF7-A85F-332B32F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Vehicle Pose 回归
1.18 秒完成</a:t>
            </a:r>
          </a:p>
        </p:txBody>
      </p:sp>
    </p:spTree>
    <p:extLst>
      <p:ext uri="{BB962C8B-B14F-4D97-AF65-F5344CB8AC3E}">
        <p14:creationId xmlns:p14="http://schemas.microsoft.com/office/powerpoint/2010/main" val="1115336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远程长任务靠断点、哈希和门禁推进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32 GiB 归档
先 SHA-256，再解压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磁盘不足后改到 Windows E 盘；不把半截归档当成可用数据。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epoch 176
WSL 重启中断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核对进程、挂载、last.pt 和 results.csv；只续跑原任务，不启动重复 baseline。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175 epoch
训练成果保住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最后 25 epoch 用时 1.230 h；checkpoint 让故障成为可恢复事件。</a:t>
            </a:r>
          </a:p>
        </p:txBody>
      </p:sp>
      <p:cxnSp>
        <p:nvCxnSpPr>
          <p:cNvPr id="147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200 epochs 后，检测与姿态形成可复现基线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0.665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mAP50-95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0.515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0.6686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验证集
3,606 图
11,569 实例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8e63de3c74b40"/>
          <a:stretch xmlns:a="http://schemas.openxmlformats.org/drawingml/2006/main"/>
        </p:blipFill>
        <p:spPr>
          <a:xfrm xmlns:a="http://schemas.openxmlformats.org/drawingml/2006/main">
            <a:off x="1562100" y="3276600"/>
            <a:ext cx="9067800" cy="25908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可视化发现了指标没有暴露的 Predictor 缺陷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修复前：关键点大体合理，但宽图上的框被当成 xyxy 直接缩放，出现巨框。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修复后：先 xywh→xyxy，再 scale_boxes；框与关键点回到车辆轮廓。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Validator 指标没变：缺陷只在 raw Predictor 路径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c5ce1cedd4b55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df0d20e0c4c76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9">
            <a:extLst xmlns:a="http://schemas.openxmlformats.org/drawingml/2006/main">
              <a:ext uri="{FF2B5EF4-FFF2-40B4-BE49-F238E27FC236}">
                <a16:creationId xmlns:a16="http://schemas.microsoft.com/office/drawing/2014/main" id="{3166546A-C683-4E9C-9035-5F18077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4597864-B09C-49DC-9CC2-C375B9D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图视觉门禁通过后，才继续做性能结论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24F515B-E284-4D15-86B8-CBD6A60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4" name="s9-l1">
            <a:extLst xmlns:a="http://schemas.openxmlformats.org/drawingml/2006/main">
              <a:ext uri="{FF2B5EF4-FFF2-40B4-BE49-F238E27FC236}">
                <a16:creationId xmlns:a16="http://schemas.microsoft.com/office/drawing/2014/main" id="{541126AF-1BF3-47D4-801A-BB911A1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固定样本覆盖</a:t>
            </a:r>
          </a:p>
        </p:txBody>
      </p:sp>
      <p:sp>
        <p:nvSpPr>
          <p:cNvPr id="5" name="s9-b1">
            <a:extLst xmlns:a="http://schemas.openxmlformats.org/drawingml/2006/main">
              <a:ext uri="{FF2B5EF4-FFF2-40B4-BE49-F238E27FC236}">
                <a16:creationId xmlns:a16="http://schemas.microsoft.com/office/drawing/2014/main" id="{29F2B400-0CCC-46F1-AE36-505912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宽图 · 边缘截断
遮挡 · 多车 · 尺度变化</a:t>
            </a:r>
          </a:p>
        </p:txBody>
      </p:sp>
      <p:sp>
        <p:nvSpPr>
          <p:cNvPr id="6" name="s9-l2">
            <a:extLst xmlns:a="http://schemas.openxmlformats.org/drawingml/2006/main">
              <a:ext uri="{FF2B5EF4-FFF2-40B4-BE49-F238E27FC236}">
                <a16:creationId xmlns:a16="http://schemas.microsoft.com/office/drawing/2014/main" id="{4E548546-1706-4F6A-91A7-6AB4030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检查结论</a:t>
            </a:r>
          </a:p>
        </p:txBody>
      </p:sp>
      <p:sp>
        <p:nvSpPr>
          <p:cNvPr id="7" name="s9-b2">
            <a:extLst xmlns:a="http://schemas.openxmlformats.org/drawingml/2006/main">
              <a:ext uri="{FF2B5EF4-FFF2-40B4-BE49-F238E27FC236}">
                <a16:creationId xmlns:a16="http://schemas.microsoft.com/office/drawing/2014/main" id="{1AB8BF36-5419-43C1-898F-D22E922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框与车辆轮廓一致
关键点落在车身/车轮区域
异常与遮挡指标方向一致</a:t>
            </a:r>
          </a:p>
        </p:txBody>
      </p:sp>
      <p:sp>
        <p:nvSpPr>
          <p:cNvPr id="8" name="s9-frame">
            <a:extLst xmlns:a="http://schemas.openxmlformats.org/drawingml/2006/main">
              <a:ext uri="{FF2B5EF4-FFF2-40B4-BE49-F238E27FC236}">
                <a16:creationId xmlns:a16="http://schemas.microsoft.com/office/drawing/2014/main" id="{8FF9EA05-0F68-4D37-AB4E-2346B31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6553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6eeb30357441c"/>
          <a:srcRect xmlns:a="http://schemas.openxmlformats.org/drawingml/2006/main" l="5054" t="0" r="5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14500"/>
            <a:ext cx="63627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</p:spTree>
    <p:extLst>
      <p:ext uri="{BB962C8B-B14F-4D97-AF65-F5344CB8AC3E}">
        <p14:creationId xmlns:p14="http://schemas.microsoft.com/office/powerpoint/2010/main" val="1505256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最大的端到端耗时不在模型，而在 /mnt/e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checkpoint · 同一 100 JPEG · 3 × 1000 次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−72.3%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3.61×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图片字节 SHA-256 一致，模型与精度未改变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ac33bcf3e94485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91C78C6B-7B7C-4A3D-8F0D-62A1C1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AACA50-9136-43F0-B1A9-C8AF43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零精度损失方案被固化成独立、可审计入口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3E7B8DA-F775-451E-9059-4A39199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4" name="s11-code-bg">
            <a:extLst xmlns:a="http://schemas.openxmlformats.org/drawingml/2006/main">
              <a:ext uri="{FF2B5EF4-FFF2-40B4-BE49-F238E27FC236}">
                <a16:creationId xmlns:a16="http://schemas.microsoft.com/office/drawing/2014/main" id="{14E403BB-AAC9-4A5C-A54A-FB29731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code">
            <a:extLst xmlns:a="http://schemas.openxmlformats.org/drawingml/2006/main">
              <a:ext uri="{FF2B5EF4-FFF2-40B4-BE49-F238E27FC236}">
                <a16:creationId xmlns:a16="http://schemas.microsoft.com/office/drawing/2014/main" id="{807A7011-2EF0-494F-A010-09F4E23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scripts/stage_carfusion_to_wsl.sh \
  datasets/CarFusion/yolo_pose \
  /home/caius/datasets/CarFusion/yolo_pose \
  reports/optimization/runtime_configs/\
    CarFusion-pose-wsl.yaml</a:t>
            </a:r>
          </a:p>
        </p:txBody>
      </p:sp>
      <p:sp>
        <p:nvSpPr>
          <p:cNvPr id="6" name="s11-step1">
            <a:extLst xmlns:a="http://schemas.openxmlformats.org/drawingml/2006/main">
              <a:ext uri="{FF2B5EF4-FFF2-40B4-BE49-F238E27FC236}">
                <a16:creationId xmlns:a16="http://schemas.microsoft.com/office/drawing/2014/main" id="{99068428-F84A-430E-9BC9-49D5B5E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① 解引用复制</a:t>
            </a:r>
          </a:p>
        </p:txBody>
      </p:sp>
      <p:sp>
        <p:nvSpPr>
          <p:cNvPr id="7" name="s11-step1b">
            <a:extLst xmlns:a="http://schemas.openxmlformats.org/drawingml/2006/main">
              <a:ext uri="{FF2B5EF4-FFF2-40B4-BE49-F238E27FC236}">
                <a16:creationId xmlns:a16="http://schemas.microsoft.com/office/drawing/2014/main" id="{89B48647-B240-46E7-8482-2AF7387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图片从 Windows 挂载盘实体化到 ext4</a:t>
            </a:r>
          </a:p>
        </p:txBody>
      </p:sp>
      <p:sp>
        <p:nvSpPr>
          <p:cNvPr id="8" name="s11-step2">
            <a:extLst xmlns:a="http://schemas.openxmlformats.org/drawingml/2006/main">
              <a:ext uri="{FF2B5EF4-FFF2-40B4-BE49-F238E27FC236}">
                <a16:creationId xmlns:a16="http://schemas.microsoft.com/office/drawing/2014/main" id="{37523F9B-7E85-47B7-9B6B-D411024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② SHA-256 门禁</a:t>
            </a:r>
          </a:p>
        </p:txBody>
      </p:sp>
      <p:sp>
        <p:nvSpPr>
          <p:cNvPr id="9" name="s11-step2b">
            <a:extLst xmlns:a="http://schemas.openxmlformats.org/drawingml/2006/main">
              <a:ext uri="{FF2B5EF4-FFF2-40B4-BE49-F238E27FC236}">
                <a16:creationId xmlns:a16="http://schemas.microsoft.com/office/drawing/2014/main" id="{EFCD1E13-74C9-4867-9FDE-D10CE28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缺失、额外或哈希不一致即失败</a:t>
            </a:r>
          </a:p>
        </p:txBody>
      </p:sp>
      <p:sp>
        <p:nvSpPr>
          <p:cNvPr id="10" name="s11-step3">
            <a:extLst xmlns:a="http://schemas.openxmlformats.org/drawingml/2006/main">
              <a:ext uri="{FF2B5EF4-FFF2-40B4-BE49-F238E27FC236}">
                <a16:creationId xmlns:a16="http://schemas.microsoft.com/office/drawing/2014/main" id="{FFD365B2-515B-48CD-AAE9-C75094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③ 新 runtime YAML</a:t>
            </a:r>
          </a:p>
        </p:txBody>
      </p:sp>
      <p:sp>
        <p:nvSpPr>
          <p:cNvPr id="11" name="s11-step3b">
            <a:extLst xmlns:a="http://schemas.openxmlformats.org/drawingml/2006/main">
              <a:ext uri="{FF2B5EF4-FFF2-40B4-BE49-F238E27FC236}">
                <a16:creationId xmlns:a16="http://schemas.microsoft.com/office/drawing/2014/main" id="{74482F8A-7A1E-4C39-AE1D-65D8EDC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原数据、代码、checkpoint、baseline 输出均不改</a:t>
            </a:r>
          </a:p>
        </p:txBody>
      </p:sp>
      <p:sp>
        <p:nvSpPr>
          <p:cNvPr id="12" name="s11-source">
            <a:extLst xmlns:a="http://schemas.openxmlformats.org/drawingml/2006/main">
              <a:ext uri="{FF2B5EF4-FFF2-40B4-BE49-F238E27FC236}">
                <a16:creationId xmlns:a16="http://schemas.microsoft.com/office/drawing/2014/main" id="{CC5ABB68-947E-49C9-9724-D0BB56C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依据：Microsoft WSL 文件系统性能建议</a:t>
            </a:r>
          </a:p>
        </p:txBody>
      </p:sp>
    </p:spTree>
    <p:extLst>
      <p:ext uri="{BB962C8B-B14F-4D97-AF65-F5344CB8AC3E}">
        <p14:creationId xmlns:p14="http://schemas.microsoft.com/office/powerpoint/2010/main" val="1169142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AE4355D3-B0F9-496E-99C9-5896F48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938FAE-A6A8-4B6D-80AD-9939577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结果必须连同限制一起交付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4589774D-B9A2-4716-9C77-8D7BB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4" name="s12-chart-frame">
            <a:extLst xmlns:a="http://schemas.openxmlformats.org/drawingml/2006/main">
              <a:ext uri="{FF2B5EF4-FFF2-40B4-BE49-F238E27FC236}">
                <a16:creationId xmlns:a16="http://schemas.microsoft.com/office/drawing/2014/main" id="{240162AF-D1BC-435B-8A92-D9070B2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2-stat">
            <a:extLst xmlns:a="http://schemas.openxmlformats.org/drawingml/2006/main">
              <a:ext uri="{FF2B5EF4-FFF2-40B4-BE49-F238E27FC236}">
                <a16:creationId xmlns:a16="http://schemas.microsoft.com/office/drawing/2014/main" id="{D92F41B2-62A9-4837-91F3-CD1816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索引 13</a:t>
            </a:r>
          </a:p>
        </p:txBody>
      </p:sp>
      <p:sp>
        <p:nvSpPr>
          <p:cNvPr id="6" name="s12-stat2">
            <a:extLst xmlns:a="http://schemas.openxmlformats.org/drawingml/2006/main">
              <a:ext uri="{FF2B5EF4-FFF2-40B4-BE49-F238E27FC236}">
                <a16:creationId xmlns:a16="http://schemas.microsoft.com/office/drawing/2014/main" id="{B7887A0A-E683-483F-9A94-126C90D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有效标注 = 0</a:t>
            </a:r>
          </a:p>
        </p:txBody>
      </p:sp>
      <p:sp>
        <p:nvSpPr>
          <p:cNvPr id="7" name="s12-body">
            <a:extLst xmlns:a="http://schemas.openxmlformats.org/drawingml/2006/main">
              <a:ext uri="{FF2B5EF4-FFF2-40B4-BE49-F238E27FC236}">
                <a16:creationId xmlns:a16="http://schemas.microsoft.com/office/drawing/2014/main" id="{B2FBEB54-91FB-4199-9D54-77202B1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模型接口仍为 14×3；当前数据只支持 13 个点的监督与精度声明。</a:t>
            </a:r>
          </a:p>
        </p:txBody>
      </p:sp>
      <p:sp>
        <p:nvSpPr>
          <p:cNvPr id="8" name="s12-foot">
            <a:extLst xmlns:a="http://schemas.openxmlformats.org/drawingml/2006/main">
              <a:ext uri="{FF2B5EF4-FFF2-40B4-BE49-F238E27FC236}">
                <a16:creationId xmlns:a16="http://schemas.microsoft.com/office/drawing/2014/main" id="{D4E7EC34-6BAF-4554-A4F9-6E0C9CC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flip_idx 继续为空，左右语义确认前禁用水平翻转。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f397ac66264059"/>
          </a:graphicData>
        </a:graphic>
      </p:graphicFrame>
    </p:spTree>
    <p:extLst>
      <p:ext uri="{BB962C8B-B14F-4D97-AF65-F5344CB8AC3E}">
        <p14:creationId xmlns:p14="http://schemas.microsoft.com/office/powerpoint/2010/main" val="204919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42B2824D-47F3-48FD-B317-BC2A03A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5D1FB2-50BF-478F-BF30-66F3704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可复用的 Codex 模式：目标、约束、证据、恢复、复盘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0DD3CD8-FD10-4FB1-88EB-9C7B640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cxnSp>
        <p:nvCxnSpPr>
          <p:cNvPr id="57" name="s13-axis"/>
          <p:cNvCxnSpPr/>
          <p:nvPr/>
        </p:nvCxnSpPr>
        <p:spPr>
          <a:xfrm xmlns:a="http://schemas.openxmlformats.org/drawingml/2006/main">
            <a:off x="952500" y="3524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s13-dot-1">
            <a:extLst xmlns:a="http://schemas.openxmlformats.org/drawingml/2006/main">
              <a:ext uri="{FF2B5EF4-FFF2-40B4-BE49-F238E27FC236}">
                <a16:creationId xmlns:a16="http://schemas.microsoft.com/office/drawing/2014/main" id="{17140976-CF37-4ECF-925F-74246B3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-num-1">
            <a:extLst xmlns:a="http://schemas.openxmlformats.org/drawingml/2006/main">
              <a:ext uri="{FF2B5EF4-FFF2-40B4-BE49-F238E27FC236}">
                <a16:creationId xmlns:a16="http://schemas.microsoft.com/office/drawing/2014/main" id="{470001FA-DD20-4C47-83C2-3E5A20F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7" name="s13-title-1">
            <a:extLst xmlns:a="http://schemas.openxmlformats.org/drawingml/2006/main">
              <a:ext uri="{FF2B5EF4-FFF2-40B4-BE49-F238E27FC236}">
                <a16:creationId xmlns:a16="http://schemas.microsoft.com/office/drawing/2014/main" id="{D61EFD9A-0AF5-45F6-A51B-8C26EE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</p:txBody>
      </p:sp>
      <p:sp>
        <p:nvSpPr>
          <p:cNvPr id="8" name="s13-body-1">
            <a:extLst xmlns:a="http://schemas.openxmlformats.org/drawingml/2006/main">
              <a:ext uri="{FF2B5EF4-FFF2-40B4-BE49-F238E27FC236}">
                <a16:creationId xmlns:a16="http://schemas.microsoft.com/office/drawing/2014/main" id="{FADE9A16-BCAB-4196-A83E-CE23076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目标 + 不可破坏项</a:t>
            </a:r>
          </a:p>
        </p:txBody>
      </p:sp>
      <p:sp>
        <p:nvSpPr>
          <p:cNvPr id="9" name="s13-dot-2">
            <a:extLst xmlns:a="http://schemas.openxmlformats.org/drawingml/2006/main">
              <a:ext uri="{FF2B5EF4-FFF2-40B4-BE49-F238E27FC236}">
                <a16:creationId xmlns:a16="http://schemas.microsoft.com/office/drawing/2014/main" id="{15F9754A-4BA3-4558-AF3E-A84468B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num-2">
            <a:extLst xmlns:a="http://schemas.openxmlformats.org/drawingml/2006/main">
              <a:ext uri="{FF2B5EF4-FFF2-40B4-BE49-F238E27FC236}">
                <a16:creationId xmlns:a16="http://schemas.microsoft.com/office/drawing/2014/main" id="{99C38A51-9608-48B6-8C78-FE31D40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1" name="s13-title-2">
            <a:extLst xmlns:a="http://schemas.openxmlformats.org/drawingml/2006/main">
              <a:ext uri="{FF2B5EF4-FFF2-40B4-BE49-F238E27FC236}">
                <a16:creationId xmlns:a16="http://schemas.microsoft.com/office/drawing/2014/main" id="{7A05E8A9-E0B0-4083-BAE3-A4F4856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先读后改</a:t>
            </a:r>
          </a:p>
        </p:txBody>
      </p:sp>
      <p:sp>
        <p:nvSpPr>
          <p:cNvPr id="12" name="s13-body-2">
            <a:extLst xmlns:a="http://schemas.openxmlformats.org/drawingml/2006/main">
              <a:ext uri="{FF2B5EF4-FFF2-40B4-BE49-F238E27FC236}">
                <a16:creationId xmlns:a16="http://schemas.microsoft.com/office/drawing/2014/main" id="{632DFDB3-E17A-4519-88E4-EC35D94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仓库 / 环境 / 数据</a:t>
            </a:r>
          </a:p>
        </p:txBody>
      </p:sp>
      <p:sp>
        <p:nvSpPr>
          <p:cNvPr id="13" name="s13-dot-3">
            <a:extLst xmlns:a="http://schemas.openxmlformats.org/drawingml/2006/main">
              <a:ext uri="{FF2B5EF4-FFF2-40B4-BE49-F238E27FC236}">
                <a16:creationId xmlns:a16="http://schemas.microsoft.com/office/drawing/2014/main" id="{38AB1F08-F94E-4F80-9DDE-3ADCE7B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num-3">
            <a:extLst xmlns:a="http://schemas.openxmlformats.org/drawingml/2006/main">
              <a:ext uri="{FF2B5EF4-FFF2-40B4-BE49-F238E27FC236}">
                <a16:creationId xmlns:a16="http://schemas.microsoft.com/office/drawing/2014/main" id="{F26B20F6-8D52-4730-93B9-4C2802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F5172F2B-6C7B-43BF-916B-813188E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测试先行</a:t>
            </a:r>
          </a:p>
        </p:txBody>
      </p:sp>
      <p:sp>
        <p:nvSpPr>
          <p:cNvPr id="16" name="s13-body-3">
            <a:extLst xmlns:a="http://schemas.openxmlformats.org/drawingml/2006/main">
              <a:ext uri="{FF2B5EF4-FFF2-40B4-BE49-F238E27FC236}">
                <a16:creationId xmlns:a16="http://schemas.microsoft.com/office/drawing/2014/main" id="{31655B1D-3CE9-47DB-B8B1-EA0A7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把假设变成回归</a:t>
            </a:r>
          </a:p>
        </p:txBody>
      </p:sp>
      <p:sp>
        <p:nvSpPr>
          <p:cNvPr id="17" name="s13-dot-4">
            <a:extLst xmlns:a="http://schemas.openxmlformats.org/drawingml/2006/main">
              <a:ext uri="{FF2B5EF4-FFF2-40B4-BE49-F238E27FC236}">
                <a16:creationId xmlns:a16="http://schemas.microsoft.com/office/drawing/2014/main" id="{6BF2DDD1-4B52-429D-A84E-553A834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3-num-4">
            <a:extLst xmlns:a="http://schemas.openxmlformats.org/drawingml/2006/main">
              <a:ext uri="{FF2B5EF4-FFF2-40B4-BE49-F238E27FC236}">
                <a16:creationId xmlns:a16="http://schemas.microsoft.com/office/drawing/2014/main" id="{A5B70BEF-15EB-42D0-BB6F-24CEDF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9" name="s13-title-4">
            <a:extLst xmlns:a="http://schemas.openxmlformats.org/drawingml/2006/main">
              <a:ext uri="{FF2B5EF4-FFF2-40B4-BE49-F238E27FC236}">
                <a16:creationId xmlns:a16="http://schemas.microsoft.com/office/drawing/2014/main" id="{AF8F0F05-54F7-4A44-82C4-EDDC68A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门禁推进</a:t>
            </a:r>
          </a:p>
        </p:txBody>
      </p:sp>
      <p:sp>
        <p:nvSpPr>
          <p:cNvPr id="20" name="s13-body-4">
            <a:extLst xmlns:a="http://schemas.openxmlformats.org/drawingml/2006/main">
              <a:ext uri="{FF2B5EF4-FFF2-40B4-BE49-F238E27FC236}">
                <a16:creationId xmlns:a16="http://schemas.microsoft.com/office/drawing/2014/main" id="{116CA031-BC2C-41BD-9BE2-6FCD38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哈希 / 指标 / 可视化</a:t>
            </a:r>
          </a:p>
        </p:txBody>
      </p:sp>
      <p:sp>
        <p:nvSpPr>
          <p:cNvPr id="21" name="s13-dot-5">
            <a:extLst xmlns:a="http://schemas.openxmlformats.org/drawingml/2006/main">
              <a:ext uri="{FF2B5EF4-FFF2-40B4-BE49-F238E27FC236}">
                <a16:creationId xmlns:a16="http://schemas.microsoft.com/office/drawing/2014/main" id="{D10DC175-014F-4DC4-BE87-8F0AA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3-num-5">
            <a:extLst xmlns:a="http://schemas.openxmlformats.org/drawingml/2006/main">
              <a:ext uri="{FF2B5EF4-FFF2-40B4-BE49-F238E27FC236}">
                <a16:creationId xmlns:a16="http://schemas.microsoft.com/office/drawing/2014/main" id="{D7C2FE1B-A7E2-4ABE-9FC0-70101CB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3" name="s13-title-5">
            <a:extLst xmlns:a="http://schemas.openxmlformats.org/drawingml/2006/main">
              <a:ext uri="{FF2B5EF4-FFF2-40B4-BE49-F238E27FC236}">
                <a16:creationId xmlns:a16="http://schemas.microsoft.com/office/drawing/2014/main" id="{90F191AD-535C-46B2-8FB1-6EDDCFA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证据交付</a:t>
            </a:r>
          </a:p>
        </p:txBody>
      </p:sp>
      <p:sp>
        <p:nvSpPr>
          <p:cNvPr id="24" name="s13-body-5">
            <a:extLst xmlns:a="http://schemas.openxmlformats.org/drawingml/2006/main">
              <a:ext uri="{FF2B5EF4-FFF2-40B4-BE49-F238E27FC236}">
                <a16:creationId xmlns:a16="http://schemas.microsoft.com/office/drawing/2014/main" id="{2DF5A05B-39CA-44F4-B17E-1C4490F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报告 / 命令 / 限制</a:t>
            </a:r>
          </a:p>
        </p:txBody>
      </p:sp>
      <p:sp>
        <p:nvSpPr>
          <p:cNvPr id="25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DEEC5D3F-2D12-4BC9-B1FB-C8787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的价值不是替你敲更多代码，而是持续维护一个可验证的工程状态。</a:t>
            </a:r>
          </a:p>
        </p:txBody>
      </p:sp>
    </p:spTree>
    <p:extLst>
      <p:ext uri="{BB962C8B-B14F-4D97-AF65-F5344CB8AC3E}">
        <p14:creationId xmlns:p14="http://schemas.microsoft.com/office/powerpoint/2010/main" val="635421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心跳不是“盯日志”，而是维护唯一真实任务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观测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 30 分钟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读取真实状态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进程、GPU、最新日志、epoch、结果文件；只在状态变化时汇报。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处置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原任务续跑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只修项目内可回滚问题；核对 PID 与 checkpoint，禁止启动重复训练。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退出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门禁全过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自动停止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评估、可视化、benchmark、报告与分享材料齐备后，心跳即失效。</a:t>
            </a:r>
          </a:p>
        </p:txBody>
      </p:sp>
      <p:cxnSp>
        <p:nvCxnSpPr>
          <p:cNvPr id="147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同架构蒸馏未测得加速：延迟门禁触发止损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baseline vs 512 distilled · 3 epochs · 同卡同进程 AB/BA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+1.39%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延迟中心值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−0.041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同架构只降输入尺寸：中心值未加速，且精度下降；停止追加 epoch。kernel launch 是待 profiler 验证的解释。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9af675eb254e4e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有效方案：不缩网络，缩短部署执行路径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· one-to-one-only · Conv/BN fuse · FP16 · 4 × 1000 次严格 AB/BA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−19.88%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1.248×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完整 3,606 图验证：Pose mAP50-95 0.514；PCK@0.05 0.6676，仅比 FP32 低 0.0010。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1866e572a84c4d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提升精度也要闭环：先修证据，再增加模型复杂度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cxnSp>
        <p:nvCxnSpPr>
          <p:cNvPr id="51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DATA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SLICE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TRAIN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GATE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标注与可见性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先核查索引 13 全零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以及遮挡点 visibility 语义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误差切片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按尺度 / 遮挡 / 截断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统计 NME 与 PCK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低风险增益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visibility-aware loss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难例采样 + 合法增强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全量回归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给 Codex 的不是长作文，而是可执行工程契约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与不可破坏项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例：保持 Detect 语义；训练、验证、可视化、测速和文档全部可复现。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证据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每次读取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真实运行状态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PID / GPU / log / epoch / checkpoint / 指标文件；状态不变就不制造“进度”。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边界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满足停止规则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不动训练数据、不覆盖 baseline、不重复任务；优化必须同时通过精度与延迟门禁。</a:t>
            </a:r>
          </a:p>
        </p:txBody>
      </p:sp>
      <p:cxnSp>
        <p:nvCxnSpPr>
          <p:cNvPr id="147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结构化剪枝只收缩隐藏通道，检测与姿态输出保持不变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19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Baseline｜全宽 Backbone / Neck + 双分支 Pose Head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Pruned Student｜DepGraph 同步收缩耦合通道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非 mask 稀疏：Conv out → BN → Conv in 成组删除；18 个输出 Conv 固定为 64 / 1 / 42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8ae744c4e467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95300" y="2419350"/>
            <a:ext cx="5238750" cy="3162300"/>
          </a:xfrm>
          <a:prstGeom xmlns:a="http://schemas.openxmlformats.org/drawingml/2006/main" prst="round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43b90bd4548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57950" y="2419350"/>
            <a:ext cx="5238750" cy="31623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参数与模型大小先给实测：结构变小，但精度与延迟门禁均失败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20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4.006M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Baseline 参数｜200 epoch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3.351M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Pruned + KD｜−16.36%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5.682ms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3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FP16 latency｜仅 −0.34%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Checkpoint  8.42 → 7.06 MB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−16.20%｜Pose  0.5146 → 0.4153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148f9fde44d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562100" y="3276600"/>
            <a:ext cx="9067800" cy="25908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恢复蒸馏对齐双分支 raw outputs，不绑定隐藏通道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21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教师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baseline · eval / frozen
不进入 optimizer / EMA / checkpoint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学生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640 pruned model · trainable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epoch · batch 64 · 保留真实 GT 监督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部署目标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9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L = Lsup + 0.25·LKD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部署只保留 Student；仍须通过 latency gate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b94049e9f469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619750" y="1666875"/>
            <a:ext cx="6172200" cy="43243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精度修复保护 Head，但训练前延迟门禁证明当前剪枝路径应停止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22</a:t>
            </a:r>
          </a:p>
        </p:txBody>
      </p:sp>
      <p:cxnSp>
        <p:nvCxnSpPr>
          <p:cNvPr id="51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EVIDENCE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REPAIR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PRE-GATE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STOP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定位敏感容量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36 / 53 根在 Head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Head 参数占比 53.9%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100e 早期达峰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分层剪枝修复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Backbone / Neck 20%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Head 0% 完全保护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round-to-16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结构收益不足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参数 −4.71%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GFLOPs 13.5 → 12.9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FP16 5.701 → 5.923 ms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 +3.89%（更慢）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57959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15 / 15 TEST PASS</a:t>
            </a:r>
          </a:p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FORMAL TRAIN: STOPPED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工程结论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是维护可验证状态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训练可恢复 · 指标与可视化互证 · 优化以实测决策 · 失败实验也形成可复用证据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最终选择：640 + one-to-one-only + Conv/BN fuse + FP16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2026-07-23T19:36:00.5640000Z</dcterms:created>
  <dcterms:modified xsi:type="dcterms:W3CDTF">2026-07-23T19:36:00.5640000Z</dcterms:modified>
</coreProperties>
</file>