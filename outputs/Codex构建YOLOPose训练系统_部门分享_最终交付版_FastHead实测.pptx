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4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5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6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1e21a5c4ef42bc" /><Relationship Type="http://schemas.openxmlformats.org/officeDocument/2006/relationships/extended-properties" Target="/docProps/app.xml" Id="Ra2ce7a6921ce409e" /><Relationship Type="http://schemas.openxmlformats.org/officeDocument/2006/relationships/officeDocument" Target="/ppt/presentation.xml" Id="Rf8fbce8c53cc4f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80e359295f42bb"/>
  </p:sldMasterIdLst>
  <p:notesMasterIdLst>
    <p:notesMasterId xmlns:r="http://schemas.openxmlformats.org/officeDocument/2006/relationships" r:id="R59a3dc59c3514bf9"/>
  </p:notesMasterIdLst>
  <p:sldIdLst>
    <p:sldId xmlns:r="http://schemas.openxmlformats.org/officeDocument/2006/relationships" id="256" r:id="Rbc059c51255a4305"/>
    <p:sldId xmlns:r="http://schemas.openxmlformats.org/officeDocument/2006/relationships" id="257" r:id="R5db159b04f2448a9"/>
    <p:sldId xmlns:r="http://schemas.openxmlformats.org/officeDocument/2006/relationships" id="258" r:id="R494a94b099b1401e"/>
    <p:sldId xmlns:r="http://schemas.openxmlformats.org/officeDocument/2006/relationships" id="259" r:id="R9cd06d4638274884"/>
    <p:sldId xmlns:r="http://schemas.openxmlformats.org/officeDocument/2006/relationships" id="260" r:id="R2e2c6a19982745dd"/>
    <p:sldId xmlns:r="http://schemas.openxmlformats.org/officeDocument/2006/relationships" id="261" r:id="R4e92aa0ef7604e42"/>
    <p:sldId xmlns:r="http://schemas.openxmlformats.org/officeDocument/2006/relationships" id="262" r:id="Rb16b96b7068c462e"/>
    <p:sldId xmlns:r="http://schemas.openxmlformats.org/officeDocument/2006/relationships" id="263" r:id="R2336d620b59c458e"/>
    <p:sldId xmlns:r="http://schemas.openxmlformats.org/officeDocument/2006/relationships" id="264" r:id="R923a43315dd24f52"/>
    <p:sldId xmlns:r="http://schemas.openxmlformats.org/officeDocument/2006/relationships" id="265" r:id="Re681d08311a4432d"/>
    <p:sldId xmlns:r="http://schemas.openxmlformats.org/officeDocument/2006/relationships" id="266" r:id="Rce8ad59f51f54ad3"/>
    <p:sldId xmlns:r="http://schemas.openxmlformats.org/officeDocument/2006/relationships" id="267" r:id="Rd616cfe3b3f948ea"/>
    <p:sldId xmlns:r="http://schemas.openxmlformats.org/officeDocument/2006/relationships" id="268" r:id="R59a6402126974657"/>
    <p:sldId xmlns:r="http://schemas.openxmlformats.org/officeDocument/2006/relationships" id="269" r:id="R3b9c11023c544e9d"/>
    <p:sldId xmlns:r="http://schemas.openxmlformats.org/officeDocument/2006/relationships" id="270" r:id="R5c901e5fef5a4204"/>
    <p:sldId xmlns:r="http://schemas.openxmlformats.org/officeDocument/2006/relationships" id="271" r:id="R65ed61d9e51d4974"/>
    <p:sldId xmlns:r="http://schemas.openxmlformats.org/officeDocument/2006/relationships" id="272" r:id="Rb8489a6d1abd4278"/>
    <p:sldId xmlns:r="http://schemas.openxmlformats.org/officeDocument/2006/relationships" id="273" r:id="Rd431b7f529b24e2f"/>
    <p:sldId xmlns:r="http://schemas.openxmlformats.org/officeDocument/2006/relationships" id="274" r:id="R31377f26c9834063"/>
    <p:sldId xmlns:r="http://schemas.openxmlformats.org/officeDocument/2006/relationships" id="275" r:id="R1acdc99f0e484be7"/>
    <p:sldId xmlns:r="http://schemas.openxmlformats.org/officeDocument/2006/relationships" id="276" r:id="R1a7aa4cae9d04658"/>
    <p:sldId xmlns:r="http://schemas.openxmlformats.org/officeDocument/2006/relationships" id="277" r:id="R530d93e4d79940ed"/>
    <p:sldId xmlns:r="http://schemas.openxmlformats.org/officeDocument/2006/relationships" id="278" r:id="R4c4062a7acfd45cd"/>
    <p:sldId xmlns:r="http://schemas.openxmlformats.org/officeDocument/2006/relationships" id="279" r:id="Rb58772b27ae0464c"/>
    <p:sldId xmlns:r="http://schemas.openxmlformats.org/officeDocument/2006/relationships" id="280" r:id="Rb08c41bd01704304"/>
    <p:sldId xmlns:r="http://schemas.openxmlformats.org/officeDocument/2006/relationships" id="281" r:id="R44f0fc6dc58e47cf"/>
    <p:sldId xmlns:r="http://schemas.openxmlformats.org/officeDocument/2006/relationships" id="282" r:id="R16cbb67b59e64b5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c1502da19c4972" /><Relationship Type="http://schemas.openxmlformats.org/officeDocument/2006/relationships/slideMaster" Target="/ppt/slideMasters/slideMaster1.xml" Id="Rbe80e359295f42bb" /><Relationship Type="http://schemas.openxmlformats.org/officeDocument/2006/relationships/notesMaster" Target="/ppt/notesMasters/notesMaster1.xml" Id="R59a3dc59c3514bf9" /><Relationship Type="http://schemas.openxmlformats.org/officeDocument/2006/relationships/presProps" Target="/ppt/presProps.xml" Id="R96b3c190837940bc" /><Relationship Type="http://schemas.openxmlformats.org/officeDocument/2006/relationships/tableStyles" Target="/ppt/tableStyles.xml" Id="R29d86f485f7548cf" /><Relationship Type="http://schemas.openxmlformats.org/officeDocument/2006/relationships/slide" Target="/ppt/slides/slide1.xml" Id="Rbc059c51255a4305" /><Relationship Type="http://schemas.openxmlformats.org/officeDocument/2006/relationships/slide" Target="/ppt/slides/slide2.xml" Id="R5db159b04f2448a9" /><Relationship Type="http://schemas.openxmlformats.org/officeDocument/2006/relationships/slide" Target="/ppt/slides/slide3.xml" Id="R494a94b099b1401e" /><Relationship Type="http://schemas.openxmlformats.org/officeDocument/2006/relationships/slide" Target="/ppt/slides/slide4.xml" Id="R9cd06d4638274884" /><Relationship Type="http://schemas.openxmlformats.org/officeDocument/2006/relationships/slide" Target="/ppt/slides/slide5.xml" Id="R2e2c6a19982745dd" /><Relationship Type="http://schemas.openxmlformats.org/officeDocument/2006/relationships/slide" Target="/ppt/slides/slide6.xml" Id="R4e92aa0ef7604e42" /><Relationship Type="http://schemas.openxmlformats.org/officeDocument/2006/relationships/slide" Target="/ppt/slides/slide7.xml" Id="Rb16b96b7068c462e" /><Relationship Type="http://schemas.openxmlformats.org/officeDocument/2006/relationships/slide" Target="/ppt/slides/slide8.xml" Id="R2336d620b59c458e" /><Relationship Type="http://schemas.openxmlformats.org/officeDocument/2006/relationships/slide" Target="/ppt/slides/slide9.xml" Id="R923a43315dd24f52" /><Relationship Type="http://schemas.openxmlformats.org/officeDocument/2006/relationships/slide" Target="/ppt/slides/slide10.xml" Id="Re681d08311a4432d" /><Relationship Type="http://schemas.openxmlformats.org/officeDocument/2006/relationships/slide" Target="/ppt/slides/slide11.xml" Id="Rce8ad59f51f54ad3" /><Relationship Type="http://schemas.openxmlformats.org/officeDocument/2006/relationships/slide" Target="/ppt/slides/slide12.xml" Id="Rd616cfe3b3f948ea" /><Relationship Type="http://schemas.openxmlformats.org/officeDocument/2006/relationships/slide" Target="/ppt/slides/slide13.xml" Id="R59a6402126974657" /><Relationship Type="http://schemas.openxmlformats.org/officeDocument/2006/relationships/slide" Target="/ppt/slides/slide14.xml" Id="R3b9c11023c544e9d" /><Relationship Type="http://schemas.openxmlformats.org/officeDocument/2006/relationships/slide" Target="/ppt/slides/slide15.xml" Id="R5c901e5fef5a4204" /><Relationship Type="http://schemas.openxmlformats.org/officeDocument/2006/relationships/slide" Target="/ppt/slides/slide16.xml" Id="R65ed61d9e51d4974" /><Relationship Type="http://schemas.openxmlformats.org/officeDocument/2006/relationships/slide" Target="/ppt/slides/slide17.xml" Id="Rb8489a6d1abd4278" /><Relationship Type="http://schemas.openxmlformats.org/officeDocument/2006/relationships/slide" Target="/ppt/slides/slide18.xml" Id="Rd431b7f529b24e2f" /><Relationship Type="http://schemas.openxmlformats.org/officeDocument/2006/relationships/slide" Target="/ppt/slides/slide19.xml" Id="R31377f26c9834063" /><Relationship Type="http://schemas.openxmlformats.org/officeDocument/2006/relationships/slide" Target="/ppt/slides/slide20.xml" Id="R1acdc99f0e484be7" /><Relationship Type="http://schemas.openxmlformats.org/officeDocument/2006/relationships/slide" Target="/ppt/slides/slide21.xml" Id="R1a7aa4cae9d04658" /><Relationship Type="http://schemas.openxmlformats.org/officeDocument/2006/relationships/slide" Target="/ppt/slides/slide22.xml" Id="R530d93e4d79940ed" /><Relationship Type="http://schemas.openxmlformats.org/officeDocument/2006/relationships/slide" Target="/ppt/slides/slide23.xml" Id="R4c4062a7acfd45cd" /><Relationship Type="http://schemas.openxmlformats.org/officeDocument/2006/relationships/slide" Target="/ppt/slides/slide24.xml" Id="Rb58772b27ae0464c" /><Relationship Type="http://schemas.openxmlformats.org/officeDocument/2006/relationships/slide" Target="/ppt/slides/slide25.xml" Id="Rb08c41bd01704304" /><Relationship Type="http://schemas.openxmlformats.org/officeDocument/2006/relationships/slide" Target="/ppt/slides/slide26.xml" Id="R44f0fc6dc58e47cf" /><Relationship Type="http://schemas.openxmlformats.org/officeDocument/2006/relationships/slide" Target="/ppt/slides/slide27.xml" Id="R16cbb67b59e64b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f63278f29448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38eb21c5204f1e" /><Relationship Type="http://schemas.openxmlformats.org/officeDocument/2006/relationships/notesMaster" Target="/ppt/notesMasters/notesMaster1.xml" Id="R3a27e245954442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cdf1b4551546a6" /><Relationship Type="http://schemas.openxmlformats.org/officeDocument/2006/relationships/notesMaster" Target="/ppt/notesMasters/notesMaster1.xml" Id="R740986c3111e4f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d02cfd3b964a8a" /><Relationship Type="http://schemas.openxmlformats.org/officeDocument/2006/relationships/notesMaster" Target="/ppt/notesMasters/notesMaster1.xml" Id="R3c7a7dc04c874e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b17547e844415c" /><Relationship Type="http://schemas.openxmlformats.org/officeDocument/2006/relationships/notesMaster" Target="/ppt/notesMasters/notesMaster1.xml" Id="R0aec9b155f0445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f1485fc6d14628" /><Relationship Type="http://schemas.openxmlformats.org/officeDocument/2006/relationships/notesMaster" Target="/ppt/notesMasters/notesMaster1.xml" Id="Rcf461b785abc4d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a63225f1b64d7f" /><Relationship Type="http://schemas.openxmlformats.org/officeDocument/2006/relationships/notesMaster" Target="/ppt/notesMasters/notesMaster1.xml" Id="R02db7b9130124e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6d2e80a5694fbc" /><Relationship Type="http://schemas.openxmlformats.org/officeDocument/2006/relationships/notesMaster" Target="/ppt/notesMasters/notesMaster1.xml" Id="R182bbc019c5e42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609db8b49b4a10" /><Relationship Type="http://schemas.openxmlformats.org/officeDocument/2006/relationships/notesMaster" Target="/ppt/notesMasters/notesMaster1.xml" Id="Ra4401f3a5f6043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4f9118d34b4812" /><Relationship Type="http://schemas.openxmlformats.org/officeDocument/2006/relationships/notesMaster" Target="/ppt/notesMasters/notesMaster1.xml" Id="Rb75c4a4c3dab45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df1d24c6d548dd" /><Relationship Type="http://schemas.openxmlformats.org/officeDocument/2006/relationships/notesMaster" Target="/ppt/notesMasters/notesMaster1.xml" Id="R2e5e0cda36cb4c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881d709b5448f4" /><Relationship Type="http://schemas.openxmlformats.org/officeDocument/2006/relationships/notesMaster" Target="/ppt/notesMasters/notesMaster1.xml" Id="Rf80d32150ba049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128d23c2194e55" /><Relationship Type="http://schemas.openxmlformats.org/officeDocument/2006/relationships/notesMaster" Target="/ppt/notesMasters/notesMaster1.xml" Id="R962d3391ded441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ef8caa64e54e83" /><Relationship Type="http://schemas.openxmlformats.org/officeDocument/2006/relationships/notesMaster" Target="/ppt/notesMasters/notesMaster1.xml" Id="Rb2fc541ea9f447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8b013a140764bdf" /><Relationship Type="http://schemas.openxmlformats.org/officeDocument/2006/relationships/notesMaster" Target="/ppt/notesMasters/notesMaster1.xml" Id="R776d404ff155401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822d4c86f604e55" /><Relationship Type="http://schemas.openxmlformats.org/officeDocument/2006/relationships/notesMaster" Target="/ppt/notesMasters/notesMaster1.xml" Id="Re437f3364e2f417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b48da2667604082" /><Relationship Type="http://schemas.openxmlformats.org/officeDocument/2006/relationships/notesMaster" Target="/ppt/notesMasters/notesMaster1.xml" Id="R1f6f576b6dc540b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4514eda235c488f" /><Relationship Type="http://schemas.openxmlformats.org/officeDocument/2006/relationships/notesMaster" Target="/ppt/notesMasters/notesMaster1.xml" Id="R90a5c30588174a9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6213274844c48aa" /><Relationship Type="http://schemas.openxmlformats.org/officeDocument/2006/relationships/notesMaster" Target="/ppt/notesMasters/notesMaster1.xml" Id="R1722e1df7fdd443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1688abff9694d05" /><Relationship Type="http://schemas.openxmlformats.org/officeDocument/2006/relationships/notesMaster" Target="/ppt/notesMasters/notesMaster1.xml" Id="R47e0d502c7a8419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17b6ec01a3640ed" /><Relationship Type="http://schemas.openxmlformats.org/officeDocument/2006/relationships/notesMaster" Target="/ppt/notesMasters/notesMaster1.xml" Id="R79f54ee856514e7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9b43bce88b34e94" /><Relationship Type="http://schemas.openxmlformats.org/officeDocument/2006/relationships/notesMaster" Target="/ppt/notesMasters/notesMaster1.xml" Id="R8133fe3306254dd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5f7b1bdb1a04860" /><Relationship Type="http://schemas.openxmlformats.org/officeDocument/2006/relationships/notesMaster" Target="/ppt/notesMasters/notesMaster1.xml" Id="R7ea6cd03c66e444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93c9d6a6b0741d9" /><Relationship Type="http://schemas.openxmlformats.org/officeDocument/2006/relationships/notesMaster" Target="/ppt/notesMasters/notesMaster1.xml" Id="Rd774e6ebf94c47e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c596cd0de3b4720" /><Relationship Type="http://schemas.openxmlformats.org/officeDocument/2006/relationships/notesMaster" Target="/ppt/notesMasters/notesMaster1.xml" Id="R56538ab9e79c410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aa399dfdbef4aeb" /><Relationship Type="http://schemas.openxmlformats.org/officeDocument/2006/relationships/notesMaster" Target="/ppt/notesMasters/notesMaster1.xml" Id="Rff7fe623e49a453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aba5ffe38434273" /><Relationship Type="http://schemas.openxmlformats.org/officeDocument/2006/relationships/notesMaster" Target="/ppt/notesMasters/notesMaster1.xml" Id="Ree6af84da73b4fb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ba21ebdfb604623" /><Relationship Type="http://schemas.openxmlformats.org/officeDocument/2006/relationships/notesMaster" Target="/ppt/notesMasters/notesMaster1.xml" Id="Ra968b2bdde8940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今天分享的不是一个 Pose Head 的代码 walkthrough，而是一次完整工程闭环。起点是一组阶段提示词和一个不完整仓库，终点是可以在远程 GPU 上恢复训练、验证指标、查看可视结果、测量端到端耗时，并且能解释每个结论从哪里来的训练系统。</a:t>
            </a:r>
          </a:p>
          <a:p xmlns:a="http://schemas.openxmlformats.org/drawingml/2006/main">
            <a:r>
              <a:t>我会重点讲 Codex 如何被约束、如何监控长任务，以及我们如何用证据否决看似合理但没有部署收益的优化。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先明确任务边界。输入不是一份详细设计，而是一份使用顺序和九个阶段目标。</a:t>
            </a:r>
          </a:p>
          <a:p xmlns:a="http://schemas.openxmlformats.org/drawingml/2006/main">
            <a:r>
              <a:t>真正需要交付的是可审计的状态：代码、测试、训练、评估、benchmark 和文档相互一致。任何一步都不能靠“看起来应该对”。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九个阶段被压缩成四组门禁。第一组先读仓库、上游和调用链；第二组才实现、转换数据并跑 smoke、overfit、baseline；第三组让指标、可视化和 benchmark 互证；最后才整理可复现交付。</a:t>
            </a:r>
          </a:p>
          <a:p xmlns:a="http://schemas.openxmlformats.org/drawingml/2006/main">
            <a:r>
              <a:t>这个顺序很关键：Codex 的自动化能力只有放在门禁之后才可靠。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YOLOv10 Pose 最容易出错的地方不是卷积层，而是匹配语义。训练同时存在 one-to-many 与 one-to-one 分支，关键点监督必须继承各自 bbox assigner 的 target_gt_idx。</a:t>
            </a:r>
          </a:p>
          <a:p xmlns:a="http://schemas.openxmlformats.org/drawingml/2006/main">
            <a:r>
              <a:t>如果按预测顺序猜 GT，loss 会正常下降，但监督已经错位，这类错误几乎不会通过肉眼读代码被发现。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所以测试先定义不变量：assigner 索引贯穿 bbox 与 keypoint；双分支都能反传；空目标和 checkpoint 可工作；原 Detect 行为没有回归；优化后的 one2one_only 与原输出数值一致。</a:t>
            </a:r>
          </a:p>
          <a:p xmlns:a="http://schemas.openxmlformats.org/drawingml/2006/main">
            <a:r>
              <a:t>最终全量 pytest 28 个通过，Vehicle Pose 聚焦回归 9 个通过。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远程长任务里，故障是常态。数据归档 32 GiB，先做 SHA-256 再解压；磁盘不足后转移到 Windows E 盘。训练到 epoch 176 时 WSL 重启。</a:t>
            </a:r>
          </a:p>
          <a:p xmlns:a="http://schemas.openxmlformats.org/drawingml/2006/main">
            <a:r>
              <a:t>恢复时不重新起 baseline，而是核对挂载、进程、last.pt 和 results.csv，只续跑原任务。checkpoint 把故障从灾难变成一个可恢复事件。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200 epochs 后形成基线：Box mAP50-95 为 0.665，Pose mAP50-95 为 0.515，PCK@0.05 为 0.6686。</a:t>
            </a:r>
          </a:p>
          <a:p xmlns:a="http://schemas.openxmlformats.org/drawingml/2006/main">
            <a:r>
              <a:t>这些数值必须和验证集规模、checkpoint、运行配置绑定，脱离这些上下文的单个 mAP 没有工程意义。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指标通过并不代表推理链正确。固定样本可视化发现 raw Predictor 把 xywh 当作 xyxy 再缩放，宽图上出现巨框；Validator 指标没变，因为它走的是另一条路径。</a:t>
            </a:r>
          </a:p>
          <a:p xmlns:a="http://schemas.openxmlformats.org/drawingml/2006/main">
            <a:r>
              <a:t>修复后增加回归测试，避免视觉路径再次漂移。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可视门禁覆盖宽图、边缘截断、遮挡、多车和尺度变化。100 张图全部检查后，框、关键点和异常样本与指标方向一致，才允许进入性能结论。</a:t>
            </a:r>
          </a:p>
          <a:p xmlns:a="http://schemas.openxmlformats.org/drawingml/2006/main">
            <a:r>
              <a:t>这是一个很实用的原则：指标回答总体是否变好，可视化回答系统是否真的在做我们以为它在做的事。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第一次系统测速发现最大端到端瓶颈不在模型，而在 Windows 挂载盘。相同图片字节、相同 checkpoint、相同循环，迁移到 WSL ext4 后平均延迟下降 72.3%，吞吐提升 3.61 倍。</a:t>
            </a:r>
          </a:p>
          <a:p xmlns:a="http://schemas.openxmlformats.org/drawingml/2006/main">
            <a:r>
              <a:t>这说明优化顺序必须从端到端分解开始，不能直接假设网络就是主瓶颈。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数据本地化被做成独立入口：解引用复制、SHA-256 门禁、新 runtime YAML。原训练数据、代码、checkpoint 和 baseline 输出都不改。</a:t>
            </a:r>
          </a:p>
          <a:p xmlns:a="http://schemas.openxmlformats.org/drawingml/2006/main">
            <a:r>
              <a:t>分享时我希望大家注意：优化不仅是一个数字，还要有可复现入口和失败条件。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基线也有明确限制。模型接口是 14×3，但索引 13 在当前数据中有效标注为零，因此只能声明 13 个点的监督与精度。</a:t>
            </a:r>
          </a:p>
          <a:p xmlns:a="http://schemas.openxmlformats.org/drawingml/2006/main">
            <a:r>
              <a:t>flip_idx 保持为空，因为左右语义未确认之前，水平翻转可能制造错误标签。限制应该和结果一起交付。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这套 Codex 模式可以复用：先定义完成和不可破坏项；读环境和数据后再改；把假设转成回归；用哈希、指标和可视化推进门禁；最后交付命令、报告和限制。</a:t>
            </a:r>
          </a:p>
          <a:p xmlns:a="http://schemas.openxmlformats.org/drawingml/2006/main">
            <a:r>
              <a:t>核心不是让 Codex 写更多代码，而是让它持续维护一个可验证的工程状态。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为了不退出长任务，我们增加了心跳监控。频率最终调整为每 30 分钟一次，不是每 30 分钟输出一句“还在跑”，而是每次重新读取 PID、GPU、日志、epoch 和结果文件。</a:t>
            </a:r>
          </a:p>
          <a:p xmlns:a="http://schemas.openxmlformats.org/drawingml/2006/main">
            <a:r>
              <a:t>允许的自动动作只有项目内、可回滚、安全修复；恢复前必须确认没有重复任务。所有门禁通过后，心跳自动停止。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我们也验证了同架构低分辨率蒸馏。512 学生模型 3 epochs 后 Pose mAP50-95 为 0.474，PCK@0.05 为 0.6355。同卡同进程 AB/BA 延迟中心值为 7.001 ms，而 640 baseline 是 6.905 ms，差异仅 1.39%。严谨结论不是“学生必然更慢”，而是没有测得实际加速。</a:t>
            </a:r>
          </a:p>
          <a:p xmlns:a="http://schemas.openxmlformats.org/drawingml/2006/main">
            <a:r>
              <a:t>继续增加 epoch 可能改善权重和精度，却不会减少层、通道或算子数量。kernel launch 与小算子约束是合理解释，但仍需 profiler 证明。因此当前方案触发延迟门禁，停止追加训练。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真正通过门禁的是部署路径优化：保留 640 输入和基线权重，推理只取 one-to-one 分支，融合 Conv/BN，再用 FP16。</a:t>
            </a:r>
          </a:p>
          <a:p xmlns:a="http://schemas.openxmlformats.org/drawingml/2006/main">
            <a:r>
              <a:t>严格四轮 AB/BA、每轮 1000 次，平均延迟从 7.147 ms 到 5.727 ms，下降 19.88%。完整 3606 图验证中 Pose mAP50-95 为 0.514，PCK@0.05 为 0.6676，仅低 0.001。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精度提升单独形成闭环，不和当前延迟方案混在一起。第一步先确认索引 13 和 visibility 语义；第二步按尺度、遮挡、截断做误差切片；第三步尝试 visibility-aware loss、难例采样和合法增强；第四步必须回到全量指标、固定可视样本和延迟回归。</a:t>
            </a:r>
          </a:p>
          <a:p xmlns:a="http://schemas.openxmlformats.org/drawingml/2006/main">
            <a:r>
              <a:t>只有数据证据仍支持时，才考虑更大模型或更高输入分辨率。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经验丰富的工程团队不需要给 Codex 一篇长作文，需要的是工程契约：目标和完成条件、不可破坏项、证据源、允许动作、停止规则。</a:t>
            </a:r>
          </a:p>
          <a:p xmlns:a="http://schemas.openxmlformats.org/drawingml/2006/main">
            <a:r>
              <a:t>心跳提示词也是同样结构：读取真实状态，只报告变化；安全修复后续跑；不动训练数据，不覆盖 baseline，不启动重复任务；优化必须同时通过延迟和精度门禁。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这一页只回答结构问题：我们做的是结构化通道剪枝，不是把权重置零。Torch-Pruning 的 DepGraph 会把一个通道相关的 Conv 输出、BN 参数和下游 Conv 输入作为依赖组同步删除。当前实现只允许 Backbone、Neck 和 Head 隐藏塔成为剪枝根；检测和姿态最终输出卷积全部保护，因此 DFL 64、类别 1、姿态 42 的语义和维度不变。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这里必须区分实测与估算。Baseline 的 4,005,986 参数和 8.03 MiB checkpoint 来自远程实际模型。10% 与 15% 是依据 1-(1-r)^2 给出的理论候选：约 3.245M/6.51 MiB 与 2.894M/5.80 MiB。远程 20/20 回归、53 个安全根、18 个保护输出和有限前向已经验证；但完整 DepGraph 尚未产出模型，所以当前没有可宣称的剪枝精度与延迟。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剪枝改变隐藏通道宽度，因此恢复蒸馏不能依赖中间 feature shape。实现对齐 one-to-many 与 one-to-one 两个分支的 raw outputs：DFL 用温度 2 的 KL，类别与可见性用 sigmoid MSE，关键点 XY 用 SmoothL1。教师固定为 640 baseline，eval 且无梯度；学生仍然保留真实 GT 监督。部署阶段只保留 Student，教师不进入 optimizer、EMA 或 checkpoint，因此不会增加部署延迟。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训练采用保守的 20 epoch 低学习率恢复：SGD、lr0 2e-4、batch 16、同一 640 输入，总损失是 Lsup 加 0.25 倍 LKD。右上角的 20/20 PASS 有星号：它只证明代码接口、梯度边界和前向输出契约在远程通过，不代表完整剪枝模型训练已经完成。正式结论必须再过模型文件、参数/FLOPs、精度、端到端延迟四个门禁。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这里不是在一个已很小的 nano 模型上继续做无约束通道剪枝，而是把 Head 的结构变量显式化。固定 Backbone、Neck、输出维度和 YOLOv10 双分配语义，只搜索 Pose Tower 宽度与深度、Box Tower 深度。每个候选先做参数、GFLOPs 和同口径 CUDA 延迟门禁，只有真实加速的结构才进入恢复训练。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这页是训练前架构门禁。基线是 Pose 96×2、Box×2。我们依次测试七组缩减结构。最重要的结果不是参数越少越快：32×1 加 Box×1 比 64×1 更小，但实际延迟收益反而从 6.51% 回落到 4.53%。原因包括通道对齐、Kernel 启动和低算术强度。最终只让 64×1 加 Box×1 进入训练。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训练采用有界自适应 epoch。10 轮后，Pose 指标在末段持续上升，因此允许追加 20 轮。第一次续训在首个 batch 前安全失败：checkpoint 缓存的 criterion 仍在 CPU。我们先写回归测试，再在设备迁移前丢弃陈旧 criterion，21 项聚焦测试通过后用独立 r3 重跑。累计 30 轮末段仍上升，于是追加最后 20 轮；总计 50 轮是硬上限，不再追着曲线无限续训。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最终绝对延迟必须看无 Hook 的统一 benchmark：baseline 5.6955 毫秒，FastHead 5.3314 毫秒，只快 6.39%。模块级 CUDA Event 插桩会增加开销，所以只用于看占比。FastHead 中 Backbone 加 Neck 占 71.6%，成为主瓶颈；Head 仍是最大单模块，占 28.4%。Head 参数减少 45.7%，Head 时间只减少约 21%，说明参数量和 GPU 延迟并不线性。下一轮如果追求速度，应把 PSA、C2f/C2fCIB、TensorRT 融合和 Kernel 效率纳入门禁，而不是继续伤害 Pose Head。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 FastHead 的参数量从 400.6 万降到 301.9 万，FP16 延迟从 5.6955 毫秒降到 5.3314 毫秒，但 Pose mAP50-95 从 0.51455 降到 0.37569，下降 0.13886。它通过了速度门禁，却明确失败于精度门禁，因此不能替换 200 轮 baseline。失败实验仍然有价值：它把 nano 模型低冗余、Pose Head 敏感、通道对齐和输出级蒸馏边界都变成了下一轮可执行约束。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aa444e36b47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187ed3121b4733" /><Relationship Type="http://schemas.openxmlformats.org/officeDocument/2006/relationships/slideLayout" Target="/ppt/slideLayouts/slideLayout1.xml" Id="R2cb1ce17129f43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b1ce17129f43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0ea3e49af47ef" /><Relationship Type="http://schemas.openxmlformats.org/officeDocument/2006/relationships/notesSlide" Target="/ppt/notesSlides/notesSlide1.xml" Id="Rb1a831a199f640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85704fdeb4ed2" /><Relationship Type="http://schemas.openxmlformats.org/officeDocument/2006/relationships/image" Target="/ppt/media/image.jpeg" Id="Ref08aec4fe594810" /><Relationship Type="http://schemas.openxmlformats.org/officeDocument/2006/relationships/notesSlide" Target="/ppt/notesSlides/notesSlide2.xml" Id="Ra24970a482c64e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2410e46e84f94" /><Relationship Type="http://schemas.openxmlformats.org/officeDocument/2006/relationships/notesSlide" Target="/ppt/notesSlides/notesSlide3.xml" Id="Rea05739b12e047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c5147fc4344b2" /><Relationship Type="http://schemas.openxmlformats.org/officeDocument/2006/relationships/notesSlide" Target="/ppt/notesSlides/notesSlide4.xml" Id="Rbf2add0b1c2843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cc57f9b6a4d7d" /><Relationship Type="http://schemas.openxmlformats.org/officeDocument/2006/relationships/notesSlide" Target="/ppt/notesSlides/notesSlide5.xml" Id="R14a12a51f0d144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c18fcba334a87" /><Relationship Type="http://schemas.openxmlformats.org/officeDocument/2006/relationships/notesSlide" Target="/ppt/notesSlides/notesSlide6.xml" Id="R967bc649ab4f47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8a881c00a4be0" /><Relationship Type="http://schemas.openxmlformats.org/officeDocument/2006/relationships/image" Target="/ppt/media/image.png" Id="R28c33fb4e1484a80" /><Relationship Type="http://schemas.openxmlformats.org/officeDocument/2006/relationships/notesSlide" Target="/ppt/notesSlides/notesSlide7.xml" Id="R7498ca0771a447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05e82f3b1472b" /><Relationship Type="http://schemas.openxmlformats.org/officeDocument/2006/relationships/image" Target="/ppt/media/image2.jpeg" Id="R9ed490a4309f42dc" /><Relationship Type="http://schemas.openxmlformats.org/officeDocument/2006/relationships/image" Target="/ppt/media/image3.jpeg" Id="R6a7dc90ef3164a1c" /><Relationship Type="http://schemas.openxmlformats.org/officeDocument/2006/relationships/notesSlide" Target="/ppt/notesSlides/notesSlide8.xml" Id="Rac96ebc48d7a40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e2a00077c49ea" /><Relationship Type="http://schemas.openxmlformats.org/officeDocument/2006/relationships/image" Target="/ppt/media/image4.jpeg" Id="R813a150260a2442f" /><Relationship Type="http://schemas.openxmlformats.org/officeDocument/2006/relationships/notesSlide" Target="/ppt/notesSlides/notesSlide9.xml" Id="R16286a5d805149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4bc58838e4a8a" /><Relationship Type="http://schemas.openxmlformats.org/officeDocument/2006/relationships/chart" Target="/ppt/slides/charts/chart1.xml" Id="Re557e22c1ae743c9" /><Relationship Type="http://schemas.openxmlformats.org/officeDocument/2006/relationships/notesSlide" Target="/ppt/notesSlides/notesSlide10.xml" Id="R83b51973185844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b6b3e41fd4844" /><Relationship Type="http://schemas.openxmlformats.org/officeDocument/2006/relationships/notesSlide" Target="/ppt/notesSlides/notesSlide11.xml" Id="Rbc2c595fc3a641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536a040124b26" /><Relationship Type="http://schemas.openxmlformats.org/officeDocument/2006/relationships/chart" Target="/ppt/slides/charts/chart2.xml" Id="Rd30e9a0e1b7e4eff" /><Relationship Type="http://schemas.openxmlformats.org/officeDocument/2006/relationships/notesSlide" Target="/ppt/notesSlides/notesSlide12.xml" Id="R2524a317e2844f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5bda33244402e" /><Relationship Type="http://schemas.openxmlformats.org/officeDocument/2006/relationships/notesSlide" Target="/ppt/notesSlides/notesSlide13.xml" Id="Rbab63c9fa97e44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2fde83851426e" /><Relationship Type="http://schemas.openxmlformats.org/officeDocument/2006/relationships/notesSlide" Target="/ppt/notesSlides/notesSlide14.xml" Id="Rf331e810a966442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a2fe68a7d4163" /><Relationship Type="http://schemas.openxmlformats.org/officeDocument/2006/relationships/chart" Target="/ppt/slides/charts/chart3.xml" Id="Rdce5595a25154bd5" /><Relationship Type="http://schemas.openxmlformats.org/officeDocument/2006/relationships/notesSlide" Target="/ppt/notesSlides/notesSlide15.xml" Id="R6edefefaefb34c3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b49696c1e4ba2" /><Relationship Type="http://schemas.openxmlformats.org/officeDocument/2006/relationships/chart" Target="/ppt/slides/charts/chart4.xml" Id="R5bbb0ee69637453a" /><Relationship Type="http://schemas.openxmlformats.org/officeDocument/2006/relationships/notesSlide" Target="/ppt/notesSlides/notesSlide16.xml" Id="R50a0b0637b6e413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2f45b776c434d" /><Relationship Type="http://schemas.openxmlformats.org/officeDocument/2006/relationships/notesSlide" Target="/ppt/notesSlides/notesSlide17.xml" Id="R0bd35428ffa04cb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5dfba587c48c3" /><Relationship Type="http://schemas.openxmlformats.org/officeDocument/2006/relationships/notesSlide" Target="/ppt/notesSlides/notesSlide18.xml" Id="Re663336a90bb423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0db888d5f4127" /><Relationship Type="http://schemas.openxmlformats.org/officeDocument/2006/relationships/image" Target="/ppt/media/image2.png" Id="Rdc3efcd34b904335" /><Relationship Type="http://schemas.openxmlformats.org/officeDocument/2006/relationships/image" Target="/ppt/media/image3.png" Id="R456d814c71b94f73" /><Relationship Type="http://schemas.openxmlformats.org/officeDocument/2006/relationships/notesSlide" Target="/ppt/notesSlides/notesSlide19.xml" Id="R9fa0a5d67db449b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e3ea6338d4b65" /><Relationship Type="http://schemas.openxmlformats.org/officeDocument/2006/relationships/image" Target="/ppt/media/image4.png" Id="R5cdcca2f8b3245b4" /><Relationship Type="http://schemas.openxmlformats.org/officeDocument/2006/relationships/notesSlide" Target="/ppt/notesSlides/notesSlide20.xml" Id="Re1b2d2f3e24d4c6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bb49dd7af43a2" /><Relationship Type="http://schemas.openxmlformats.org/officeDocument/2006/relationships/image" Target="/ppt/media/image5.png" Id="R5b4a4718b97d46e7" /><Relationship Type="http://schemas.openxmlformats.org/officeDocument/2006/relationships/notesSlide" Target="/ppt/notesSlides/notesSlide21.xml" Id="Rc32cbe971b824ed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72b102fbe4038" /><Relationship Type="http://schemas.openxmlformats.org/officeDocument/2006/relationships/notesSlide" Target="/ppt/notesSlides/notesSlide22.xml" Id="Rffef8beefcae46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bfe009efd4be3" /><Relationship Type="http://schemas.openxmlformats.org/officeDocument/2006/relationships/notesSlide" Target="/ppt/notesSlides/notesSlide23.xml" Id="Rfb9f53e7a69b486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7063abfd84beb" /><Relationship Type="http://schemas.openxmlformats.org/officeDocument/2006/relationships/chart" Target="/ppt/slides/charts/chart5.xml" Id="R62c13c3c9e054582" /><Relationship Type="http://schemas.openxmlformats.org/officeDocument/2006/relationships/notesSlide" Target="/ppt/notesSlides/notesSlide24.xml" Id="R50ccccd3ba2d487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5cee80ad145df" /><Relationship Type="http://schemas.openxmlformats.org/officeDocument/2006/relationships/notesSlide" Target="/ppt/notesSlides/notesSlide25.xml" Id="Rf3d1ea42a936419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2cbb083184fb1" /><Relationship Type="http://schemas.openxmlformats.org/officeDocument/2006/relationships/chart" Target="/ppt/slides/charts/chart6.xml" Id="R957dad82e7c740ed" /><Relationship Type="http://schemas.openxmlformats.org/officeDocument/2006/relationships/notesSlide" Target="/ppt/notesSlides/notesSlide26.xml" Id="R81deef9fa4ae4c5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c2879d3784748" /><Relationship Type="http://schemas.openxmlformats.org/officeDocument/2006/relationships/notesSlide" Target="/ppt/notesSlides/notesSlide27.xml" Id="R6cbe6c02ed0c4dc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/mnt/e</c:v>
          </c:tx>
          <c:spPr>
            <a:solidFill xmlns:a="http://schemas.openxmlformats.org/drawingml/2006/main">
              <a:srgbClr val="E5484D"/>
            </a:solidFill>
          </c:spPr>
          <c:cat>
            <c:strLit>
              <c:ptCount val="2"/>
              <c:pt idx="0">
                <c:v>平均延迟</c:v>
              </c:pt>
              <c:pt idx="1">
                <c:v>P95</c:v>
              </c:pt>
            </c:strLit>
          </c:cat>
          <c:val>
            <c:numLit>
              <c:formatCode>General</c:formatCode>
              <c:ptCount val="2"/>
              <c:pt idx="0">
                <c:v>60.1</c:v>
              </c:pt>
              <c:pt idx="1">
                <c:v>109.25</c:v>
              </c:pt>
            </c:numLit>
          </c:val>
        </c:ser>
        <c:ser>
          <c:idx val="1"/>
          <c:order val="1"/>
          <c:tx>
            <c:v>WSL ext4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平均延迟</c:v>
              </c:pt>
              <c:pt idx="1">
                <c:v>P95</c:v>
              </c:pt>
            </c:strLit>
          </c:cat>
          <c:val>
            <c:numLit>
              <c:formatCode>General</c:formatCode>
              <c:ptCount val="2"/>
              <c:pt idx="0">
                <c:v>16.63</c:v>
              </c:pt>
              <c:pt idx="1">
                <c:v>18.62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毫秒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有效标注数</c:v>
          </c:tx>
          <c:spPr>
            <a:solidFill xmlns:a="http://schemas.openxmlformats.org/drawingml/2006/main">
              <a:srgbClr val="3D8DFF"/>
            </a:solidFill>
          </c:spPr>
          <c:cat>
            <c:numLit>
              <c:formatCode>General</c:formatCode>
              <c:ptCount val="1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</c:numLit>
          </c:cat>
          <c:val>
            <c:numLit>
              <c:formatCode>General</c:formatCode>
              <c:ptCount val="14"/>
              <c:pt idx="0">
                <c:v>57868</c:v>
              </c:pt>
              <c:pt idx="1">
                <c:v>58232</c:v>
              </c:pt>
              <c:pt idx="2">
                <c:v>55739</c:v>
              </c:pt>
              <c:pt idx="3">
                <c:v>56330</c:v>
              </c:pt>
              <c:pt idx="4">
                <c:v>57745</c:v>
              </c:pt>
              <c:pt idx="5">
                <c:v>57856</c:v>
              </c:pt>
              <c:pt idx="6">
                <c:v>54945</c:v>
              </c:pt>
              <c:pt idx="7">
                <c:v>55196</c:v>
              </c:pt>
              <c:pt idx="8">
                <c:v>2862</c:v>
              </c:pt>
              <c:pt idx="9">
                <c:v>57236</c:v>
              </c:pt>
              <c:pt idx="10">
                <c:v>57505</c:v>
              </c:pt>
              <c:pt idx="11">
                <c:v>55875</c:v>
              </c:pt>
              <c:pt idx="12">
                <c:v>56224</c:v>
              </c:pt>
              <c:pt idx="13">
                <c:v>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640 baseline</c:v>
          </c:tx>
          <c:spPr>
            <a:solidFill xmlns:a="http://schemas.openxmlformats.org/drawingml/2006/main">
              <a:srgbClr val="E5484D"/>
            </a:solidFill>
          </c:spPr>
          <c:cat>
            <c:strLit>
              <c:ptCount val="3"/>
              <c:pt idx="0">
                <c:v>Pose mAP</c:v>
              </c:pt>
              <c:pt idx="1">
                <c:v>PCK@.05</c:v>
              </c:pt>
              <c:pt idx="2">
                <c:v>Latency</c:v>
              </c:pt>
            </c:strLit>
          </c:cat>
          <c:val>
            <c:numLit>
              <c:formatCode>General</c:formatCode>
              <c:ptCount val="3"/>
              <c:pt idx="0">
                <c:v>100</c:v>
              </c:pt>
              <c:pt idx="1">
                <c:v>100</c:v>
              </c:pt>
              <c:pt idx="2">
                <c:v>100</c:v>
              </c:pt>
            </c:numLit>
          </c:val>
        </c:ser>
        <c:ser>
          <c:idx val="1"/>
          <c:order val="1"/>
          <c:tx>
            <c:v>512 distilled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Pose mAP</c:v>
              </c:pt>
              <c:pt idx="1">
                <c:v>PCK@.05</c:v>
              </c:pt>
              <c:pt idx="2">
                <c:v>Latency</c:v>
              </c:pt>
            </c:strLit>
          </c:cat>
          <c:val>
            <c:numLit>
              <c:formatCode>General</c:formatCode>
              <c:ptCount val="3"/>
              <c:pt idx="0">
                <c:v>92.04</c:v>
              </c:pt>
              <c:pt idx="1">
                <c:v>95.05</c:v>
              </c:pt>
              <c:pt idx="2">
                <c:v>101.39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相对指数</a:t>
                </a:r>
              </a:p>
            </c:rich>
          </c:tx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FP32 baseline</c:v>
          </c:tx>
          <c:spPr>
            <a:solidFill xmlns:a="http://schemas.openxmlformats.org/drawingml/2006/main">
              <a:srgbClr val="E5484D"/>
            </a:solidFill>
          </c:spPr>
          <c:cat>
            <c:strLit>
              <c:ptCount val="2"/>
              <c:pt idx="0">
                <c:v>延迟↓</c:v>
              </c:pt>
              <c:pt idx="1">
                <c:v>吞吐↑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100</c:v>
              </c:pt>
            </c:numLit>
          </c:val>
        </c:ser>
        <c:ser>
          <c:idx val="1"/>
          <c:order val="1"/>
          <c:tx>
            <c:v>Fused FP16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延迟↓</c:v>
              </c:pt>
              <c:pt idx="1">
                <c:v>吞吐↑</c:v>
              </c:pt>
            </c:strLit>
          </c:cat>
          <c:val>
            <c:numLit>
              <c:formatCode>General</c:formatCode>
              <c:ptCount val="2"/>
              <c:pt idx="0">
                <c:v>80.12</c:v>
              </c:pt>
              <c:pt idx="1">
                <c:v>124.8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相对指数</a:t>
                </a:r>
              </a:p>
            </c:rich>
          </c:tx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参数下降 (%)</c:v>
          </c:tx>
          <c:spPr>
            <a:solidFill xmlns:a="http://schemas.openxmlformats.org/drawingml/2006/main">
              <a:srgbClr val="E5484D"/>
            </a:solidFill>
          </c:spPr>
          <c:cat>
            <c:strLit>
              <c:ptCount val="7"/>
              <c:pt idx="0">
                <c:v>96×2</c:v>
              </c:pt>
              <c:pt idx="1">
                <c:v>96×1</c:v>
              </c:pt>
              <c:pt idx="2">
                <c:v>64×2</c:v>
              </c:pt>
              <c:pt idx="3">
                <c:v>64×1</c:v>
              </c:pt>
              <c:pt idx="4">
                <c:v>96×1+B1</c:v>
              </c:pt>
              <c:pt idx="5">
                <c:v>64×1+B1</c:v>
              </c:pt>
              <c:pt idx="6">
                <c:v>32×1+B1</c:v>
              </c:pt>
            </c:strLit>
          </c:cat>
          <c:val>
            <c:numLit>
              <c:formatCode>General</c:formatCode>
              <c:ptCount val="7"/>
              <c:pt idx="0">
                <c:v>0</c:v>
              </c:pt>
              <c:pt idx="1">
                <c:v>12.45</c:v>
              </c:pt>
              <c:pt idx="2">
                <c:v>13.56</c:v>
              </c:pt>
              <c:pt idx="3">
                <c:v>19.1</c:v>
              </c:pt>
              <c:pt idx="4">
                <c:v>17.99</c:v>
              </c:pt>
              <c:pt idx="5">
                <c:v>24.64</c:v>
              </c:pt>
              <c:pt idx="6">
                <c:v>31.3</c:v>
              </c:pt>
            </c:numLit>
          </c:val>
        </c:ser>
        <c:ser>
          <c:idx val="1"/>
          <c:order val="1"/>
          <c:tx>
            <c:v>延迟下降 (%)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7"/>
              <c:pt idx="0">
                <c:v>96×2</c:v>
              </c:pt>
              <c:pt idx="1">
                <c:v>96×1</c:v>
              </c:pt>
              <c:pt idx="2">
                <c:v>64×2</c:v>
              </c:pt>
              <c:pt idx="3">
                <c:v>64×1</c:v>
              </c:pt>
              <c:pt idx="4">
                <c:v>96×1+B1</c:v>
              </c:pt>
              <c:pt idx="5">
                <c:v>64×1+B1</c:v>
              </c:pt>
              <c:pt idx="6">
                <c:v>32×1+B1</c:v>
              </c:pt>
            </c:strLit>
          </c:cat>
          <c:val>
            <c:numLit>
              <c:formatCode>General</c:formatCode>
              <c:ptCount val="7"/>
              <c:pt idx="0">
                <c:v>0</c:v>
              </c:pt>
              <c:pt idx="1">
                <c:v>1.69</c:v>
              </c:pt>
              <c:pt idx="2">
                <c:v>2.18</c:v>
              </c:pt>
              <c:pt idx="3">
                <c:v>3.15</c:v>
              </c:pt>
              <c:pt idx="4">
                <c:v>3.09</c:v>
              </c:pt>
              <c:pt idx="5">
                <c:v>6.51</c:v>
              </c:pt>
              <c:pt idx="6">
                <c:v>4.53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毫秒</a:t>
                </a:r>
              </a:p>
            </c:rich>
          </c:tx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Baseline 模块剖析 (ms)</c:v>
          </c:tx>
          <c:spPr>
            <a:solidFill xmlns:a="http://schemas.openxmlformats.org/drawingml/2006/main">
              <a:srgbClr val="E5484D"/>
            </a:solidFill>
          </c:spPr>
          <c:cat>
            <c:strLit>
              <c:ptCount val="3"/>
              <c:pt idx="0">
                <c:v>Backbone</c:v>
              </c:pt>
              <c:pt idx="1">
                <c:v>Neck</c:v>
              </c:pt>
              <c:pt idx="2">
                <c:v>Detect + Pose</c:v>
              </c:pt>
            </c:strLit>
          </c:cat>
          <c:val>
            <c:numLit>
              <c:formatCode>General</c:formatCode>
              <c:ptCount val="3"/>
              <c:pt idx="0">
                <c:v>2.9275</c:v>
              </c:pt>
              <c:pt idx="1">
                <c:v>1.6575</c:v>
              </c:pt>
              <c:pt idx="2">
                <c:v>2.1431</c:v>
              </c:pt>
            </c:numLit>
          </c:val>
        </c:ser>
        <c:ser>
          <c:idx val="1"/>
          <c:order val="1"/>
          <c:tx>
            <c:v>FastHead 模块剖析 (ms)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Backbone</c:v>
              </c:pt>
              <c:pt idx="1">
                <c:v>Neck</c:v>
              </c:pt>
              <c:pt idx="2">
                <c:v>Detect + Pose</c:v>
              </c:pt>
            </c:strLit>
          </c:cat>
          <c:val>
            <c:numLit>
              <c:formatCode>General</c:formatCode>
              <c:ptCount val="3"/>
              <c:pt idx="0">
                <c:v>2.6824</c:v>
              </c:pt>
              <c:pt idx="1">
                <c:v>1.5957</c:v>
              </c:pt>
              <c:pt idx="2">
                <c:v>1.6933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相对指数</a:t>
                </a:r>
              </a:p>
            </c:rich>
          </c:tx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76DDBAD-A408-4253-A12E-7D791F93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部门工程实践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63A72C2-986F-482A-AAC1-FA048D86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990600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用 Codex 构建
YOLOPose 训练系统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7A15255-F704-496C-BE3E-6484D8BD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9906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从需求、远程 GPU、训练恢复，到指标、可视门禁与 3.61× 系统优化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C477F6B5-B7A1-4A48-BCE5-6E9C934F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CarFusion · YOLOv10n · RTX 3090 Ti · 2026.07</a:t>
            </a:r>
          </a:p>
        </p:txBody>
      </p:sp>
    </p:spTree>
    <p:extLst>
      <p:ext uri="{BB962C8B-B14F-4D97-AF65-F5344CB8AC3E}">
        <p14:creationId xmlns:p14="http://schemas.microsoft.com/office/powerpoint/2010/main" val="256010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2">
            <a:extLst xmlns:a="http://schemas.openxmlformats.org/drawingml/2006/main">
              <a:ext uri="{FF2B5EF4-FFF2-40B4-BE49-F238E27FC236}">
                <a16:creationId xmlns:a16="http://schemas.microsoft.com/office/drawing/2014/main" id="{FBDD2EA4-B671-4FF6-B4BB-7F2657B8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E5F7527-4FDD-4BDD-971E-BC40FF55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任务不是“写一个 Head”，而是交付可审计闭环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DCBD2FA4-F908-4AE1-93C3-E8A0A67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4" name="s2-l1">
            <a:extLst xmlns:a="http://schemas.openxmlformats.org/drawingml/2006/main">
              <a:ext uri="{FF2B5EF4-FFF2-40B4-BE49-F238E27FC236}">
                <a16:creationId xmlns:a16="http://schemas.microsoft.com/office/drawing/2014/main" id="{4828FDAE-812C-4D47-B6D9-EC783D48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输入</a:t>
            </a:r>
          </a:p>
        </p:txBody>
      </p:sp>
      <p:sp>
        <p:nvSpPr>
          <p:cNvPr id="5" name="s2-b1">
            <a:extLst xmlns:a="http://schemas.openxmlformats.org/drawingml/2006/main">
              <a:ext uri="{FF2B5EF4-FFF2-40B4-BE49-F238E27FC236}">
                <a16:creationId xmlns:a16="http://schemas.microsoft.com/office/drawing/2014/main" id="{BA25FDA1-1438-4B1F-BB74-5E4B881C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95525"/>
            <a:ext cx="4476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一份使用顺序 + 9 个阶段提示词</a:t>
            </a:r>
          </a:p>
        </p:txBody>
      </p:sp>
      <p:sp>
        <p:nvSpPr>
          <p:cNvPr id="6" name="s2-l2">
            <a:extLst xmlns:a="http://schemas.openxmlformats.org/drawingml/2006/main">
              <a:ext uri="{FF2B5EF4-FFF2-40B4-BE49-F238E27FC236}">
                <a16:creationId xmlns:a16="http://schemas.microsoft.com/office/drawing/2014/main" id="{F98C2AF0-8EC6-47E9-897F-6830D0C3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约束</a:t>
            </a:r>
          </a:p>
        </p:txBody>
      </p:sp>
      <p:sp>
        <p:nvSpPr>
          <p:cNvPr id="7" name="s2-b2">
            <a:extLst xmlns:a="http://schemas.openxmlformats.org/drawingml/2006/main">
              <a:ext uri="{FF2B5EF4-FFF2-40B4-BE49-F238E27FC236}">
                <a16:creationId xmlns:a16="http://schemas.microsoft.com/office/drawing/2014/main" id="{6AB57DD4-2D5F-4AA0-BF7F-4705F0FB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4762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不破坏检测语义；不伪造数据与指标；每一步留下证据</a:t>
            </a:r>
          </a:p>
        </p:txBody>
      </p:sp>
      <p:sp>
        <p:nvSpPr>
          <p:cNvPr id="8" name="s2-l3">
            <a:extLst xmlns:a="http://schemas.openxmlformats.org/drawingml/2006/main">
              <a:ext uri="{FF2B5EF4-FFF2-40B4-BE49-F238E27FC236}">
                <a16:creationId xmlns:a16="http://schemas.microsoft.com/office/drawing/2014/main" id="{8ABCE45F-5158-428C-8C75-113F065A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交付</a:t>
            </a:r>
          </a:p>
        </p:txBody>
      </p:sp>
      <p:sp>
        <p:nvSpPr>
          <p:cNvPr id="9" name="s2-b3">
            <a:extLst xmlns:a="http://schemas.openxmlformats.org/drawingml/2006/main">
              <a:ext uri="{FF2B5EF4-FFF2-40B4-BE49-F238E27FC236}">
                <a16:creationId xmlns:a16="http://schemas.microsoft.com/office/drawing/2014/main" id="{AF9293B6-6A39-4894-A861-F83ED44A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476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代码 + 测试 + 训练 + 评估 + benchmark + 文档</a:t>
            </a:r>
          </a:p>
        </p:txBody>
      </p:sp>
      <p:sp>
        <p:nvSpPr>
          <p:cNvPr id="10" name="s2-image-frame">
            <a:extLst xmlns:a="http://schemas.openxmlformats.org/drawingml/2006/main">
              <a:ext uri="{FF2B5EF4-FFF2-40B4-BE49-F238E27FC236}">
                <a16:creationId xmlns:a16="http://schemas.microsoft.com/office/drawing/2014/main" id="{B78F0978-41B6-44D3-9E77-B91774FB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66875"/>
            <a:ext cx="61722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8aec4fe594810"/>
          <a:srcRect xmlns:a="http://schemas.openxmlformats.org/drawingml/2006/main" l="9857" t="0" r="9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666875"/>
            <a:ext cx="6172200" cy="4324350"/>
          </a:xfrm>
          <a:prstGeom xmlns:a="http://schemas.openxmlformats.org/drawingml/2006/main" prst="roundRect">
            <a:avLst>
              <a:gd name="adj" fmla="val 2643"/>
            </a:avLst>
          </a:prstGeom>
        </p:spPr>
      </p:pic>
    </p:spTree>
    <p:extLst>
      <p:ext uri="{BB962C8B-B14F-4D97-AF65-F5344CB8AC3E}">
        <p14:creationId xmlns:p14="http://schemas.microsoft.com/office/powerpoint/2010/main" val="21271715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92E18254-DD6E-44FA-A7EA-A14FC558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1A7135E-D6BA-443E-88BB-2C1D4CC5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Codex 把自然语言目标变成九阶段门禁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843EF000-5860-40A6-91B7-91FB7CE8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cxnSp>
        <p:nvCxnSpPr>
          <p:cNvPr id="59" name="s3-axis"/>
          <p:cNvCxnSpPr/>
          <p:nvPr/>
        </p:nvCxnSpPr>
        <p:spPr>
          <a:xfrm xmlns:a="http://schemas.openxmlformats.org/drawingml/2006/main">
            <a:off x="742950" y="3333750"/>
            <a:ext cx="106870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3-node1">
            <a:extLst xmlns:a="http://schemas.openxmlformats.org/drawingml/2006/main">
              <a:ext uri="{FF2B5EF4-FFF2-40B4-BE49-F238E27FC236}">
                <a16:creationId xmlns:a16="http://schemas.microsoft.com/office/drawing/2014/main" id="{CEB607B0-5191-4865-8BF2-D92A7046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node2">
            <a:extLst xmlns:a="http://schemas.openxmlformats.org/drawingml/2006/main">
              <a:ext uri="{FF2B5EF4-FFF2-40B4-BE49-F238E27FC236}">
                <a16:creationId xmlns:a16="http://schemas.microsoft.com/office/drawing/2014/main" id="{17CB668F-D74D-4192-89CE-3503DED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node3">
            <a:extLst xmlns:a="http://schemas.openxmlformats.org/drawingml/2006/main">
              <a:ext uri="{FF2B5EF4-FFF2-40B4-BE49-F238E27FC236}">
                <a16:creationId xmlns:a16="http://schemas.microsoft.com/office/drawing/2014/main" id="{D60B953B-D150-44C4-B5BE-BCB16F17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node4">
            <a:extLst xmlns:a="http://schemas.openxmlformats.org/drawingml/2006/main">
              <a:ext uri="{FF2B5EF4-FFF2-40B4-BE49-F238E27FC236}">
                <a16:creationId xmlns:a16="http://schemas.microsoft.com/office/drawing/2014/main" id="{4ED32FCC-3A52-4B8D-85CE-1614522B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-label1">
            <a:extLst xmlns:a="http://schemas.openxmlformats.org/drawingml/2006/main">
              <a:ext uri="{FF2B5EF4-FFF2-40B4-BE49-F238E27FC236}">
                <a16:creationId xmlns:a16="http://schemas.microsoft.com/office/drawing/2014/main" id="{F23FC516-5CDD-4360-94E3-E55A59BF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01–03</a:t>
            </a:r>
          </a:p>
        </p:txBody>
      </p:sp>
      <p:sp>
        <p:nvSpPr>
          <p:cNvPr id="10" name="s3-label2">
            <a:extLst xmlns:a="http://schemas.openxmlformats.org/drawingml/2006/main">
              <a:ext uri="{FF2B5EF4-FFF2-40B4-BE49-F238E27FC236}">
                <a16:creationId xmlns:a16="http://schemas.microsoft.com/office/drawing/2014/main" id="{C2E476CB-E5BC-4DFB-A9A7-8AAA2BB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04–06</a:t>
            </a:r>
          </a:p>
        </p:txBody>
      </p:sp>
      <p:sp>
        <p:nvSpPr>
          <p:cNvPr id="11" name="s3-label3">
            <a:extLst xmlns:a="http://schemas.openxmlformats.org/drawingml/2006/main">
              <a:ext uri="{FF2B5EF4-FFF2-40B4-BE49-F238E27FC236}">
                <a16:creationId xmlns:a16="http://schemas.microsoft.com/office/drawing/2014/main" id="{B62DE044-6CA7-486A-8C63-465254E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07–08</a:t>
            </a:r>
          </a:p>
        </p:txBody>
      </p:sp>
      <p:sp>
        <p:nvSpPr>
          <p:cNvPr id="12" name="s3-label4">
            <a:extLst xmlns:a="http://schemas.openxmlformats.org/drawingml/2006/main">
              <a:ext uri="{FF2B5EF4-FFF2-40B4-BE49-F238E27FC236}">
                <a16:creationId xmlns:a16="http://schemas.microsoft.com/office/drawing/2014/main" id="{9EEE30B3-EF42-464E-B7B9-EBADDA80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43200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  <p:sp>
        <p:nvSpPr>
          <p:cNvPr id="13" name="s3-title1">
            <a:extLst xmlns:a="http://schemas.openxmlformats.org/drawingml/2006/main">
              <a:ext uri="{FF2B5EF4-FFF2-40B4-BE49-F238E27FC236}">
                <a16:creationId xmlns:a16="http://schemas.microsoft.com/office/drawing/2014/main" id="{67430A42-3894-4E28-8BF5-8DE95541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审计与设计</a:t>
            </a:r>
          </a:p>
        </p:txBody>
      </p:sp>
      <p:sp>
        <p:nvSpPr>
          <p:cNvPr id="14" name="s3-body1">
            <a:extLst xmlns:a="http://schemas.openxmlformats.org/drawingml/2006/main">
              <a:ext uri="{FF2B5EF4-FFF2-40B4-BE49-F238E27FC236}">
                <a16:creationId xmlns:a16="http://schemas.microsoft.com/office/drawing/2014/main" id="{5A6A2AC7-03C2-47D6-B178-DBB4EBF3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固定上游
读取调用链
定义风险与验收</a:t>
            </a:r>
          </a:p>
        </p:txBody>
      </p:sp>
      <p:sp>
        <p:nvSpPr>
          <p:cNvPr id="15" name="s3-title2">
            <a:extLst xmlns:a="http://schemas.openxmlformats.org/drawingml/2006/main">
              <a:ext uri="{FF2B5EF4-FFF2-40B4-BE49-F238E27FC236}">
                <a16:creationId xmlns:a16="http://schemas.microsoft.com/office/drawing/2014/main" id="{CD6B03EE-A8C2-4174-96BA-B89EBF1D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实现与训练</a:t>
            </a:r>
          </a:p>
        </p:txBody>
      </p:sp>
      <p:sp>
        <p:nvSpPr>
          <p:cNvPr id="16" name="s3-body2">
            <a:extLst xmlns:a="http://schemas.openxmlformats.org/drawingml/2006/main">
              <a:ext uri="{FF2B5EF4-FFF2-40B4-BE49-F238E27FC236}">
                <a16:creationId xmlns:a16="http://schemas.microsoft.com/office/drawing/2014/main" id="{328A32BD-DA51-4867-9E06-ED06AB2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2857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TDD 实现
数据转换 / 质检
smoke → overfit → baseline</a:t>
            </a:r>
          </a:p>
        </p:txBody>
      </p:sp>
      <p:sp>
        <p:nvSpPr>
          <p:cNvPr id="17" name="s3-title3">
            <a:extLst xmlns:a="http://schemas.openxmlformats.org/drawingml/2006/main">
              <a:ext uri="{FF2B5EF4-FFF2-40B4-BE49-F238E27FC236}">
                <a16:creationId xmlns:a16="http://schemas.microsoft.com/office/drawing/2014/main" id="{86645C46-4239-4997-BF3F-7F5E867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评估与优化</a:t>
            </a:r>
          </a:p>
        </p:txBody>
      </p:sp>
      <p:sp>
        <p:nvSpPr>
          <p:cNvPr id="18" name="s3-body3">
            <a:extLst xmlns:a="http://schemas.openxmlformats.org/drawingml/2006/main">
              <a:ext uri="{FF2B5EF4-FFF2-40B4-BE49-F238E27FC236}">
                <a16:creationId xmlns:a16="http://schemas.microsoft.com/office/drawing/2014/main" id="{BFB3DEE9-B78A-4C05-A291-60604385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指标 + 可视门禁
benchmark
独立性能验证</a:t>
            </a:r>
          </a:p>
        </p:txBody>
      </p:sp>
      <p:sp>
        <p:nvSpPr>
          <p:cNvPr id="19" name="s3-title4">
            <a:extLst xmlns:a="http://schemas.openxmlformats.org/drawingml/2006/main">
              <a:ext uri="{FF2B5EF4-FFF2-40B4-BE49-F238E27FC236}">
                <a16:creationId xmlns:a16="http://schemas.microsoft.com/office/drawing/2014/main" id="{00D52671-1CBB-48CC-9D02-144982A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可复现交付</a:t>
            </a:r>
          </a:p>
        </p:txBody>
      </p:sp>
    </p:spTree>
    <p:extLst>
      <p:ext uri="{BB962C8B-B14F-4D97-AF65-F5344CB8AC3E}">
        <p14:creationId xmlns:p14="http://schemas.microsoft.com/office/powerpoint/2010/main" val="1054704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4">
            <a:extLst xmlns:a="http://schemas.openxmlformats.org/drawingml/2006/main">
              <a:ext uri="{FF2B5EF4-FFF2-40B4-BE49-F238E27FC236}">
                <a16:creationId xmlns:a16="http://schemas.microsoft.com/office/drawing/2014/main" id="{E1337F58-A6A9-4527-8756-BC5FD30B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EB9FBB8E-B20F-41A7-9CFF-8FCDD787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先审计真实调用链，关键点监督才不会错位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34230DE4-DB60-4843-9907-0AB0A594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4" name="s4-left-title">
            <a:extLst xmlns:a="http://schemas.openxmlformats.org/drawingml/2006/main">
              <a:ext uri="{FF2B5EF4-FFF2-40B4-BE49-F238E27FC236}">
                <a16:creationId xmlns:a16="http://schemas.microsoft.com/office/drawing/2014/main" id="{A2477635-937A-4A9A-B33A-65FF1C6B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YOLOv10 的关键风险</a:t>
            </a:r>
          </a:p>
        </p:txBody>
      </p:sp>
      <p:sp>
        <p:nvSpPr>
          <p:cNvPr id="5" name="s4-left-body">
            <a:extLst xmlns:a="http://schemas.openxmlformats.org/drawingml/2006/main">
              <a:ext uri="{FF2B5EF4-FFF2-40B4-BE49-F238E27FC236}">
                <a16:creationId xmlns:a16="http://schemas.microsoft.com/office/drawing/2014/main" id="{73F26C40-929A-45D0-B906-085A6CA3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409575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训练同时存在 one-to-many 与 one-to-one 分支。关键点必须继承各自 bbox assigner 的 target_gt_idx，不能按预测框顺序猜 GT。</a:t>
            </a:r>
          </a:p>
        </p:txBody>
      </p:sp>
      <p:sp>
        <p:nvSpPr>
          <p:cNvPr id="6" name="s4-code-bg">
            <a:extLst xmlns:a="http://schemas.openxmlformats.org/drawingml/2006/main">
              <a:ext uri="{FF2B5EF4-FFF2-40B4-BE49-F238E27FC236}">
                <a16:creationId xmlns:a16="http://schemas.microsoft.com/office/drawing/2014/main" id="{8FB7B538-7778-4F13-97AA-DF63C814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4-code">
            <a:extLst xmlns:a="http://schemas.openxmlformats.org/drawingml/2006/main">
              <a:ext uri="{FF2B5EF4-FFF2-40B4-BE49-F238E27FC236}">
                <a16:creationId xmlns:a16="http://schemas.microsoft.com/office/drawing/2014/main" id="{45BDBAC4-9728-42CF-9D51-688973D4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5623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t>target_gt_idx
  → matched GT keypoints
  → pose / visibility loss</a:t>
            </a:r>
          </a:p>
        </p:txBody>
      </p:sp>
      <p:cxnSp>
        <p:nvCxnSpPr>
          <p:cNvPr id="107" name="s4-arrow1"/>
          <p:cNvCxnSpPr/>
          <p:nvPr/>
        </p:nvCxnSpPr>
        <p:spPr>
          <a:xfrm xmlns:a="http://schemas.openxmlformats.org/drawingml/2006/main">
            <a:off x="5048250" y="2876550"/>
            <a:ext cx="114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108" name="s4-arrow2"/>
          <p:cNvCxnSpPr/>
          <p:nvPr/>
        </p:nvCxnSpPr>
        <p:spPr>
          <a:xfrm xmlns:a="http://schemas.openxmlformats.org/drawingml/2006/main">
            <a:off x="7762875" y="2876550"/>
            <a:ext cx="114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0" name="s4-n1">
            <a:extLst xmlns:a="http://schemas.openxmlformats.org/drawingml/2006/main">
              <a:ext uri="{FF2B5EF4-FFF2-40B4-BE49-F238E27FC236}">
                <a16:creationId xmlns:a16="http://schemas.microsoft.com/office/drawing/2014/main" id="{038804CA-7AE9-4B5C-8A1A-09EC8747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14550"/>
            <a:ext cx="2333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4-n1t">
            <a:extLst xmlns:a="http://schemas.openxmlformats.org/drawingml/2006/main">
              <a:ext uri="{FF2B5EF4-FFF2-40B4-BE49-F238E27FC236}">
                <a16:creationId xmlns:a16="http://schemas.microsoft.com/office/drawing/2014/main" id="{C1B7F502-BFA3-4DE0-A109-EC83C354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765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01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Backbone / Neck</a:t>
            </a:r>
          </a:p>
        </p:txBody>
      </p:sp>
      <p:sp>
        <p:nvSpPr>
          <p:cNvPr id="12" name="s4-n1b">
            <a:extLst xmlns:a="http://schemas.openxmlformats.org/drawingml/2006/main">
              <a:ext uri="{FF2B5EF4-FFF2-40B4-BE49-F238E27FC236}">
                <a16:creationId xmlns:a16="http://schemas.microsoft.com/office/drawing/2014/main" id="{79939B4A-6DB6-4443-935C-5ED4159A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0990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P3 · P4 · P5</a:t>
            </a:r>
          </a:p>
        </p:txBody>
      </p:sp>
      <p:sp>
        <p:nvSpPr>
          <p:cNvPr id="13" name="s4-n2">
            <a:extLst xmlns:a="http://schemas.openxmlformats.org/drawingml/2006/main">
              <a:ext uri="{FF2B5EF4-FFF2-40B4-BE49-F238E27FC236}">
                <a16:creationId xmlns:a16="http://schemas.microsoft.com/office/drawing/2014/main" id="{E6E0FB75-6B73-447A-9D66-3EB8A938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14550"/>
            <a:ext cx="2333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4-n2t">
            <a:extLst xmlns:a="http://schemas.openxmlformats.org/drawingml/2006/main">
              <a:ext uri="{FF2B5EF4-FFF2-40B4-BE49-F238E27FC236}">
                <a16:creationId xmlns:a16="http://schemas.microsoft.com/office/drawing/2014/main" id="{C7E2C77D-5746-4EB7-BB68-31A32DAE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765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52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v10Pose Head</a:t>
            </a:r>
          </a:p>
        </p:txBody>
      </p:sp>
      <p:sp>
        <p:nvSpPr>
          <p:cNvPr id="15" name="s4-n2b">
            <a:extLst xmlns:a="http://schemas.openxmlformats.org/drawingml/2006/main">
              <a:ext uri="{FF2B5EF4-FFF2-40B4-BE49-F238E27FC236}">
                <a16:creationId xmlns:a16="http://schemas.microsoft.com/office/drawing/2014/main" id="{A2A1C012-13BD-463A-A342-6EE78620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0990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14 × 3 · pure conv</a:t>
            </a:r>
          </a:p>
        </p:txBody>
      </p:sp>
      <p:sp>
        <p:nvSpPr>
          <p:cNvPr id="16" name="s4-n3">
            <a:extLst xmlns:a="http://schemas.openxmlformats.org/drawingml/2006/main">
              <a:ext uri="{FF2B5EF4-FFF2-40B4-BE49-F238E27FC236}">
                <a16:creationId xmlns:a16="http://schemas.microsoft.com/office/drawing/2014/main" id="{2EF1589B-5778-403B-B03B-EA70FE87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114550"/>
            <a:ext cx="1362075" cy="156210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4-n3t">
            <a:extLst xmlns:a="http://schemas.openxmlformats.org/drawingml/2006/main">
              <a:ext uri="{FF2B5EF4-FFF2-40B4-BE49-F238E27FC236}">
                <a16:creationId xmlns:a16="http://schemas.microsoft.com/office/drawing/2014/main" id="{E554EAE9-1E29-41EF-BABE-12EC9D13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457450"/>
            <a:ext cx="1047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双分支
Loss</a:t>
            </a:r>
          </a:p>
        </p:txBody>
      </p:sp>
      <p:sp>
        <p:nvSpPr>
          <p:cNvPr id="18" name="s4-foot">
            <a:extLst xmlns:a="http://schemas.openxmlformats.org/drawingml/2006/main">
              <a:ext uri="{FF2B5EF4-FFF2-40B4-BE49-F238E27FC236}">
                <a16:creationId xmlns:a16="http://schemas.microsoft.com/office/drawing/2014/main" id="{8D619FAA-F475-4E3F-8DBD-108298C3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05300"/>
            <a:ext cx="66484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训练保留 Detect；推理只取 one-to-one / NMS-free</a:t>
            </a:r>
          </a:p>
        </p:txBody>
      </p:sp>
    </p:spTree>
    <p:extLst>
      <p:ext uri="{BB962C8B-B14F-4D97-AF65-F5344CB8AC3E}">
        <p14:creationId xmlns:p14="http://schemas.microsoft.com/office/powerpoint/2010/main" val="19460946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5">
            <a:extLst xmlns:a="http://schemas.openxmlformats.org/drawingml/2006/main">
              <a:ext uri="{FF2B5EF4-FFF2-40B4-BE49-F238E27FC236}">
                <a16:creationId xmlns:a16="http://schemas.microsoft.com/office/drawing/2014/main" id="{B60D47D4-F4EF-4B91-BFEE-FD37A2EF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D3B52A8-4397-4278-B1E5-354A16CA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测试把“应该正确”变成可重复证据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F1F707C0-880E-44A8-888C-EF63B14C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4" name="s5-intro">
            <a:extLst xmlns:a="http://schemas.openxmlformats.org/drawingml/2006/main">
              <a:ext uri="{FF2B5EF4-FFF2-40B4-BE49-F238E27FC236}">
                <a16:creationId xmlns:a16="http://schemas.microsoft.com/office/drawing/2014/main" id="{54F71FBE-0422-4C32-A424-DE63B9DA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715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先定义可检查的不变量，再写最小实现。最终全量 pytest 退出码为 0；Vehicle Pose 聚焦回归 9/9 通过。</a:t>
            </a:r>
          </a:p>
        </p:txBody>
      </p:sp>
      <p:sp>
        <p:nvSpPr>
          <p:cNvPr id="5" name="s5-c1">
            <a:extLst xmlns:a="http://schemas.openxmlformats.org/drawingml/2006/main">
              <a:ext uri="{FF2B5EF4-FFF2-40B4-BE49-F238E27FC236}">
                <a16:creationId xmlns:a16="http://schemas.microsoft.com/office/drawing/2014/main" id="{7A0F2B23-8452-439E-9095-6BD851AF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assigner GT 索引贯穿 bbox 与 keypoint</a:t>
            </a:r>
          </a:p>
        </p:txBody>
      </p:sp>
      <p:sp>
        <p:nvSpPr>
          <p:cNvPr id="6" name="s5-c2">
            <a:extLst xmlns:a="http://schemas.openxmlformats.org/drawingml/2006/main">
              <a:ext uri="{FF2B5EF4-FFF2-40B4-BE49-F238E27FC236}">
                <a16:creationId xmlns:a16="http://schemas.microsoft.com/office/drawing/2014/main" id="{8EA601F5-57F8-4B89-88E8-81FDA9E1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003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one-to-many / one-to-one 均可反传</a:t>
            </a:r>
          </a:p>
        </p:txBody>
      </p:sp>
      <p:sp>
        <p:nvSpPr>
          <p:cNvPr id="7" name="s5-c3">
            <a:extLst xmlns:a="http://schemas.openxmlformats.org/drawingml/2006/main">
              <a:ext uri="{FF2B5EF4-FFF2-40B4-BE49-F238E27FC236}">
                <a16:creationId xmlns:a16="http://schemas.microsoft.com/office/drawing/2014/main" id="{6B97BC7A-6E69-4F6E-909E-49614C63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861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空目标、checkpoint、官方 Detect 回归</a:t>
            </a:r>
          </a:p>
        </p:txBody>
      </p:sp>
      <p:sp>
        <p:nvSpPr>
          <p:cNvPr id="8" name="s5-c4">
            <a:extLst xmlns:a="http://schemas.openxmlformats.org/drawingml/2006/main">
              <a:ext uri="{FF2B5EF4-FFF2-40B4-BE49-F238E27FC236}">
                <a16:creationId xmlns:a16="http://schemas.microsoft.com/office/drawing/2014/main" id="{DE5A224D-CDBF-4141-B6D3-74A0A710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719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one2one_only 与原输出最大误差 0</a:t>
            </a:r>
          </a:p>
        </p:txBody>
      </p:sp>
      <p:sp>
        <p:nvSpPr>
          <p:cNvPr id="9" name="s5-c5">
            <a:extLst xmlns:a="http://schemas.openxmlformats.org/drawingml/2006/main">
              <a:ext uri="{FF2B5EF4-FFF2-40B4-BE49-F238E27FC236}">
                <a16:creationId xmlns:a16="http://schemas.microsoft.com/office/drawing/2014/main" id="{A2243EEA-281A-4F06-95FE-42AEB2D7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577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Predictor xywh → xyxy 回归测试</a:t>
            </a:r>
          </a:p>
        </p:txBody>
      </p:sp>
      <p:sp>
        <p:nvSpPr>
          <p:cNvPr id="10" name="s5-stat">
            <a:extLst xmlns:a="http://schemas.openxmlformats.org/drawingml/2006/main">
              <a:ext uri="{FF2B5EF4-FFF2-40B4-BE49-F238E27FC236}">
                <a16:creationId xmlns:a16="http://schemas.microsoft.com/office/drawing/2014/main" id="{B1938139-C968-4F69-9F9C-6FF78366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524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5-stat-value">
            <a:extLst xmlns:a="http://schemas.openxmlformats.org/drawingml/2006/main">
              <a:ext uri="{FF2B5EF4-FFF2-40B4-BE49-F238E27FC236}">
                <a16:creationId xmlns:a16="http://schemas.microsoft.com/office/drawing/2014/main" id="{E9A7314E-D399-4C5A-BAF1-2CED6EA1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2190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9 / 9</a:t>
            </a:r>
          </a:p>
        </p:txBody>
      </p:sp>
      <p:sp>
        <p:nvSpPr>
          <p:cNvPr id="12" name="s5-stat-label">
            <a:extLst xmlns:a="http://schemas.openxmlformats.org/drawingml/2006/main">
              <a:ext uri="{FF2B5EF4-FFF2-40B4-BE49-F238E27FC236}">
                <a16:creationId xmlns:a16="http://schemas.microsoft.com/office/drawing/2014/main" id="{03D16B6E-9B60-4CF7-A85F-332B32F8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342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Vehicle Pose 回归
1.18 秒完成</a:t>
            </a:r>
          </a:p>
        </p:txBody>
      </p:sp>
    </p:spTree>
    <p:extLst>
      <p:ext uri="{BB962C8B-B14F-4D97-AF65-F5344CB8AC3E}">
        <p14:creationId xmlns:p14="http://schemas.microsoft.com/office/powerpoint/2010/main" val="11153363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6">
            <a:extLst xmlns:a="http://schemas.openxmlformats.org/drawingml/2006/main">
              <a:ext uri="{FF2B5EF4-FFF2-40B4-BE49-F238E27FC236}">
                <a16:creationId xmlns:a16="http://schemas.microsoft.com/office/drawing/2014/main" id="{953F78EF-FA03-45BA-94E6-4118A4E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CAF357F-A008-424C-B961-67DAB59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远程长任务靠断点、哈希和门禁推进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5504692-3C37-4D2F-8086-84775BAA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06</a:t>
            </a:r>
          </a:p>
        </p:txBody>
      </p:sp>
      <p:sp>
        <p:nvSpPr>
          <p:cNvPr id="4" name="s6-card1">
            <a:extLst xmlns:a="http://schemas.openxmlformats.org/drawingml/2006/main">
              <a:ext uri="{FF2B5EF4-FFF2-40B4-BE49-F238E27FC236}">
                <a16:creationId xmlns:a16="http://schemas.microsoft.com/office/drawing/2014/main" id="{6F505442-4984-4119-A7F4-BEE316F1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card2">
            <a:extLst xmlns:a="http://schemas.openxmlformats.org/drawingml/2006/main">
              <a:ext uri="{FF2B5EF4-FFF2-40B4-BE49-F238E27FC236}">
                <a16:creationId xmlns:a16="http://schemas.microsoft.com/office/drawing/2014/main" id="{6571E7CC-A9F6-4CD6-B638-BAF641CC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card3">
            <a:extLst xmlns:a="http://schemas.openxmlformats.org/drawingml/2006/main">
              <a:ext uri="{FF2B5EF4-FFF2-40B4-BE49-F238E27FC236}">
                <a16:creationId xmlns:a16="http://schemas.microsoft.com/office/drawing/2014/main" id="{CEDF93D0-EA0B-423B-A2C0-B190340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k1">
            <a:extLst xmlns:a="http://schemas.openxmlformats.org/drawingml/2006/main">
              <a:ext uri="{FF2B5EF4-FFF2-40B4-BE49-F238E27FC236}">
                <a16:creationId xmlns:a16="http://schemas.microsoft.com/office/drawing/2014/main" id="{FAAD76E6-DA93-4CCE-9628-AB16DAC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数据</a:t>
            </a:r>
          </a:p>
        </p:txBody>
      </p:sp>
      <p:sp>
        <p:nvSpPr>
          <p:cNvPr id="8" name="s6-t1">
            <a:extLst xmlns:a="http://schemas.openxmlformats.org/drawingml/2006/main">
              <a:ext uri="{FF2B5EF4-FFF2-40B4-BE49-F238E27FC236}">
                <a16:creationId xmlns:a16="http://schemas.microsoft.com/office/drawing/2014/main" id="{9F6D837B-C583-42AC-9669-924DDEB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32 GiB 归档
先 SHA-256，再解压</a:t>
            </a:r>
          </a:p>
        </p:txBody>
      </p:sp>
      <p:sp>
        <p:nvSpPr>
          <p:cNvPr id="9" name="s6-b1">
            <a:extLst xmlns:a="http://schemas.openxmlformats.org/drawingml/2006/main">
              <a:ext uri="{FF2B5EF4-FFF2-40B4-BE49-F238E27FC236}">
                <a16:creationId xmlns:a16="http://schemas.microsoft.com/office/drawing/2014/main" id="{330B87E2-9D45-4586-BA2A-30E73DA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磁盘不足后改到 Windows E 盘；不把半截归档当成可用数据。</a:t>
            </a:r>
          </a:p>
        </p:txBody>
      </p:sp>
      <p:sp>
        <p:nvSpPr>
          <p:cNvPr id="10" name="s6-k2">
            <a:extLst xmlns:a="http://schemas.openxmlformats.org/drawingml/2006/main">
              <a:ext uri="{FF2B5EF4-FFF2-40B4-BE49-F238E27FC236}">
                <a16:creationId xmlns:a16="http://schemas.microsoft.com/office/drawing/2014/main" id="{F0D3AB0A-084D-42C7-BBC9-6263369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训练</a:t>
            </a:r>
          </a:p>
        </p:txBody>
      </p:sp>
      <p:sp>
        <p:nvSpPr>
          <p:cNvPr id="11" name="s6-t2">
            <a:extLst xmlns:a="http://schemas.openxmlformats.org/drawingml/2006/main">
              <a:ext uri="{FF2B5EF4-FFF2-40B4-BE49-F238E27FC236}">
                <a16:creationId xmlns:a16="http://schemas.microsoft.com/office/drawing/2014/main" id="{8B3964F3-CC8F-43AF-B2BB-BE0F4DC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epoch 176
WSL 重启中断</a:t>
            </a:r>
          </a:p>
        </p:txBody>
      </p:sp>
      <p:sp>
        <p:nvSpPr>
          <p:cNvPr id="12" name="s6-b2">
            <a:extLst xmlns:a="http://schemas.openxmlformats.org/drawingml/2006/main">
              <a:ext uri="{FF2B5EF4-FFF2-40B4-BE49-F238E27FC236}">
                <a16:creationId xmlns:a16="http://schemas.microsoft.com/office/drawing/2014/main" id="{18AAB9C3-92E5-4D15-9C6C-7A1785B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核对进程、挂载、last.pt 和 results.csv；只续跑原任务，不启动重复 baseline。</a:t>
            </a:r>
          </a:p>
        </p:txBody>
      </p:sp>
      <p:sp>
        <p:nvSpPr>
          <p:cNvPr id="13" name="s6-k3">
            <a:extLst xmlns:a="http://schemas.openxmlformats.org/drawingml/2006/main">
              <a:ext uri="{FF2B5EF4-FFF2-40B4-BE49-F238E27FC236}">
                <a16:creationId xmlns:a16="http://schemas.microsoft.com/office/drawing/2014/main" id="{48FA2360-8E9F-4ED2-B563-2296F15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恢复</a:t>
            </a:r>
          </a:p>
        </p:txBody>
      </p:sp>
      <p:sp>
        <p:nvSpPr>
          <p:cNvPr id="14" name="s6-t3">
            <a:extLst xmlns:a="http://schemas.openxmlformats.org/drawingml/2006/main">
              <a:ext uri="{FF2B5EF4-FFF2-40B4-BE49-F238E27FC236}">
                <a16:creationId xmlns:a16="http://schemas.microsoft.com/office/drawing/2014/main" id="{26A71D2F-1DAF-4730-B518-9A5F29C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175 epoch
训练成果保住</a:t>
            </a:r>
          </a:p>
        </p:txBody>
      </p:sp>
      <p:sp>
        <p:nvSpPr>
          <p:cNvPr id="15" name="s6-b3">
            <a:extLst xmlns:a="http://schemas.openxmlformats.org/drawingml/2006/main">
              <a:ext uri="{FF2B5EF4-FFF2-40B4-BE49-F238E27FC236}">
                <a16:creationId xmlns:a16="http://schemas.microsoft.com/office/drawing/2014/main" id="{1F4F2B97-5F7F-4B8E-98E8-FE05C8A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最后 25 epoch 用时 1.230 h；checkpoint 让故障成为可恢复事件。</a:t>
            </a:r>
          </a:p>
        </p:txBody>
      </p:sp>
      <p:cxnSp>
        <p:nvCxnSpPr>
          <p:cNvPr id="179" name="s6-axis"/>
          <p:cNvCxnSpPr/>
          <p:nvPr/>
        </p:nvCxnSpPr>
        <p:spPr>
          <a:xfrm xmlns:a="http://schemas.openxmlformats.org/drawingml/2006/main">
            <a:off x="952500" y="5600700"/>
            <a:ext cx="1000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s6-dot1">
            <a:extLst xmlns:a="http://schemas.openxmlformats.org/drawingml/2006/main">
              <a:ext uri="{FF2B5EF4-FFF2-40B4-BE49-F238E27FC236}">
                <a16:creationId xmlns:a16="http://schemas.microsoft.com/office/drawing/2014/main" id="{5DCB7394-88A7-4642-9642-4C6DE78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dot2">
            <a:extLst xmlns:a="http://schemas.openxmlformats.org/drawingml/2006/main">
              <a:ext uri="{FF2B5EF4-FFF2-40B4-BE49-F238E27FC236}">
                <a16:creationId xmlns:a16="http://schemas.microsoft.com/office/drawing/2014/main" id="{41A30679-9092-4CF1-BD23-5A231F3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dot3">
            <a:extLst xmlns:a="http://schemas.openxmlformats.org/drawingml/2006/main">
              <a:ext uri="{FF2B5EF4-FFF2-40B4-BE49-F238E27FC236}">
                <a16:creationId xmlns:a16="http://schemas.microsoft.com/office/drawing/2014/main" id="{2CB30759-7BF8-4ED3-A918-FE25518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04206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7">
            <a:extLst xmlns:a="http://schemas.openxmlformats.org/drawingml/2006/main">
              <a:ext uri="{FF2B5EF4-FFF2-40B4-BE49-F238E27FC236}">
                <a16:creationId xmlns:a16="http://schemas.microsoft.com/office/drawing/2014/main" id="{55FDED32-D549-4A73-9400-762D7D7B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DA722D4-6469-4870-813C-89524112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200 epochs 后，检测与姿态形成可复现基线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29CCC1C3-69E8-493B-B705-0877062D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07</a:t>
            </a:r>
          </a:p>
        </p:txBody>
      </p:sp>
      <p:sp>
        <p:nvSpPr>
          <p:cNvPr id="4" name="s7-stat1">
            <a:extLst xmlns:a="http://schemas.openxmlformats.org/drawingml/2006/main">
              <a:ext uri="{FF2B5EF4-FFF2-40B4-BE49-F238E27FC236}">
                <a16:creationId xmlns:a16="http://schemas.microsoft.com/office/drawing/2014/main" id="{D5D6A779-B49F-4E66-9AB8-D959F095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7-stat2">
            <a:extLst xmlns:a="http://schemas.openxmlformats.org/drawingml/2006/main">
              <a:ext uri="{FF2B5EF4-FFF2-40B4-BE49-F238E27FC236}">
                <a16:creationId xmlns:a16="http://schemas.microsoft.com/office/drawing/2014/main" id="{6491C3E3-81BD-4172-8022-1C3119C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7-stat3">
            <a:extLst xmlns:a="http://schemas.openxmlformats.org/drawingml/2006/main">
              <a:ext uri="{FF2B5EF4-FFF2-40B4-BE49-F238E27FC236}">
                <a16:creationId xmlns:a16="http://schemas.microsoft.com/office/drawing/2014/main" id="{9ED630AF-8B06-43EE-B3DF-33DEAA25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7-v1">
            <a:extLst xmlns:a="http://schemas.openxmlformats.org/drawingml/2006/main">
              <a:ext uri="{FF2B5EF4-FFF2-40B4-BE49-F238E27FC236}">
                <a16:creationId xmlns:a16="http://schemas.microsoft.com/office/drawing/2014/main" id="{6439BBC3-6AC6-487D-9CC5-35162754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0.665</a:t>
            </a:r>
          </a:p>
        </p:txBody>
      </p:sp>
      <p:sp>
        <p:nvSpPr>
          <p:cNvPr id="8" name="s7-l1">
            <a:extLst xmlns:a="http://schemas.openxmlformats.org/drawingml/2006/main">
              <a:ext uri="{FF2B5EF4-FFF2-40B4-BE49-F238E27FC236}">
                <a16:creationId xmlns:a16="http://schemas.microsoft.com/office/drawing/2014/main" id="{23CF6CC3-BD80-4603-8198-A2A4F95B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Box mAP50-95</a:t>
            </a:r>
          </a:p>
        </p:txBody>
      </p:sp>
      <p:sp>
        <p:nvSpPr>
          <p:cNvPr id="9" name="s7-v2">
            <a:extLst xmlns:a="http://schemas.openxmlformats.org/drawingml/2006/main">
              <a:ext uri="{FF2B5EF4-FFF2-40B4-BE49-F238E27FC236}">
                <a16:creationId xmlns:a16="http://schemas.microsoft.com/office/drawing/2014/main" id="{05ECF9EB-2985-4815-903C-537C035F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0.515</a:t>
            </a:r>
          </a:p>
        </p:txBody>
      </p:sp>
      <p:sp>
        <p:nvSpPr>
          <p:cNvPr id="10" name="s7-l2">
            <a:extLst xmlns:a="http://schemas.openxmlformats.org/drawingml/2006/main">
              <a:ext uri="{FF2B5EF4-FFF2-40B4-BE49-F238E27FC236}">
                <a16:creationId xmlns:a16="http://schemas.microsoft.com/office/drawing/2014/main" id="{3239F3EE-3004-4390-A575-22C6A7E9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Pose mAP50-95</a:t>
            </a:r>
          </a:p>
        </p:txBody>
      </p:sp>
      <p:sp>
        <p:nvSpPr>
          <p:cNvPr id="11" name="s7-v3">
            <a:extLst xmlns:a="http://schemas.openxmlformats.org/drawingml/2006/main">
              <a:ext uri="{FF2B5EF4-FFF2-40B4-BE49-F238E27FC236}">
                <a16:creationId xmlns:a16="http://schemas.microsoft.com/office/drawing/2014/main" id="{27AD3CC4-09DC-4D84-952C-536233C1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0.6686</a:t>
            </a:r>
          </a:p>
        </p:txBody>
      </p:sp>
      <p:sp>
        <p:nvSpPr>
          <p:cNvPr id="12" name="s7-l3">
            <a:extLst xmlns:a="http://schemas.openxmlformats.org/drawingml/2006/main">
              <a:ext uri="{FF2B5EF4-FFF2-40B4-BE49-F238E27FC236}">
                <a16:creationId xmlns:a16="http://schemas.microsoft.com/office/drawing/2014/main" id="{777A1CF7-8072-44A8-A1B5-88BBCED8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PCK@0.05</a:t>
            </a:r>
          </a:p>
        </p:txBody>
      </p:sp>
      <p:sp>
        <p:nvSpPr>
          <p:cNvPr id="13" name="s7-data">
            <a:extLst xmlns:a="http://schemas.openxmlformats.org/drawingml/2006/main">
              <a:ext uri="{FF2B5EF4-FFF2-40B4-BE49-F238E27FC236}">
                <a16:creationId xmlns:a16="http://schemas.microsoft.com/office/drawing/2014/main" id="{EB931DA8-5C8C-4E79-82C6-B0CA748E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14500"/>
            <a:ext cx="29527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验证集
3,606 图
11,569 实例</a:t>
            </a:r>
          </a:p>
        </p:txBody>
      </p:sp>
      <p:sp>
        <p:nvSpPr>
          <p:cNvPr id="14" name="s7-image-frame">
            <a:extLst xmlns:a="http://schemas.openxmlformats.org/drawingml/2006/main">
              <a:ext uri="{FF2B5EF4-FFF2-40B4-BE49-F238E27FC236}">
                <a16:creationId xmlns:a16="http://schemas.microsoft.com/office/drawing/2014/main" id="{0CF844A8-3588-4041-B839-298F95C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113919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33fb4e1484a80"/>
          <a:stretch xmlns:a="http://schemas.openxmlformats.org/drawingml/2006/main"/>
        </p:blipFill>
        <p:spPr>
          <a:xfrm xmlns:a="http://schemas.openxmlformats.org/drawingml/2006/main">
            <a:off x="1562100" y="3276600"/>
            <a:ext cx="9067800" cy="2590800"/>
          </a:xfrm>
          <a:prstGeom xmlns:a="http://schemas.openxmlformats.org/drawingml/2006/main" prst="roundRect">
            <a:avLst>
              <a:gd name="adj" fmla="val 4412"/>
            </a:avLst>
          </a:prstGeom>
        </p:spPr>
      </p:pic>
    </p:spTree>
    <p:extLst>
      <p:ext uri="{BB962C8B-B14F-4D97-AF65-F5344CB8AC3E}">
        <p14:creationId xmlns:p14="http://schemas.microsoft.com/office/powerpoint/2010/main" val="16828435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8">
            <a:extLst xmlns:a="http://schemas.openxmlformats.org/drawingml/2006/main">
              <a:ext uri="{FF2B5EF4-FFF2-40B4-BE49-F238E27FC236}">
                <a16:creationId xmlns:a16="http://schemas.microsoft.com/office/drawing/2014/main" id="{D14621A7-F144-431B-87CB-A28855AF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705BCDA-70D0-4646-89B4-CE6727ED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可视化发现了指标没有暴露的 Predictor 缺陷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6CC876D3-E3FE-4F76-832C-8E3E99CE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08</a:t>
            </a:r>
          </a:p>
        </p:txBody>
      </p:sp>
      <p:sp>
        <p:nvSpPr>
          <p:cNvPr id="4" name="s8-before-label">
            <a:extLst xmlns:a="http://schemas.openxmlformats.org/drawingml/2006/main">
              <a:ext uri="{FF2B5EF4-FFF2-40B4-BE49-F238E27FC236}">
                <a16:creationId xmlns:a16="http://schemas.microsoft.com/office/drawing/2014/main" id="{7B17ADD0-F8D8-4F66-85BB-1545C6C1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42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5484D"/>
                </a:solidFill>
                <a:latin typeface="PingFang SC"/>
                <a:ea typeface="PingFang SC"/>
                <a:cs typeface="PingFang SC"/>
              </a:defRPr>
            </a:pPr>
            <a:r>
              <a:t>修复前：关键点大体合理，但宽图上的框被当成 xyxy 直接缩放，出现巨框。</a:t>
            </a:r>
          </a:p>
        </p:txBody>
      </p:sp>
      <p:sp>
        <p:nvSpPr>
          <p:cNvPr id="5" name="s8-after-label">
            <a:extLst xmlns:a="http://schemas.openxmlformats.org/drawingml/2006/main">
              <a:ext uri="{FF2B5EF4-FFF2-40B4-BE49-F238E27FC236}">
                <a16:creationId xmlns:a16="http://schemas.microsoft.com/office/drawing/2014/main" id="{A3439E71-B62A-4788-B814-3E0C5EA8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542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修复后：先 xywh→xyxy，再 scale_boxes；框与关键点回到车辆轮廓。</a:t>
            </a:r>
          </a:p>
        </p:txBody>
      </p:sp>
      <p:sp>
        <p:nvSpPr>
          <p:cNvPr id="6" name="s8-frame1">
            <a:extLst xmlns:a="http://schemas.openxmlformats.org/drawingml/2006/main">
              <a:ext uri="{FF2B5EF4-FFF2-40B4-BE49-F238E27FC236}">
                <a16:creationId xmlns:a16="http://schemas.microsoft.com/office/drawing/2014/main" id="{BAA5145D-9B89-4056-AB55-33FA91F9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429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E5484D"/>
            </a:solidFill>
            <a:prstDash val="solid"/>
          </a:ln>
        </p:spPr>
      </p:sp>
      <p:sp>
        <p:nvSpPr>
          <p:cNvPr id="7" name="s8-frame2">
            <a:extLst xmlns:a="http://schemas.openxmlformats.org/drawingml/2006/main">
              <a:ext uri="{FF2B5EF4-FFF2-40B4-BE49-F238E27FC236}">
                <a16:creationId xmlns:a16="http://schemas.microsoft.com/office/drawing/2014/main" id="{7802FFEF-7B33-476C-B0BF-38705B96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5429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0FBF6"/>
          </a:solidFill>
          <a:ln xmlns:a="http://schemas.openxmlformats.org/drawingml/2006/main" w="9525">
            <a:solidFill>
              <a:srgbClr val="18A36B"/>
            </a:solidFill>
            <a:prstDash val="solid"/>
          </a:ln>
        </p:spPr>
      </p:sp>
      <p:sp>
        <p:nvSpPr>
          <p:cNvPr id="8" name="s8-note">
            <a:extLst xmlns:a="http://schemas.openxmlformats.org/drawingml/2006/main">
              <a:ext uri="{FF2B5EF4-FFF2-40B4-BE49-F238E27FC236}">
                <a16:creationId xmlns:a16="http://schemas.microsoft.com/office/drawing/2014/main" id="{C115F946-DC8B-4306-9650-488EEFC9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8953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Validator 指标没变：缺陷只在 raw Predictor 路径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490a4309f42dc"/>
          <a:srcRect xmlns:a="http://schemas.openxmlformats.org/drawingml/2006/main" l="3407" t="0" r="34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2419350"/>
            <a:ext cx="5238750" cy="3162300"/>
          </a:xfrm>
          <a:prstGeom xmlns:a="http://schemas.openxmlformats.org/drawingml/2006/main" prst="roundRect">
            <a:avLst>
              <a:gd name="adj" fmla="val 3614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dc90ef3164a1c"/>
          <a:srcRect xmlns:a="http://schemas.openxmlformats.org/drawingml/2006/main" l="3407" t="0" r="34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419350"/>
            <a:ext cx="5238750" cy="3162300"/>
          </a:xfrm>
          <a:prstGeom xmlns:a="http://schemas.openxmlformats.org/drawingml/2006/main" prst="roundRect">
            <a:avLst>
              <a:gd name="adj" fmla="val 3614"/>
            </a:avLst>
          </a:prstGeom>
        </p:spPr>
      </p:pic>
    </p:spTree>
    <p:extLst>
      <p:ext uri="{BB962C8B-B14F-4D97-AF65-F5344CB8AC3E}">
        <p14:creationId xmlns:p14="http://schemas.microsoft.com/office/powerpoint/2010/main" val="8470050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9">
            <a:extLst xmlns:a="http://schemas.openxmlformats.org/drawingml/2006/main">
              <a:ext uri="{FF2B5EF4-FFF2-40B4-BE49-F238E27FC236}">
                <a16:creationId xmlns:a16="http://schemas.microsoft.com/office/drawing/2014/main" id="{3166546A-C683-4E9C-9035-5F180776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54597864-B09C-49DC-9CC2-C375B9D9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100 图视觉门禁通过后，才继续做性能结论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D24F515B-E284-4D15-86B8-CBD6A60D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  <p:sp>
        <p:nvSpPr>
          <p:cNvPr id="4" name="s9-l1">
            <a:extLst xmlns:a="http://schemas.openxmlformats.org/drawingml/2006/main">
              <a:ext uri="{FF2B5EF4-FFF2-40B4-BE49-F238E27FC236}">
                <a16:creationId xmlns:a16="http://schemas.microsoft.com/office/drawing/2014/main" id="{541126AF-1BF3-47D4-801A-BB911A19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固定样本覆盖</a:t>
            </a:r>
          </a:p>
        </p:txBody>
      </p:sp>
      <p:sp>
        <p:nvSpPr>
          <p:cNvPr id="5" name="s9-b1">
            <a:extLst xmlns:a="http://schemas.openxmlformats.org/drawingml/2006/main">
              <a:ext uri="{FF2B5EF4-FFF2-40B4-BE49-F238E27FC236}">
                <a16:creationId xmlns:a16="http://schemas.microsoft.com/office/drawing/2014/main" id="{29F2B400-0CCC-46F1-AE36-50591257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9052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宽图 · 边缘截断
遮挡 · 多车 · 尺度变化</a:t>
            </a:r>
          </a:p>
        </p:txBody>
      </p:sp>
      <p:sp>
        <p:nvSpPr>
          <p:cNvPr id="6" name="s9-l2">
            <a:extLst xmlns:a="http://schemas.openxmlformats.org/drawingml/2006/main">
              <a:ext uri="{FF2B5EF4-FFF2-40B4-BE49-F238E27FC236}">
                <a16:creationId xmlns:a16="http://schemas.microsoft.com/office/drawing/2014/main" id="{4E548546-1706-4F6A-91A7-6AB40305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检查结论</a:t>
            </a:r>
          </a:p>
        </p:txBody>
      </p:sp>
      <p:sp>
        <p:nvSpPr>
          <p:cNvPr id="7" name="s9-b2">
            <a:extLst xmlns:a="http://schemas.openxmlformats.org/drawingml/2006/main">
              <a:ext uri="{FF2B5EF4-FFF2-40B4-BE49-F238E27FC236}">
                <a16:creationId xmlns:a16="http://schemas.microsoft.com/office/drawing/2014/main" id="{1AB8BF36-5419-43C1-898F-D22E9227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4476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框与车辆轮廓一致
关键点落在车身/车轮区域
异常与遮挡指标方向一致</a:t>
            </a:r>
          </a:p>
        </p:txBody>
      </p:sp>
      <p:sp>
        <p:nvSpPr>
          <p:cNvPr id="8" name="s9-frame">
            <a:extLst xmlns:a="http://schemas.openxmlformats.org/drawingml/2006/main">
              <a:ext uri="{FF2B5EF4-FFF2-40B4-BE49-F238E27FC236}">
                <a16:creationId xmlns:a16="http://schemas.microsoft.com/office/drawing/2014/main" id="{8FF9EA05-0F68-4D37-AB4E-2346B31E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19250"/>
            <a:ext cx="65532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a150260a2442f"/>
          <a:srcRect xmlns:a="http://schemas.openxmlformats.org/drawingml/2006/main" l="5054" t="0" r="50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714500"/>
            <a:ext cx="6362700" cy="3981450"/>
          </a:xfrm>
          <a:prstGeom xmlns:a="http://schemas.openxmlformats.org/drawingml/2006/main" prst="roundRect">
            <a:avLst>
              <a:gd name="adj" fmla="val 2871"/>
            </a:avLst>
          </a:prstGeom>
        </p:spPr>
      </p:pic>
    </p:spTree>
    <p:extLst>
      <p:ext uri="{BB962C8B-B14F-4D97-AF65-F5344CB8AC3E}">
        <p14:creationId xmlns:p14="http://schemas.microsoft.com/office/powerpoint/2010/main" val="15052564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0">
            <a:extLst xmlns:a="http://schemas.openxmlformats.org/drawingml/2006/main">
              <a:ext uri="{FF2B5EF4-FFF2-40B4-BE49-F238E27FC236}">
                <a16:creationId xmlns:a16="http://schemas.microsoft.com/office/drawing/2014/main" id="{8202CE1C-059F-40E4-93DA-2EA633A4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F6B04CD-11E2-4C1E-91D5-CDA93448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最大的端到端耗时不在模型，而在 /mnt/e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9E38C73-2A80-4A6F-8C83-2CB1DF82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10</a:t>
            </a:r>
          </a:p>
        </p:txBody>
      </p:sp>
      <p:sp>
        <p:nvSpPr>
          <p:cNvPr id="4" name="s10-chart-frame">
            <a:extLst xmlns:a="http://schemas.openxmlformats.org/drawingml/2006/main">
              <a:ext uri="{FF2B5EF4-FFF2-40B4-BE49-F238E27FC236}">
                <a16:creationId xmlns:a16="http://schemas.microsoft.com/office/drawing/2014/main" id="{D9BD1F2A-45FB-4D64-9D0D-69A98D9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00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0-method">
            <a:extLst xmlns:a="http://schemas.openxmlformats.org/drawingml/2006/main">
              <a:ext uri="{FF2B5EF4-FFF2-40B4-BE49-F238E27FC236}">
                <a16:creationId xmlns:a16="http://schemas.microsoft.com/office/drawing/2014/main" id="{9BA9C8E9-574A-4B98-A93C-33EC5A2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4095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同一 checkpoint · 同一 100 JPEG · 3 × 1000 次 · batch 1</a:t>
            </a:r>
          </a:p>
        </p:txBody>
      </p:sp>
      <p:sp>
        <p:nvSpPr>
          <p:cNvPr id="6" name="s10-stat1">
            <a:extLst xmlns:a="http://schemas.openxmlformats.org/drawingml/2006/main">
              <a:ext uri="{FF2B5EF4-FFF2-40B4-BE49-F238E27FC236}">
                <a16:creationId xmlns:a16="http://schemas.microsoft.com/office/drawing/2014/main" id="{0882864E-963E-47A0-BBB5-A320F24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200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−72.3%</a:t>
            </a:r>
          </a:p>
        </p:txBody>
      </p:sp>
      <p:sp>
        <p:nvSpPr>
          <p:cNvPr id="7" name="s10-stat1l">
            <a:extLst xmlns:a="http://schemas.openxmlformats.org/drawingml/2006/main">
              <a:ext uri="{FF2B5EF4-FFF2-40B4-BE49-F238E27FC236}">
                <a16:creationId xmlns:a16="http://schemas.microsoft.com/office/drawing/2014/main" id="{41886ECD-DBD7-4E2E-A406-243B930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平均延迟</a:t>
            </a:r>
          </a:p>
        </p:txBody>
      </p:sp>
      <p:sp>
        <p:nvSpPr>
          <p:cNvPr id="8" name="s10-stat2">
            <a:extLst xmlns:a="http://schemas.openxmlformats.org/drawingml/2006/main">
              <a:ext uri="{FF2B5EF4-FFF2-40B4-BE49-F238E27FC236}">
                <a16:creationId xmlns:a16="http://schemas.microsoft.com/office/drawing/2014/main" id="{345622D2-EC3D-4EC5-8D75-B85861ED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1905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3.61×</a:t>
            </a:r>
          </a:p>
        </p:txBody>
      </p:sp>
      <p:sp>
        <p:nvSpPr>
          <p:cNvPr id="9" name="s10-stat2l">
            <a:extLst xmlns:a="http://schemas.openxmlformats.org/drawingml/2006/main">
              <a:ext uri="{FF2B5EF4-FFF2-40B4-BE49-F238E27FC236}">
                <a16:creationId xmlns:a16="http://schemas.microsoft.com/office/drawing/2014/main" id="{151CF7FC-A3DD-4420-802B-2AF969D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吞吐提升</a:t>
            </a:r>
          </a:p>
        </p:txBody>
      </p:sp>
      <p:sp>
        <p:nvSpPr>
          <p:cNvPr id="10" name="s10-conclusion">
            <a:extLst xmlns:a="http://schemas.openxmlformats.org/drawingml/2006/main">
              <a:ext uri="{FF2B5EF4-FFF2-40B4-BE49-F238E27FC236}">
                <a16:creationId xmlns:a16="http://schemas.microsoft.com/office/drawing/2014/main" id="{B7288699-A378-4BB8-81DD-1922273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图片字节 SHA-256 一致，模型与精度未改变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04850" y="1905000"/>
          <a:ext xmlns:a="http://schemas.openxmlformats.org/drawingml/2006/main" cx="60579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57e22c1ae743c9"/>
          </a:graphicData>
        </a:graphic>
      </p:graphicFrame>
    </p:spTree>
    <p:extLst>
      <p:ext uri="{BB962C8B-B14F-4D97-AF65-F5344CB8AC3E}">
        <p14:creationId xmlns:p14="http://schemas.microsoft.com/office/powerpoint/2010/main" val="10899185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11">
            <a:extLst xmlns:a="http://schemas.openxmlformats.org/drawingml/2006/main">
              <a:ext uri="{FF2B5EF4-FFF2-40B4-BE49-F238E27FC236}">
                <a16:creationId xmlns:a16="http://schemas.microsoft.com/office/drawing/2014/main" id="{91C78C6B-7B7C-4A3D-8F0D-62A1C1B3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21AACA50-9136-43F0-B1A9-C8AF43A7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零精度损失方案被固化成独立、可审计入口</a:t>
            </a:r>
          </a:p>
        </p:txBody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43E7B8DA-F775-451E-9059-4A391990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11</a:t>
            </a:r>
          </a:p>
        </p:txBody>
      </p:sp>
      <p:sp>
        <p:nvSpPr>
          <p:cNvPr id="4" name="s11-code-bg">
            <a:extLst xmlns:a="http://schemas.openxmlformats.org/drawingml/2006/main">
              <a:ext uri="{FF2B5EF4-FFF2-40B4-BE49-F238E27FC236}">
                <a16:creationId xmlns:a16="http://schemas.microsoft.com/office/drawing/2014/main" id="{14E403BB-AAC9-4A5C-A54A-FB29731C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68580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1-code">
            <a:extLst xmlns:a="http://schemas.openxmlformats.org/drawingml/2006/main">
              <a:ext uri="{FF2B5EF4-FFF2-40B4-BE49-F238E27FC236}">
                <a16:creationId xmlns:a16="http://schemas.microsoft.com/office/drawing/2014/main" id="{807A7011-2EF0-494F-A010-09F4E233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286500" cy="232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t>scripts/stage_carfusion_to_wsl.sh \
  datasets/CarFusion/yolo_pose \
  /home/caius/datasets/CarFusion/yolo_pose \
  reports/optimization/runtime_configs/\
    CarFusion-pose-wsl.yaml</a:t>
            </a:r>
          </a:p>
        </p:txBody>
      </p:sp>
      <p:sp>
        <p:nvSpPr>
          <p:cNvPr id="6" name="s11-step1">
            <a:extLst xmlns:a="http://schemas.openxmlformats.org/drawingml/2006/main">
              <a:ext uri="{FF2B5EF4-FFF2-40B4-BE49-F238E27FC236}">
                <a16:creationId xmlns:a16="http://schemas.microsoft.com/office/drawing/2014/main" id="{99068428-F84A-430E-9BC9-49D5B5ED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① 解引用复制</a:t>
            </a:r>
          </a:p>
        </p:txBody>
      </p:sp>
      <p:sp>
        <p:nvSpPr>
          <p:cNvPr id="7" name="s11-step1b">
            <a:extLst xmlns:a="http://schemas.openxmlformats.org/drawingml/2006/main">
              <a:ext uri="{FF2B5EF4-FFF2-40B4-BE49-F238E27FC236}">
                <a16:creationId xmlns:a16="http://schemas.microsoft.com/office/drawing/2014/main" id="{89B48647-B240-46E7-8482-2AF73873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3524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图片从 Windows 挂载盘实体化到 ext4</a:t>
            </a:r>
          </a:p>
        </p:txBody>
      </p:sp>
      <p:sp>
        <p:nvSpPr>
          <p:cNvPr id="8" name="s11-step2">
            <a:extLst xmlns:a="http://schemas.openxmlformats.org/drawingml/2006/main">
              <a:ext uri="{FF2B5EF4-FFF2-40B4-BE49-F238E27FC236}">
                <a16:creationId xmlns:a16="http://schemas.microsoft.com/office/drawing/2014/main" id="{37523F9B-7E85-47B7-9B6B-D4110240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6705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② SHA-256 门禁</a:t>
            </a:r>
          </a:p>
        </p:txBody>
      </p:sp>
      <p:sp>
        <p:nvSpPr>
          <p:cNvPr id="9" name="s11-step2b">
            <a:extLst xmlns:a="http://schemas.openxmlformats.org/drawingml/2006/main">
              <a:ext uri="{FF2B5EF4-FFF2-40B4-BE49-F238E27FC236}">
                <a16:creationId xmlns:a16="http://schemas.microsoft.com/office/drawing/2014/main" id="{EFCD1E13-74C9-4867-9FDE-D10CE288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05200"/>
            <a:ext cx="3524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缺失、额外或哈希不一致即失败</a:t>
            </a:r>
          </a:p>
        </p:txBody>
      </p:sp>
      <p:sp>
        <p:nvSpPr>
          <p:cNvPr id="10" name="s11-step3">
            <a:extLst xmlns:a="http://schemas.openxmlformats.org/drawingml/2006/main">
              <a:ext uri="{FF2B5EF4-FFF2-40B4-BE49-F238E27FC236}">
                <a16:creationId xmlns:a16="http://schemas.microsoft.com/office/drawing/2014/main" id="{FFD365B2-515B-48CD-AAE9-C7509493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③ 新 runtime YAML</a:t>
            </a:r>
          </a:p>
        </p:txBody>
      </p:sp>
      <p:sp>
        <p:nvSpPr>
          <p:cNvPr id="11" name="s11-step3b">
            <a:extLst xmlns:a="http://schemas.openxmlformats.org/drawingml/2006/main">
              <a:ext uri="{FF2B5EF4-FFF2-40B4-BE49-F238E27FC236}">
                <a16:creationId xmlns:a16="http://schemas.microsoft.com/office/drawing/2014/main" id="{74482F8A-7A1E-4C39-AE1D-65D8EDCB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00600"/>
            <a:ext cx="352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原数据、代码、checkpoint、baseline 输出均不改</a:t>
            </a:r>
          </a:p>
        </p:txBody>
      </p:sp>
      <p:sp>
        <p:nvSpPr>
          <p:cNvPr id="12" name="s11-source">
            <a:extLst xmlns:a="http://schemas.openxmlformats.org/drawingml/2006/main">
              <a:ext uri="{FF2B5EF4-FFF2-40B4-BE49-F238E27FC236}">
                <a16:creationId xmlns:a16="http://schemas.microsoft.com/office/drawing/2014/main" id="{CC5ABB68-947E-49C9-9724-D0BB56C4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依据：Microsoft WSL 文件系统性能建议</a:t>
            </a:r>
          </a:p>
        </p:txBody>
      </p:sp>
    </p:spTree>
    <p:extLst>
      <p:ext uri="{BB962C8B-B14F-4D97-AF65-F5344CB8AC3E}">
        <p14:creationId xmlns:p14="http://schemas.microsoft.com/office/powerpoint/2010/main" val="11691429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12">
            <a:extLst xmlns:a="http://schemas.openxmlformats.org/drawingml/2006/main">
              <a:ext uri="{FF2B5EF4-FFF2-40B4-BE49-F238E27FC236}">
                <a16:creationId xmlns:a16="http://schemas.microsoft.com/office/drawing/2014/main" id="{AE4355D3-B0F9-496E-99C9-5896F48D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8C938FAE-A6A8-4B6D-80AD-9939577A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结果必须连同限制一起交付</a:t>
            </a:r>
          </a:p>
        </p:txBody>
      </p: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4589774D-B9A2-4716-9C77-8D7BBB90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12</a:t>
            </a:r>
          </a:p>
        </p:txBody>
      </p:sp>
      <p:sp>
        <p:nvSpPr>
          <p:cNvPr id="4" name="s12-chart-frame">
            <a:extLst xmlns:a="http://schemas.openxmlformats.org/drawingml/2006/main">
              <a:ext uri="{FF2B5EF4-FFF2-40B4-BE49-F238E27FC236}">
                <a16:creationId xmlns:a16="http://schemas.microsoft.com/office/drawing/2014/main" id="{240162AF-D1BC-435B-8A92-D9070B23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2-stat">
            <a:extLst xmlns:a="http://schemas.openxmlformats.org/drawingml/2006/main">
              <a:ext uri="{FF2B5EF4-FFF2-40B4-BE49-F238E27FC236}">
                <a16:creationId xmlns:a16="http://schemas.microsoft.com/office/drawing/2014/main" id="{D92F41B2-62A9-4837-91F3-CD181621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24050"/>
            <a:ext cx="3048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5484D"/>
                </a:solidFill>
                <a:latin typeface="PingFang SC"/>
                <a:ea typeface="PingFang SC"/>
                <a:cs typeface="PingFang SC"/>
              </a:defRPr>
            </a:pPr>
            <a:r>
              <a:t>索引 13</a:t>
            </a:r>
          </a:p>
        </p:txBody>
      </p:sp>
      <p:sp>
        <p:nvSpPr>
          <p:cNvPr id="6" name="s12-stat2">
            <a:extLst xmlns:a="http://schemas.openxmlformats.org/drawingml/2006/main">
              <a:ext uri="{FF2B5EF4-FFF2-40B4-BE49-F238E27FC236}">
                <a16:creationId xmlns:a16="http://schemas.microsoft.com/office/drawing/2014/main" id="{B7887A0A-E683-483F-9A94-126C90D4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43200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有效标注 = 0</a:t>
            </a:r>
          </a:p>
        </p:txBody>
      </p:sp>
      <p:sp>
        <p:nvSpPr>
          <p:cNvPr id="7" name="s12-body">
            <a:extLst xmlns:a="http://schemas.openxmlformats.org/drawingml/2006/main">
              <a:ext uri="{FF2B5EF4-FFF2-40B4-BE49-F238E27FC236}">
                <a16:creationId xmlns:a16="http://schemas.microsoft.com/office/drawing/2014/main" id="{B2FBEB54-91FB-4199-9D54-77202B10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62350"/>
            <a:ext cx="3238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模型接口仍为 14×3；当前数据只支持 13 个点的监督与精度声明。</a:t>
            </a:r>
          </a:p>
        </p:txBody>
      </p:sp>
      <p:sp>
        <p:nvSpPr>
          <p:cNvPr id="8" name="s12-foot">
            <a:extLst xmlns:a="http://schemas.openxmlformats.org/drawingml/2006/main">
              <a:ext uri="{FF2B5EF4-FFF2-40B4-BE49-F238E27FC236}">
                <a16:creationId xmlns:a16="http://schemas.microsoft.com/office/drawing/2014/main" id="{D4E7EC34-6BAF-4554-A4F9-6E0C9CCE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48250"/>
            <a:ext cx="3238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flip_idx 继续为空，左右语义确认前禁用水平翻转。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6667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0e9a0e1b7e4eff"/>
          </a:graphicData>
        </a:graphic>
      </p:graphicFrame>
    </p:spTree>
    <p:extLst>
      <p:ext uri="{BB962C8B-B14F-4D97-AF65-F5344CB8AC3E}">
        <p14:creationId xmlns:p14="http://schemas.microsoft.com/office/powerpoint/2010/main" val="20491906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3">
            <a:extLst xmlns:a="http://schemas.openxmlformats.org/drawingml/2006/main">
              <a:ext uri="{FF2B5EF4-FFF2-40B4-BE49-F238E27FC236}">
                <a16:creationId xmlns:a16="http://schemas.microsoft.com/office/drawing/2014/main" id="{42B2824D-47F3-48FD-B317-BC2A03AD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775D1FB2-50BF-478F-BF30-66F3704F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可复用的 Codex 模式：目标、约束、证据、恢复、复盘</a:t>
            </a:r>
          </a:p>
        </p:txBody>
      </p:sp>
      <p:sp>
        <p:nvSpPr>
          <p:cNvPr id="3" name="page-13">
            <a:extLst xmlns:a="http://schemas.openxmlformats.org/drawingml/2006/main">
              <a:ext uri="{FF2B5EF4-FFF2-40B4-BE49-F238E27FC236}">
                <a16:creationId xmlns:a16="http://schemas.microsoft.com/office/drawing/2014/main" id="{C0DD3CD8-FD10-4FB1-88EB-9C7B6409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13</a:t>
            </a:r>
          </a:p>
        </p:txBody>
      </p:sp>
      <p:cxnSp>
        <p:nvCxnSpPr>
          <p:cNvPr id="65" name="s13-axis"/>
          <p:cNvCxnSpPr/>
          <p:nvPr/>
        </p:nvCxnSpPr>
        <p:spPr>
          <a:xfrm xmlns:a="http://schemas.openxmlformats.org/drawingml/2006/main">
            <a:off x="952500" y="3524250"/>
            <a:ext cx="102870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5" name="s13-dot-1">
            <a:extLst xmlns:a="http://schemas.openxmlformats.org/drawingml/2006/main">
              <a:ext uri="{FF2B5EF4-FFF2-40B4-BE49-F238E27FC236}">
                <a16:creationId xmlns:a16="http://schemas.microsoft.com/office/drawing/2014/main" id="{17140976-CF37-4ECF-925F-74246B3C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3-num-1">
            <a:extLst xmlns:a="http://schemas.openxmlformats.org/drawingml/2006/main">
              <a:ext uri="{FF2B5EF4-FFF2-40B4-BE49-F238E27FC236}">
                <a16:creationId xmlns:a16="http://schemas.microsoft.com/office/drawing/2014/main" id="{470001FA-DD20-4C47-83C2-3E5A20F9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1</a:t>
            </a:r>
          </a:p>
        </p:txBody>
      </p:sp>
      <p:sp>
        <p:nvSpPr>
          <p:cNvPr id="7" name="s13-title-1">
            <a:extLst xmlns:a="http://schemas.openxmlformats.org/drawingml/2006/main">
              <a:ext uri="{FF2B5EF4-FFF2-40B4-BE49-F238E27FC236}">
                <a16:creationId xmlns:a16="http://schemas.microsoft.com/office/drawing/2014/main" id="{D61EFD9A-0AF5-45F6-A51B-8C26EE9F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定义完成</a:t>
            </a:r>
          </a:p>
        </p:txBody>
      </p:sp>
      <p:sp>
        <p:nvSpPr>
          <p:cNvPr id="8" name="s13-body-1">
            <a:extLst xmlns:a="http://schemas.openxmlformats.org/drawingml/2006/main">
              <a:ext uri="{FF2B5EF4-FFF2-40B4-BE49-F238E27FC236}">
                <a16:creationId xmlns:a16="http://schemas.microsoft.com/office/drawing/2014/main" id="{FADE9A16-BCAB-4196-A83E-CE23076D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目标 + 不可破坏项</a:t>
            </a:r>
          </a:p>
        </p:txBody>
      </p:sp>
      <p:sp>
        <p:nvSpPr>
          <p:cNvPr id="9" name="s13-dot-2">
            <a:extLst xmlns:a="http://schemas.openxmlformats.org/drawingml/2006/main">
              <a:ext uri="{FF2B5EF4-FFF2-40B4-BE49-F238E27FC236}">
                <a16:creationId xmlns:a16="http://schemas.microsoft.com/office/drawing/2014/main" id="{15F9754A-4BA3-4558-AF3E-A84468B1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3-num-2">
            <a:extLst xmlns:a="http://schemas.openxmlformats.org/drawingml/2006/main">
              <a:ext uri="{FF2B5EF4-FFF2-40B4-BE49-F238E27FC236}">
                <a16:creationId xmlns:a16="http://schemas.microsoft.com/office/drawing/2014/main" id="{99C38A51-9608-48B6-8C78-FE31D401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2</a:t>
            </a:r>
          </a:p>
        </p:txBody>
      </p:sp>
      <p:sp>
        <p:nvSpPr>
          <p:cNvPr id="11" name="s13-title-2">
            <a:extLst xmlns:a="http://schemas.openxmlformats.org/drawingml/2006/main">
              <a:ext uri="{FF2B5EF4-FFF2-40B4-BE49-F238E27FC236}">
                <a16:creationId xmlns:a16="http://schemas.microsoft.com/office/drawing/2014/main" id="{7A05E8A9-E0B0-4083-BAE3-A4F48563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先读后改</a:t>
            </a:r>
          </a:p>
        </p:txBody>
      </p:sp>
      <p:sp>
        <p:nvSpPr>
          <p:cNvPr id="12" name="s13-body-2">
            <a:extLst xmlns:a="http://schemas.openxmlformats.org/drawingml/2006/main">
              <a:ext uri="{FF2B5EF4-FFF2-40B4-BE49-F238E27FC236}">
                <a16:creationId xmlns:a16="http://schemas.microsoft.com/office/drawing/2014/main" id="{632DFDB3-E17A-4519-88E4-EC35D94E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仓库 / 环境 / 数据</a:t>
            </a:r>
          </a:p>
        </p:txBody>
      </p:sp>
      <p:sp>
        <p:nvSpPr>
          <p:cNvPr id="13" name="s13-dot-3">
            <a:extLst xmlns:a="http://schemas.openxmlformats.org/drawingml/2006/main">
              <a:ext uri="{FF2B5EF4-FFF2-40B4-BE49-F238E27FC236}">
                <a16:creationId xmlns:a16="http://schemas.microsoft.com/office/drawing/2014/main" id="{38AB1F08-F94E-4F80-9DDE-3ADCE7BF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3-num-3">
            <a:extLst xmlns:a="http://schemas.openxmlformats.org/drawingml/2006/main">
              <a:ext uri="{FF2B5EF4-FFF2-40B4-BE49-F238E27FC236}">
                <a16:creationId xmlns:a16="http://schemas.microsoft.com/office/drawing/2014/main" id="{F26B20F6-8D52-4730-93B9-4C28028D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3</a:t>
            </a:r>
          </a:p>
        </p:txBody>
      </p:sp>
      <p:sp>
        <p:nvSpPr>
          <p:cNvPr id="15" name="s13-title-3">
            <a:extLst xmlns:a="http://schemas.openxmlformats.org/drawingml/2006/main">
              <a:ext uri="{FF2B5EF4-FFF2-40B4-BE49-F238E27FC236}">
                <a16:creationId xmlns:a16="http://schemas.microsoft.com/office/drawing/2014/main" id="{F5172F2B-6C7B-43BF-916B-813188E7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测试先行</a:t>
            </a:r>
          </a:p>
        </p:txBody>
      </p:sp>
      <p:sp>
        <p:nvSpPr>
          <p:cNvPr id="16" name="s13-body-3">
            <a:extLst xmlns:a="http://schemas.openxmlformats.org/drawingml/2006/main">
              <a:ext uri="{FF2B5EF4-FFF2-40B4-BE49-F238E27FC236}">
                <a16:creationId xmlns:a16="http://schemas.microsoft.com/office/drawing/2014/main" id="{31655B1D-3CE9-47DB-B8B1-EA0A7F9E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把假设变成回归</a:t>
            </a:r>
          </a:p>
        </p:txBody>
      </p:sp>
      <p:sp>
        <p:nvSpPr>
          <p:cNvPr id="17" name="s13-dot-4">
            <a:extLst xmlns:a="http://schemas.openxmlformats.org/drawingml/2006/main">
              <a:ext uri="{FF2B5EF4-FFF2-40B4-BE49-F238E27FC236}">
                <a16:creationId xmlns:a16="http://schemas.microsoft.com/office/drawing/2014/main" id="{6BF2DDD1-4B52-429D-A84E-553A834F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13-num-4">
            <a:extLst xmlns:a="http://schemas.openxmlformats.org/drawingml/2006/main">
              <a:ext uri="{FF2B5EF4-FFF2-40B4-BE49-F238E27FC236}">
                <a16:creationId xmlns:a16="http://schemas.microsoft.com/office/drawing/2014/main" id="{A5B70BEF-15EB-42D0-BB6F-24CEDF62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4</a:t>
            </a:r>
          </a:p>
        </p:txBody>
      </p:sp>
      <p:sp>
        <p:nvSpPr>
          <p:cNvPr id="19" name="s13-title-4">
            <a:extLst xmlns:a="http://schemas.openxmlformats.org/drawingml/2006/main">
              <a:ext uri="{FF2B5EF4-FFF2-40B4-BE49-F238E27FC236}">
                <a16:creationId xmlns:a16="http://schemas.microsoft.com/office/drawing/2014/main" id="{AF8F0F05-54F7-4A44-82C4-EDDC68AA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门禁推进</a:t>
            </a:r>
          </a:p>
        </p:txBody>
      </p:sp>
      <p:sp>
        <p:nvSpPr>
          <p:cNvPr id="20" name="s13-body-4">
            <a:extLst xmlns:a="http://schemas.openxmlformats.org/drawingml/2006/main">
              <a:ext uri="{FF2B5EF4-FFF2-40B4-BE49-F238E27FC236}">
                <a16:creationId xmlns:a16="http://schemas.microsoft.com/office/drawing/2014/main" id="{116CA031-BC2C-41BD-9BE2-6FCD382E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哈希 / 指标 / 可视化</a:t>
            </a:r>
          </a:p>
        </p:txBody>
      </p:sp>
      <p:sp>
        <p:nvSpPr>
          <p:cNvPr id="21" name="s13-dot-5">
            <a:extLst xmlns:a="http://schemas.openxmlformats.org/drawingml/2006/main">
              <a:ext uri="{FF2B5EF4-FFF2-40B4-BE49-F238E27FC236}">
                <a16:creationId xmlns:a16="http://schemas.microsoft.com/office/drawing/2014/main" id="{D10DC175-014F-4DC4-BE87-8F0AA4B5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3-num-5">
            <a:extLst xmlns:a="http://schemas.openxmlformats.org/drawingml/2006/main">
              <a:ext uri="{FF2B5EF4-FFF2-40B4-BE49-F238E27FC236}">
                <a16:creationId xmlns:a16="http://schemas.microsoft.com/office/drawing/2014/main" id="{D7C2FE1B-A7E2-4ABE-9FC0-70101CBD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5</a:t>
            </a:r>
          </a:p>
        </p:txBody>
      </p:sp>
      <p:sp>
        <p:nvSpPr>
          <p:cNvPr id="23" name="s13-title-5">
            <a:extLst xmlns:a="http://schemas.openxmlformats.org/drawingml/2006/main">
              <a:ext uri="{FF2B5EF4-FFF2-40B4-BE49-F238E27FC236}">
                <a16:creationId xmlns:a16="http://schemas.microsoft.com/office/drawing/2014/main" id="{90F191AD-535C-46B2-8FB1-6EDDCFA6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证据交付</a:t>
            </a:r>
          </a:p>
        </p:txBody>
      </p:sp>
      <p:sp>
        <p:nvSpPr>
          <p:cNvPr id="24" name="s13-body-5">
            <a:extLst xmlns:a="http://schemas.openxmlformats.org/drawingml/2006/main">
              <a:ext uri="{FF2B5EF4-FFF2-40B4-BE49-F238E27FC236}">
                <a16:creationId xmlns:a16="http://schemas.microsoft.com/office/drawing/2014/main" id="{2DF5A05B-39CA-44F4-B17E-1C4490F4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报告 / 命令 / 限制</a:t>
            </a:r>
          </a:p>
        </p:txBody>
      </p:sp>
      <p:sp>
        <p:nvSpPr>
          <p:cNvPr id="25" name="s13-takeaway">
            <a:extLst xmlns:a="http://schemas.openxmlformats.org/drawingml/2006/main">
              <a:ext uri="{FF2B5EF4-FFF2-40B4-BE49-F238E27FC236}">
                <a16:creationId xmlns:a16="http://schemas.microsoft.com/office/drawing/2014/main" id="{DEEC5D3F-2D12-4BC9-B1FB-C87872D2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10287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Codex 的价值不是替你敲更多代码，而是持续维护一个可验证的工程状态。</a:t>
            </a:r>
          </a:p>
        </p:txBody>
      </p:sp>
    </p:spTree>
    <p:extLst>
      <p:ext uri="{BB962C8B-B14F-4D97-AF65-F5344CB8AC3E}">
        <p14:creationId xmlns:p14="http://schemas.microsoft.com/office/powerpoint/2010/main" val="6354214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6">
            <a:extLst xmlns:a="http://schemas.openxmlformats.org/drawingml/2006/main">
              <a:ext uri="{FF2B5EF4-FFF2-40B4-BE49-F238E27FC236}">
                <a16:creationId xmlns:a16="http://schemas.microsoft.com/office/drawing/2014/main" id="{953F78EF-FA03-45BA-94E6-4118A4E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CAF357F-A008-424C-B961-67DAB59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心跳不是“盯日志”，而是维护唯一真实任务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5504692-3C37-4D2F-8086-84775BAA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14</a:t>
            </a:r>
          </a:p>
        </p:txBody>
      </p:sp>
      <p:sp>
        <p:nvSpPr>
          <p:cNvPr id="4" name="s6-card1">
            <a:extLst xmlns:a="http://schemas.openxmlformats.org/drawingml/2006/main">
              <a:ext uri="{FF2B5EF4-FFF2-40B4-BE49-F238E27FC236}">
                <a16:creationId xmlns:a16="http://schemas.microsoft.com/office/drawing/2014/main" id="{6F505442-4984-4119-A7F4-BEE316F1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card2">
            <a:extLst xmlns:a="http://schemas.openxmlformats.org/drawingml/2006/main">
              <a:ext uri="{FF2B5EF4-FFF2-40B4-BE49-F238E27FC236}">
                <a16:creationId xmlns:a16="http://schemas.microsoft.com/office/drawing/2014/main" id="{6571E7CC-A9F6-4CD6-B638-BAF641CC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card3">
            <a:extLst xmlns:a="http://schemas.openxmlformats.org/drawingml/2006/main">
              <a:ext uri="{FF2B5EF4-FFF2-40B4-BE49-F238E27FC236}">
                <a16:creationId xmlns:a16="http://schemas.microsoft.com/office/drawing/2014/main" id="{CEDF93D0-EA0B-423B-A2C0-B190340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k1">
            <a:extLst xmlns:a="http://schemas.openxmlformats.org/drawingml/2006/main">
              <a:ext uri="{FF2B5EF4-FFF2-40B4-BE49-F238E27FC236}">
                <a16:creationId xmlns:a16="http://schemas.microsoft.com/office/drawing/2014/main" id="{FAAD76E6-DA93-4CCE-9628-AB16DAC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观测</a:t>
            </a:r>
          </a:p>
        </p:txBody>
      </p:sp>
      <p:sp>
        <p:nvSpPr>
          <p:cNvPr id="8" name="s6-t1">
            <a:extLst xmlns:a="http://schemas.openxmlformats.org/drawingml/2006/main">
              <a:ext uri="{FF2B5EF4-FFF2-40B4-BE49-F238E27FC236}">
                <a16:creationId xmlns:a16="http://schemas.microsoft.com/office/drawing/2014/main" id="{9F6D837B-C583-42AC-9669-924DDEB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每 30 分钟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读取真实状态</a:t>
            </a:r>
          </a:p>
        </p:txBody>
      </p:sp>
      <p:sp>
        <p:nvSpPr>
          <p:cNvPr id="9" name="s6-b1">
            <a:extLst xmlns:a="http://schemas.openxmlformats.org/drawingml/2006/main">
              <a:ext uri="{FF2B5EF4-FFF2-40B4-BE49-F238E27FC236}">
                <a16:creationId xmlns:a16="http://schemas.microsoft.com/office/drawing/2014/main" id="{330B87E2-9D45-4586-BA2A-30E73DA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进程、GPU、最新日志、epoch、结果文件；只在状态变化时汇报。</a:t>
            </a:r>
          </a:p>
        </p:txBody>
      </p:sp>
      <p:sp>
        <p:nvSpPr>
          <p:cNvPr id="10" name="s6-k2">
            <a:extLst xmlns:a="http://schemas.openxmlformats.org/drawingml/2006/main">
              <a:ext uri="{FF2B5EF4-FFF2-40B4-BE49-F238E27FC236}">
                <a16:creationId xmlns:a16="http://schemas.microsoft.com/office/drawing/2014/main" id="{F0D3AB0A-084D-42C7-BBC9-6263369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处置</a:t>
            </a:r>
          </a:p>
        </p:txBody>
      </p:sp>
      <p:sp>
        <p:nvSpPr>
          <p:cNvPr id="11" name="s6-t2">
            <a:extLst xmlns:a="http://schemas.openxmlformats.org/drawingml/2006/main">
              <a:ext uri="{FF2B5EF4-FFF2-40B4-BE49-F238E27FC236}">
                <a16:creationId xmlns:a16="http://schemas.microsoft.com/office/drawing/2014/main" id="{8B3964F3-CC8F-43AF-B2BB-BE0F4DC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安全修复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原任务续跑</a:t>
            </a:r>
          </a:p>
        </p:txBody>
      </p:sp>
      <p:sp>
        <p:nvSpPr>
          <p:cNvPr id="12" name="s6-b2">
            <a:extLst xmlns:a="http://schemas.openxmlformats.org/drawingml/2006/main">
              <a:ext uri="{FF2B5EF4-FFF2-40B4-BE49-F238E27FC236}">
                <a16:creationId xmlns:a16="http://schemas.microsoft.com/office/drawing/2014/main" id="{18AAB9C3-92E5-4D15-9C6C-7A1785B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只修项目内可回滚问题；核对 PID 与 checkpoint，禁止启动重复训练。</a:t>
            </a:r>
          </a:p>
        </p:txBody>
      </p:sp>
      <p:sp>
        <p:nvSpPr>
          <p:cNvPr id="13" name="s6-k3">
            <a:extLst xmlns:a="http://schemas.openxmlformats.org/drawingml/2006/main">
              <a:ext uri="{FF2B5EF4-FFF2-40B4-BE49-F238E27FC236}">
                <a16:creationId xmlns:a16="http://schemas.microsoft.com/office/drawing/2014/main" id="{48FA2360-8E9F-4ED2-B563-2296F15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退出</a:t>
            </a:r>
          </a:p>
        </p:txBody>
      </p:sp>
      <p:sp>
        <p:nvSpPr>
          <p:cNvPr id="14" name="s6-t3">
            <a:extLst xmlns:a="http://schemas.openxmlformats.org/drawingml/2006/main">
              <a:ext uri="{FF2B5EF4-FFF2-40B4-BE49-F238E27FC236}">
                <a16:creationId xmlns:a16="http://schemas.microsoft.com/office/drawing/2014/main" id="{26A71D2F-1DAF-4730-B518-9A5F29C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门禁全过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自动停止</a:t>
            </a:r>
          </a:p>
        </p:txBody>
      </p:sp>
      <p:sp>
        <p:nvSpPr>
          <p:cNvPr id="15" name="s6-b3">
            <a:extLst xmlns:a="http://schemas.openxmlformats.org/drawingml/2006/main">
              <a:ext uri="{FF2B5EF4-FFF2-40B4-BE49-F238E27FC236}">
                <a16:creationId xmlns:a16="http://schemas.microsoft.com/office/drawing/2014/main" id="{1F4F2B97-5F7F-4B8E-98E8-FE05C8A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评估、可视化、benchmark、报告与分享材料齐备后，心跳即失效。</a:t>
            </a:r>
          </a:p>
        </p:txBody>
      </p:sp>
      <p:cxnSp>
        <p:nvCxnSpPr>
          <p:cNvPr id="179" name="s6-axis"/>
          <p:cNvCxnSpPr/>
          <p:nvPr/>
        </p:nvCxnSpPr>
        <p:spPr>
          <a:xfrm xmlns:a="http://schemas.openxmlformats.org/drawingml/2006/main">
            <a:off x="952500" y="5600700"/>
            <a:ext cx="1000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s6-dot1">
            <a:extLst xmlns:a="http://schemas.openxmlformats.org/drawingml/2006/main">
              <a:ext uri="{FF2B5EF4-FFF2-40B4-BE49-F238E27FC236}">
                <a16:creationId xmlns:a16="http://schemas.microsoft.com/office/drawing/2014/main" id="{5DCB7394-88A7-4642-9642-4C6DE78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dot2">
            <a:extLst xmlns:a="http://schemas.openxmlformats.org/drawingml/2006/main">
              <a:ext uri="{FF2B5EF4-FFF2-40B4-BE49-F238E27FC236}">
                <a16:creationId xmlns:a16="http://schemas.microsoft.com/office/drawing/2014/main" id="{41A30679-9092-4CF1-BD23-5A231F3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dot3">
            <a:extLst xmlns:a="http://schemas.openxmlformats.org/drawingml/2006/main">
              <a:ext uri="{FF2B5EF4-FFF2-40B4-BE49-F238E27FC236}">
                <a16:creationId xmlns:a16="http://schemas.microsoft.com/office/drawing/2014/main" id="{2CB30759-7BF8-4ED3-A918-FE25518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04206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0">
            <a:extLst xmlns:a="http://schemas.openxmlformats.org/drawingml/2006/main">
              <a:ext uri="{FF2B5EF4-FFF2-40B4-BE49-F238E27FC236}">
                <a16:creationId xmlns:a16="http://schemas.microsoft.com/office/drawing/2014/main" id="{8202CE1C-059F-40E4-93DA-2EA633A4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F6B04CD-11E2-4C1E-91D5-CDA93448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同架构蒸馏未测得加速：延迟门禁触发止损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9E38C73-2A80-4A6F-8C83-2CB1DF82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15</a:t>
            </a:r>
          </a:p>
        </p:txBody>
      </p:sp>
      <p:sp>
        <p:nvSpPr>
          <p:cNvPr id="4" name="s10-chart-frame">
            <a:extLst xmlns:a="http://schemas.openxmlformats.org/drawingml/2006/main">
              <a:ext uri="{FF2B5EF4-FFF2-40B4-BE49-F238E27FC236}">
                <a16:creationId xmlns:a16="http://schemas.microsoft.com/office/drawing/2014/main" id="{D9BD1F2A-45FB-4D64-9D0D-69A98D9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00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0-method">
            <a:extLst xmlns:a="http://schemas.openxmlformats.org/drawingml/2006/main">
              <a:ext uri="{FF2B5EF4-FFF2-40B4-BE49-F238E27FC236}">
                <a16:creationId xmlns:a16="http://schemas.microsoft.com/office/drawing/2014/main" id="{9BA9C8E9-574A-4B98-A93C-33EC5A2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4095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640 baseline vs 512 distilled · 3 epochs · 同卡同进程 AB/BA · batch 1</a:t>
            </a:r>
          </a:p>
        </p:txBody>
      </p:sp>
      <p:sp>
        <p:nvSpPr>
          <p:cNvPr id="6" name="s10-stat1">
            <a:extLst xmlns:a="http://schemas.openxmlformats.org/drawingml/2006/main">
              <a:ext uri="{FF2B5EF4-FFF2-40B4-BE49-F238E27FC236}">
                <a16:creationId xmlns:a16="http://schemas.microsoft.com/office/drawing/2014/main" id="{0882864E-963E-47A0-BBB5-A320F24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200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6454D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E6454D"/>
                </a:solidFill>
                <a:latin typeface="PingFang SC"/>
                <a:ea typeface="PingFang SC"/>
                <a:cs typeface="PingFang SC"/>
              </a:rPr>
              <a:t>+1.39%</a:t>
            </a:r>
          </a:p>
        </p:txBody>
      </p:sp>
      <p:sp>
        <p:nvSpPr>
          <p:cNvPr id="7" name="s10-stat1l">
            <a:extLst xmlns:a="http://schemas.openxmlformats.org/drawingml/2006/main">
              <a:ext uri="{FF2B5EF4-FFF2-40B4-BE49-F238E27FC236}">
                <a16:creationId xmlns:a16="http://schemas.microsoft.com/office/drawing/2014/main" id="{41886ECD-DBD7-4E2E-A406-243B930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延迟中心值</a:t>
            </a:r>
          </a:p>
        </p:txBody>
      </p:sp>
      <p:sp>
        <p:nvSpPr>
          <p:cNvPr id="8" name="s10-stat2">
            <a:extLst xmlns:a="http://schemas.openxmlformats.org/drawingml/2006/main">
              <a:ext uri="{FF2B5EF4-FFF2-40B4-BE49-F238E27FC236}">
                <a16:creationId xmlns:a16="http://schemas.microsoft.com/office/drawing/2014/main" id="{345622D2-EC3D-4EC5-8D75-B85861ED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1905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6454D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E6454D"/>
                </a:solidFill>
                <a:latin typeface="PingFang SC"/>
                <a:ea typeface="PingFang SC"/>
                <a:cs typeface="PingFang SC"/>
              </a:rPr>
              <a:t>−0.041</a:t>
            </a:r>
          </a:p>
        </p:txBody>
      </p:sp>
      <p:sp>
        <p:nvSpPr>
          <p:cNvPr id="9" name="s10-stat2l">
            <a:extLst xmlns:a="http://schemas.openxmlformats.org/drawingml/2006/main">
              <a:ext uri="{FF2B5EF4-FFF2-40B4-BE49-F238E27FC236}">
                <a16:creationId xmlns:a16="http://schemas.microsoft.com/office/drawing/2014/main" id="{151CF7FC-A3DD-4420-802B-2AF969D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Pose mAP50-95</a:t>
            </a:r>
          </a:p>
        </p:txBody>
      </p:sp>
      <p:sp>
        <p:nvSpPr>
          <p:cNvPr id="10" name="s10-conclusion">
            <a:extLst xmlns:a="http://schemas.openxmlformats.org/drawingml/2006/main">
              <a:ext uri="{FF2B5EF4-FFF2-40B4-BE49-F238E27FC236}">
                <a16:creationId xmlns:a16="http://schemas.microsoft.com/office/drawing/2014/main" id="{B7288699-A378-4BB8-81DD-1922273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93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同架构只降输入尺寸：中心值未加速，且精度下降；停止追加 epoch。kernel launch 是待 profiler 验证的解释。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04850" y="1905000"/>
          <a:ext xmlns:a="http://schemas.openxmlformats.org/drawingml/2006/main" cx="60579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e5595a25154bd5"/>
          </a:graphicData>
        </a:graphic>
      </p:graphicFrame>
    </p:spTree>
    <p:extLst>
      <p:ext uri="{BB962C8B-B14F-4D97-AF65-F5344CB8AC3E}">
        <p14:creationId xmlns:p14="http://schemas.microsoft.com/office/powerpoint/2010/main" val="10899185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0">
            <a:extLst xmlns:a="http://schemas.openxmlformats.org/drawingml/2006/main">
              <a:ext uri="{FF2B5EF4-FFF2-40B4-BE49-F238E27FC236}">
                <a16:creationId xmlns:a16="http://schemas.microsoft.com/office/drawing/2014/main" id="{8202CE1C-059F-40E4-93DA-2EA633A4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F6B04CD-11E2-4C1E-91D5-CDA93448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有效方案：不缩网络，缩短部署执行路径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9E38C73-2A80-4A6F-8C83-2CB1DF82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16</a:t>
            </a:r>
          </a:p>
        </p:txBody>
      </p:sp>
      <p:sp>
        <p:nvSpPr>
          <p:cNvPr id="4" name="s10-chart-frame">
            <a:extLst xmlns:a="http://schemas.openxmlformats.org/drawingml/2006/main">
              <a:ext uri="{FF2B5EF4-FFF2-40B4-BE49-F238E27FC236}">
                <a16:creationId xmlns:a16="http://schemas.microsoft.com/office/drawing/2014/main" id="{D9BD1F2A-45FB-4D64-9D0D-69A98D9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00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0-method">
            <a:extLst xmlns:a="http://schemas.openxmlformats.org/drawingml/2006/main">
              <a:ext uri="{FF2B5EF4-FFF2-40B4-BE49-F238E27FC236}">
                <a16:creationId xmlns:a16="http://schemas.microsoft.com/office/drawing/2014/main" id="{9BA9C8E9-574A-4B98-A93C-33EC5A2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4095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640 · one-to-one-only · Conv/BN fuse · FP16 · 4 × 1000 次严格 AB/BA</a:t>
            </a:r>
          </a:p>
        </p:txBody>
      </p:sp>
      <p:sp>
        <p:nvSpPr>
          <p:cNvPr id="6" name="s10-stat1">
            <a:extLst xmlns:a="http://schemas.openxmlformats.org/drawingml/2006/main">
              <a:ext uri="{FF2B5EF4-FFF2-40B4-BE49-F238E27FC236}">
                <a16:creationId xmlns:a16="http://schemas.microsoft.com/office/drawing/2014/main" id="{0882864E-963E-47A0-BBB5-A320F24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200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−19.88%</a:t>
            </a:r>
          </a:p>
        </p:txBody>
      </p:sp>
      <p:sp>
        <p:nvSpPr>
          <p:cNvPr id="7" name="s10-stat1l">
            <a:extLst xmlns:a="http://schemas.openxmlformats.org/drawingml/2006/main">
              <a:ext uri="{FF2B5EF4-FFF2-40B4-BE49-F238E27FC236}">
                <a16:creationId xmlns:a16="http://schemas.microsoft.com/office/drawing/2014/main" id="{41886ECD-DBD7-4E2E-A406-243B930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平均延迟</a:t>
            </a:r>
          </a:p>
        </p:txBody>
      </p:sp>
      <p:sp>
        <p:nvSpPr>
          <p:cNvPr id="8" name="s10-stat2">
            <a:extLst xmlns:a="http://schemas.openxmlformats.org/drawingml/2006/main">
              <a:ext uri="{FF2B5EF4-FFF2-40B4-BE49-F238E27FC236}">
                <a16:creationId xmlns:a16="http://schemas.microsoft.com/office/drawing/2014/main" id="{345622D2-EC3D-4EC5-8D75-B85861ED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1905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1.248×</a:t>
            </a:r>
          </a:p>
        </p:txBody>
      </p:sp>
      <p:sp>
        <p:nvSpPr>
          <p:cNvPr id="9" name="s10-stat2l">
            <a:extLst xmlns:a="http://schemas.openxmlformats.org/drawingml/2006/main">
              <a:ext uri="{FF2B5EF4-FFF2-40B4-BE49-F238E27FC236}">
                <a16:creationId xmlns:a16="http://schemas.microsoft.com/office/drawing/2014/main" id="{151CF7FC-A3DD-4420-802B-2AF969D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吞吐提升</a:t>
            </a:r>
          </a:p>
        </p:txBody>
      </p:sp>
      <p:sp>
        <p:nvSpPr>
          <p:cNvPr id="10" name="s10-conclusion">
            <a:extLst xmlns:a="http://schemas.openxmlformats.org/drawingml/2006/main">
              <a:ext uri="{FF2B5EF4-FFF2-40B4-BE49-F238E27FC236}">
                <a16:creationId xmlns:a16="http://schemas.microsoft.com/office/drawing/2014/main" id="{B7288699-A378-4BB8-81DD-1922273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完整 3,606 图验证：Pose mAP50-95 0.514；PCK@0.05 0.6676，仅比 FP32 低 0.0010。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04850" y="1905000"/>
          <a:ext xmlns:a="http://schemas.openxmlformats.org/drawingml/2006/main" cx="60579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bb0ee69637453a"/>
          </a:graphicData>
        </a:graphic>
      </p:graphicFrame>
    </p:spTree>
    <p:extLst>
      <p:ext uri="{BB962C8B-B14F-4D97-AF65-F5344CB8AC3E}">
        <p14:creationId xmlns:p14="http://schemas.microsoft.com/office/powerpoint/2010/main" val="10899185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92E18254-DD6E-44FA-A7EA-A14FC558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1A7135E-D6BA-443E-88BB-2C1D4CC5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提升精度也要闭环：先修证据，再增加模型复杂度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843EF000-5860-40A6-91B7-91FB7CE8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17</a:t>
            </a:r>
          </a:p>
        </p:txBody>
      </p:sp>
      <p:cxnSp>
        <p:nvCxnSpPr>
          <p:cNvPr id="59" name="s3-axis"/>
          <p:cNvCxnSpPr/>
          <p:nvPr/>
        </p:nvCxnSpPr>
        <p:spPr>
          <a:xfrm xmlns:a="http://schemas.openxmlformats.org/drawingml/2006/main">
            <a:off x="742950" y="3333750"/>
            <a:ext cx="106870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3-node1">
            <a:extLst xmlns:a="http://schemas.openxmlformats.org/drawingml/2006/main">
              <a:ext uri="{FF2B5EF4-FFF2-40B4-BE49-F238E27FC236}">
                <a16:creationId xmlns:a16="http://schemas.microsoft.com/office/drawing/2014/main" id="{CEB607B0-5191-4865-8BF2-D92A7046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node2">
            <a:extLst xmlns:a="http://schemas.openxmlformats.org/drawingml/2006/main">
              <a:ext uri="{FF2B5EF4-FFF2-40B4-BE49-F238E27FC236}">
                <a16:creationId xmlns:a16="http://schemas.microsoft.com/office/drawing/2014/main" id="{17CB668F-D74D-4192-89CE-3503DED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node3">
            <a:extLst xmlns:a="http://schemas.openxmlformats.org/drawingml/2006/main">
              <a:ext uri="{FF2B5EF4-FFF2-40B4-BE49-F238E27FC236}">
                <a16:creationId xmlns:a16="http://schemas.microsoft.com/office/drawing/2014/main" id="{D60B953B-D150-44C4-B5BE-BCB16F17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node4">
            <a:extLst xmlns:a="http://schemas.openxmlformats.org/drawingml/2006/main">
              <a:ext uri="{FF2B5EF4-FFF2-40B4-BE49-F238E27FC236}">
                <a16:creationId xmlns:a16="http://schemas.microsoft.com/office/drawing/2014/main" id="{4ED32FCC-3A52-4B8D-85CE-1614522B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-label1">
            <a:extLst xmlns:a="http://schemas.openxmlformats.org/drawingml/2006/main">
              <a:ext uri="{FF2B5EF4-FFF2-40B4-BE49-F238E27FC236}">
                <a16:creationId xmlns:a16="http://schemas.microsoft.com/office/drawing/2014/main" id="{F23FC516-5CDD-4360-94E3-E55A59BF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DATA</a:t>
            </a:r>
          </a:p>
        </p:txBody>
      </p:sp>
      <p:sp>
        <p:nvSpPr>
          <p:cNvPr id="10" name="s3-label2">
            <a:extLst xmlns:a="http://schemas.openxmlformats.org/drawingml/2006/main">
              <a:ext uri="{FF2B5EF4-FFF2-40B4-BE49-F238E27FC236}">
                <a16:creationId xmlns:a16="http://schemas.microsoft.com/office/drawing/2014/main" id="{C2E476CB-E5BC-4DFB-A9A7-8AAA2BB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SLICE</a:t>
            </a:r>
          </a:p>
        </p:txBody>
      </p:sp>
      <p:sp>
        <p:nvSpPr>
          <p:cNvPr id="11" name="s3-label3">
            <a:extLst xmlns:a="http://schemas.openxmlformats.org/drawingml/2006/main">
              <a:ext uri="{FF2B5EF4-FFF2-40B4-BE49-F238E27FC236}">
                <a16:creationId xmlns:a16="http://schemas.microsoft.com/office/drawing/2014/main" id="{B62DE044-6CA7-486A-8C63-465254E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TRAIN</a:t>
            </a:r>
          </a:p>
        </p:txBody>
      </p:sp>
      <p:sp>
        <p:nvSpPr>
          <p:cNvPr id="12" name="s3-label4">
            <a:extLst xmlns:a="http://schemas.openxmlformats.org/drawingml/2006/main">
              <a:ext uri="{FF2B5EF4-FFF2-40B4-BE49-F238E27FC236}">
                <a16:creationId xmlns:a16="http://schemas.microsoft.com/office/drawing/2014/main" id="{9EEE30B3-EF42-464E-B7B9-EBADDA80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43200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GATE</a:t>
            </a:r>
          </a:p>
        </p:txBody>
      </p:sp>
      <p:sp>
        <p:nvSpPr>
          <p:cNvPr id="13" name="s3-title1">
            <a:extLst xmlns:a="http://schemas.openxmlformats.org/drawingml/2006/main">
              <a:ext uri="{FF2B5EF4-FFF2-40B4-BE49-F238E27FC236}">
                <a16:creationId xmlns:a16="http://schemas.microsoft.com/office/drawing/2014/main" id="{67430A42-3894-4E28-8BF5-8DE95541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标注与可见性</a:t>
            </a:r>
          </a:p>
        </p:txBody>
      </p:sp>
      <p:sp>
        <p:nvSpPr>
          <p:cNvPr id="14" name="s3-body1">
            <a:extLst xmlns:a="http://schemas.openxmlformats.org/drawingml/2006/main">
              <a:ext uri="{FF2B5EF4-FFF2-40B4-BE49-F238E27FC236}">
                <a16:creationId xmlns:a16="http://schemas.microsoft.com/office/drawing/2014/main" id="{5A6A2AC7-03C2-47D6-B178-DBB4EBF3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先核查索引 13 全零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以及遮挡点 visibility 语义</a:t>
            </a:r>
          </a:p>
        </p:txBody>
      </p:sp>
      <p:sp>
        <p:nvSpPr>
          <p:cNvPr id="15" name="s3-title2">
            <a:extLst xmlns:a="http://schemas.openxmlformats.org/drawingml/2006/main">
              <a:ext uri="{FF2B5EF4-FFF2-40B4-BE49-F238E27FC236}">
                <a16:creationId xmlns:a16="http://schemas.microsoft.com/office/drawing/2014/main" id="{CD6B03EE-A8C2-4174-96BA-B89EBF1D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误差切片</a:t>
            </a:r>
          </a:p>
        </p:txBody>
      </p:sp>
      <p:sp>
        <p:nvSpPr>
          <p:cNvPr id="16" name="s3-body2">
            <a:extLst xmlns:a="http://schemas.openxmlformats.org/drawingml/2006/main">
              <a:ext uri="{FF2B5EF4-FFF2-40B4-BE49-F238E27FC236}">
                <a16:creationId xmlns:a16="http://schemas.microsoft.com/office/drawing/2014/main" id="{328A32BD-DA51-4867-9E06-ED06AB2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2857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按尺度 / 遮挡 / 截断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统计 NME 与 PCK</a:t>
            </a:r>
          </a:p>
        </p:txBody>
      </p:sp>
      <p:sp>
        <p:nvSpPr>
          <p:cNvPr id="17" name="s3-title3">
            <a:extLst xmlns:a="http://schemas.openxmlformats.org/drawingml/2006/main">
              <a:ext uri="{FF2B5EF4-FFF2-40B4-BE49-F238E27FC236}">
                <a16:creationId xmlns:a16="http://schemas.microsoft.com/office/drawing/2014/main" id="{86645C46-4239-4997-BF3F-7F5E867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低风险增益</a:t>
            </a:r>
          </a:p>
        </p:txBody>
      </p:sp>
      <p:sp>
        <p:nvSpPr>
          <p:cNvPr id="18" name="s3-body3">
            <a:extLst xmlns:a="http://schemas.openxmlformats.org/drawingml/2006/main">
              <a:ext uri="{FF2B5EF4-FFF2-40B4-BE49-F238E27FC236}">
                <a16:creationId xmlns:a16="http://schemas.microsoft.com/office/drawing/2014/main" id="{BFB3DEE9-B78A-4C05-A291-60604385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visibility-aware loss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难例采样 + 合法增强</a:t>
            </a:r>
          </a:p>
        </p:txBody>
      </p:sp>
      <p:sp>
        <p:nvSpPr>
          <p:cNvPr id="19" name="s3-title4">
            <a:extLst xmlns:a="http://schemas.openxmlformats.org/drawingml/2006/main">
              <a:ext uri="{FF2B5EF4-FFF2-40B4-BE49-F238E27FC236}">
                <a16:creationId xmlns:a16="http://schemas.microsoft.com/office/drawing/2014/main" id="{00D52671-1CBB-48CC-9D02-144982A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全量回归</a:t>
            </a:r>
          </a:p>
        </p:txBody>
      </p:sp>
    </p:spTree>
    <p:extLst>
      <p:ext uri="{BB962C8B-B14F-4D97-AF65-F5344CB8AC3E}">
        <p14:creationId xmlns:p14="http://schemas.microsoft.com/office/powerpoint/2010/main" val="1054704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6">
            <a:extLst xmlns:a="http://schemas.openxmlformats.org/drawingml/2006/main">
              <a:ext uri="{FF2B5EF4-FFF2-40B4-BE49-F238E27FC236}">
                <a16:creationId xmlns:a16="http://schemas.microsoft.com/office/drawing/2014/main" id="{953F78EF-FA03-45BA-94E6-4118A4E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CAF357F-A008-424C-B961-67DAB59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给 Codex 的不是长作文，而是可执行工程契约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5504692-3C37-4D2F-8086-84775BAA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18</a:t>
            </a:r>
          </a:p>
        </p:txBody>
      </p:sp>
      <p:sp>
        <p:nvSpPr>
          <p:cNvPr id="4" name="s6-card1">
            <a:extLst xmlns:a="http://schemas.openxmlformats.org/drawingml/2006/main">
              <a:ext uri="{FF2B5EF4-FFF2-40B4-BE49-F238E27FC236}">
                <a16:creationId xmlns:a16="http://schemas.microsoft.com/office/drawing/2014/main" id="{6F505442-4984-4119-A7F4-BEE316F1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card2">
            <a:extLst xmlns:a="http://schemas.openxmlformats.org/drawingml/2006/main">
              <a:ext uri="{FF2B5EF4-FFF2-40B4-BE49-F238E27FC236}">
                <a16:creationId xmlns:a16="http://schemas.microsoft.com/office/drawing/2014/main" id="{6571E7CC-A9F6-4CD6-B638-BAF641CC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card3">
            <a:extLst xmlns:a="http://schemas.openxmlformats.org/drawingml/2006/main">
              <a:ext uri="{FF2B5EF4-FFF2-40B4-BE49-F238E27FC236}">
                <a16:creationId xmlns:a16="http://schemas.microsoft.com/office/drawing/2014/main" id="{CEDF93D0-EA0B-423B-A2C0-B190340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k1">
            <a:extLst xmlns:a="http://schemas.openxmlformats.org/drawingml/2006/main">
              <a:ext uri="{FF2B5EF4-FFF2-40B4-BE49-F238E27FC236}">
                <a16:creationId xmlns:a16="http://schemas.microsoft.com/office/drawing/2014/main" id="{FAAD76E6-DA93-4CCE-9628-AB16DAC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目标</a:t>
            </a:r>
          </a:p>
        </p:txBody>
      </p:sp>
      <p:sp>
        <p:nvSpPr>
          <p:cNvPr id="8" name="s6-t1">
            <a:extLst xmlns:a="http://schemas.openxmlformats.org/drawingml/2006/main">
              <a:ext uri="{FF2B5EF4-FFF2-40B4-BE49-F238E27FC236}">
                <a16:creationId xmlns:a16="http://schemas.microsoft.com/office/drawing/2014/main" id="{9F6D837B-C583-42AC-9669-924DDEB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定义完成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与不可破坏项</a:t>
            </a:r>
          </a:p>
        </p:txBody>
      </p:sp>
      <p:sp>
        <p:nvSpPr>
          <p:cNvPr id="9" name="s6-b1">
            <a:extLst xmlns:a="http://schemas.openxmlformats.org/drawingml/2006/main">
              <a:ext uri="{FF2B5EF4-FFF2-40B4-BE49-F238E27FC236}">
                <a16:creationId xmlns:a16="http://schemas.microsoft.com/office/drawing/2014/main" id="{330B87E2-9D45-4586-BA2A-30E73DA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例：保持 Detect 语义；训练、验证、可视化、测速和文档全部可复现。</a:t>
            </a:r>
          </a:p>
        </p:txBody>
      </p:sp>
      <p:sp>
        <p:nvSpPr>
          <p:cNvPr id="10" name="s6-k2">
            <a:extLst xmlns:a="http://schemas.openxmlformats.org/drawingml/2006/main">
              <a:ext uri="{FF2B5EF4-FFF2-40B4-BE49-F238E27FC236}">
                <a16:creationId xmlns:a16="http://schemas.microsoft.com/office/drawing/2014/main" id="{F0D3AB0A-084D-42C7-BBC9-6263369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证据</a:t>
            </a:r>
          </a:p>
        </p:txBody>
      </p:sp>
      <p:sp>
        <p:nvSpPr>
          <p:cNvPr id="11" name="s6-t2">
            <a:extLst xmlns:a="http://schemas.openxmlformats.org/drawingml/2006/main">
              <a:ext uri="{FF2B5EF4-FFF2-40B4-BE49-F238E27FC236}">
                <a16:creationId xmlns:a16="http://schemas.microsoft.com/office/drawing/2014/main" id="{8B3964F3-CC8F-43AF-B2BB-BE0F4DC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每次读取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真实运行状态</a:t>
            </a:r>
          </a:p>
        </p:txBody>
      </p:sp>
      <p:sp>
        <p:nvSpPr>
          <p:cNvPr id="12" name="s6-b2">
            <a:extLst xmlns:a="http://schemas.openxmlformats.org/drawingml/2006/main">
              <a:ext uri="{FF2B5EF4-FFF2-40B4-BE49-F238E27FC236}">
                <a16:creationId xmlns:a16="http://schemas.microsoft.com/office/drawing/2014/main" id="{18AAB9C3-92E5-4D15-9C6C-7A1785B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PID / GPU / log / epoch / checkpoint / 指标文件；状态不变就不制造“进度”。</a:t>
            </a:r>
          </a:p>
        </p:txBody>
      </p:sp>
      <p:sp>
        <p:nvSpPr>
          <p:cNvPr id="13" name="s6-k3">
            <a:extLst xmlns:a="http://schemas.openxmlformats.org/drawingml/2006/main">
              <a:ext uri="{FF2B5EF4-FFF2-40B4-BE49-F238E27FC236}">
                <a16:creationId xmlns:a16="http://schemas.microsoft.com/office/drawing/2014/main" id="{48FA2360-8E9F-4ED2-B563-2296F15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边界</a:t>
            </a:r>
          </a:p>
        </p:txBody>
      </p:sp>
      <p:sp>
        <p:nvSpPr>
          <p:cNvPr id="14" name="s6-t3">
            <a:extLst xmlns:a="http://schemas.openxmlformats.org/drawingml/2006/main">
              <a:ext uri="{FF2B5EF4-FFF2-40B4-BE49-F238E27FC236}">
                <a16:creationId xmlns:a16="http://schemas.microsoft.com/office/drawing/2014/main" id="{26A71D2F-1DAF-4730-B518-9A5F29C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安全修复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满足停止规则</a:t>
            </a:r>
          </a:p>
        </p:txBody>
      </p:sp>
      <p:sp>
        <p:nvSpPr>
          <p:cNvPr id="15" name="s6-b3">
            <a:extLst xmlns:a="http://schemas.openxmlformats.org/drawingml/2006/main">
              <a:ext uri="{FF2B5EF4-FFF2-40B4-BE49-F238E27FC236}">
                <a16:creationId xmlns:a16="http://schemas.microsoft.com/office/drawing/2014/main" id="{1F4F2B97-5F7F-4B8E-98E8-FE05C8A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不动训练数据、不覆盖 baseline、不重复任务；优化必须同时通过精度与延迟门禁。</a:t>
            </a:r>
          </a:p>
        </p:txBody>
      </p:sp>
      <p:cxnSp>
        <p:nvCxnSpPr>
          <p:cNvPr id="179" name="s6-axis"/>
          <p:cNvCxnSpPr/>
          <p:nvPr/>
        </p:nvCxnSpPr>
        <p:spPr>
          <a:xfrm xmlns:a="http://schemas.openxmlformats.org/drawingml/2006/main">
            <a:off x="952500" y="5600700"/>
            <a:ext cx="1000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s6-dot1">
            <a:extLst xmlns:a="http://schemas.openxmlformats.org/drawingml/2006/main">
              <a:ext uri="{FF2B5EF4-FFF2-40B4-BE49-F238E27FC236}">
                <a16:creationId xmlns:a16="http://schemas.microsoft.com/office/drawing/2014/main" id="{5DCB7394-88A7-4642-9642-4C6DE78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dot2">
            <a:extLst xmlns:a="http://schemas.openxmlformats.org/drawingml/2006/main">
              <a:ext uri="{FF2B5EF4-FFF2-40B4-BE49-F238E27FC236}">
                <a16:creationId xmlns:a16="http://schemas.microsoft.com/office/drawing/2014/main" id="{41A30679-9092-4CF1-BD23-5A231F3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dot3">
            <a:extLst xmlns:a="http://schemas.openxmlformats.org/drawingml/2006/main">
              <a:ext uri="{FF2B5EF4-FFF2-40B4-BE49-F238E27FC236}">
                <a16:creationId xmlns:a16="http://schemas.microsoft.com/office/drawing/2014/main" id="{2CB30759-7BF8-4ED3-A918-FE25518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04206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8">
            <a:extLst xmlns:a="http://schemas.openxmlformats.org/drawingml/2006/main">
              <a:ext uri="{FF2B5EF4-FFF2-40B4-BE49-F238E27FC236}">
                <a16:creationId xmlns:a16="http://schemas.microsoft.com/office/drawing/2014/main" id="{D14621A7-F144-431B-87CB-A28855AF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705BCDA-70D0-4646-89B4-CE6727ED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结构化剪枝只收缩隐藏通道，检测与姿态输出保持不变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6CC876D3-E3FE-4F76-832C-8E3E99CE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19</a:t>
            </a:r>
          </a:p>
        </p:txBody>
      </p:sp>
      <p:sp>
        <p:nvSpPr>
          <p:cNvPr id="4" name="s8-before-label">
            <a:extLst xmlns:a="http://schemas.openxmlformats.org/drawingml/2006/main">
              <a:ext uri="{FF2B5EF4-FFF2-40B4-BE49-F238E27FC236}">
                <a16:creationId xmlns:a16="http://schemas.microsoft.com/office/drawing/2014/main" id="{7B17ADD0-F8D8-4F66-85BB-1545C6C1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42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5484D"/>
                </a:solidFill>
                <a:latin typeface="PingFang SC"/>
                <a:ea typeface="PingFang SC"/>
                <a:cs typeface="PingFang SC"/>
              </a:defRPr>
            </a:pPr>
            <a:r>
              <a:t>Baseline｜全宽 Backbone / Neck + 双分支 Pose Head</a:t>
            </a:r>
          </a:p>
        </p:txBody>
      </p:sp>
      <p:sp>
        <p:nvSpPr>
          <p:cNvPr id="5" name="s8-after-label">
            <a:extLst xmlns:a="http://schemas.openxmlformats.org/drawingml/2006/main">
              <a:ext uri="{FF2B5EF4-FFF2-40B4-BE49-F238E27FC236}">
                <a16:creationId xmlns:a16="http://schemas.microsoft.com/office/drawing/2014/main" id="{A3439E71-B62A-4788-B814-3E0C5EA8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542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Pruned Student｜DepGraph 同步收缩耦合通道</a:t>
            </a:r>
          </a:p>
        </p:txBody>
      </p:sp>
      <p:sp>
        <p:nvSpPr>
          <p:cNvPr id="6" name="s8-frame1">
            <a:extLst xmlns:a="http://schemas.openxmlformats.org/drawingml/2006/main">
              <a:ext uri="{FF2B5EF4-FFF2-40B4-BE49-F238E27FC236}">
                <a16:creationId xmlns:a16="http://schemas.microsoft.com/office/drawing/2014/main" id="{BAA5145D-9B89-4056-AB55-33FA91F9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429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E5484D"/>
            </a:solidFill>
            <a:prstDash val="solid"/>
          </a:ln>
        </p:spPr>
      </p:sp>
      <p:sp>
        <p:nvSpPr>
          <p:cNvPr id="7" name="s8-frame2">
            <a:extLst xmlns:a="http://schemas.openxmlformats.org/drawingml/2006/main">
              <a:ext uri="{FF2B5EF4-FFF2-40B4-BE49-F238E27FC236}">
                <a16:creationId xmlns:a16="http://schemas.microsoft.com/office/drawing/2014/main" id="{7802FFEF-7B33-476C-B0BF-38705B96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5429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0FBF6"/>
          </a:solidFill>
          <a:ln xmlns:a="http://schemas.openxmlformats.org/drawingml/2006/main" w="9525">
            <a:solidFill>
              <a:srgbClr val="18A36B"/>
            </a:solidFill>
            <a:prstDash val="solid"/>
          </a:ln>
        </p:spPr>
      </p:sp>
      <p:sp>
        <p:nvSpPr>
          <p:cNvPr id="8" name="s8-note">
            <a:extLst xmlns:a="http://schemas.openxmlformats.org/drawingml/2006/main">
              <a:ext uri="{FF2B5EF4-FFF2-40B4-BE49-F238E27FC236}">
                <a16:creationId xmlns:a16="http://schemas.microsoft.com/office/drawing/2014/main" id="{C115F946-DC8B-4306-9650-488EEFC9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8953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非 mask 稀疏：Conv out → BN → Conv in 成组删除；18 个输出 Conv 固定为 64 / 1 / 42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efcd34b90433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95300" y="2419350"/>
            <a:ext cx="5238750" cy="3162300"/>
          </a:xfrm>
          <a:prstGeom xmlns:a="http://schemas.openxmlformats.org/drawingml/2006/main" prst="round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6d814c71b94f7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457950" y="2419350"/>
            <a:ext cx="5238750" cy="31623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470050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7">
            <a:extLst xmlns:a="http://schemas.openxmlformats.org/drawingml/2006/main">
              <a:ext uri="{FF2B5EF4-FFF2-40B4-BE49-F238E27FC236}">
                <a16:creationId xmlns:a16="http://schemas.microsoft.com/office/drawing/2014/main" id="{55FDED32-D549-4A73-9400-762D7D7B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DA722D4-6469-4870-813C-89524112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参数与模型大小先给实测：结构变小，但精度与延迟门禁均失败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29CCC1C3-69E8-493B-B705-0877062D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20</a:t>
            </a:r>
          </a:p>
        </p:txBody>
      </p:sp>
      <p:sp>
        <p:nvSpPr>
          <p:cNvPr id="4" name="s7-stat1">
            <a:extLst xmlns:a="http://schemas.openxmlformats.org/drawingml/2006/main">
              <a:ext uri="{FF2B5EF4-FFF2-40B4-BE49-F238E27FC236}">
                <a16:creationId xmlns:a16="http://schemas.microsoft.com/office/drawing/2014/main" id="{D5D6A779-B49F-4E66-9AB8-D959F095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7-stat2">
            <a:extLst xmlns:a="http://schemas.openxmlformats.org/drawingml/2006/main">
              <a:ext uri="{FF2B5EF4-FFF2-40B4-BE49-F238E27FC236}">
                <a16:creationId xmlns:a16="http://schemas.microsoft.com/office/drawing/2014/main" id="{6491C3E3-81BD-4172-8022-1C3119C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7-stat3">
            <a:extLst xmlns:a="http://schemas.openxmlformats.org/drawingml/2006/main">
              <a:ext uri="{FF2B5EF4-FFF2-40B4-BE49-F238E27FC236}">
                <a16:creationId xmlns:a16="http://schemas.microsoft.com/office/drawing/2014/main" id="{9ED630AF-8B06-43EE-B3DF-33DEAA25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7-v1">
            <a:extLst xmlns:a="http://schemas.openxmlformats.org/drawingml/2006/main">
              <a:ext uri="{FF2B5EF4-FFF2-40B4-BE49-F238E27FC236}">
                <a16:creationId xmlns:a16="http://schemas.microsoft.com/office/drawing/2014/main" id="{6439BBC3-6AC6-487D-9CC5-35162754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4.006M</a:t>
            </a:r>
          </a:p>
        </p:txBody>
      </p:sp>
      <p:sp>
        <p:nvSpPr>
          <p:cNvPr id="8" name="s7-l1">
            <a:extLst xmlns:a="http://schemas.openxmlformats.org/drawingml/2006/main">
              <a:ext uri="{FF2B5EF4-FFF2-40B4-BE49-F238E27FC236}">
                <a16:creationId xmlns:a16="http://schemas.microsoft.com/office/drawing/2014/main" id="{23CF6CC3-BD80-4603-8198-A2A4F95B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581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Baseline 参数｜200 epoch</a:t>
            </a:r>
          </a:p>
        </p:txBody>
      </p:sp>
      <p:sp>
        <p:nvSpPr>
          <p:cNvPr id="9" name="s7-v2">
            <a:extLst xmlns:a="http://schemas.openxmlformats.org/drawingml/2006/main">
              <a:ext uri="{FF2B5EF4-FFF2-40B4-BE49-F238E27FC236}">
                <a16:creationId xmlns:a16="http://schemas.microsoft.com/office/drawing/2014/main" id="{05ECF9EB-2985-4815-903C-537C035F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3.351M</a:t>
            </a:r>
          </a:p>
        </p:txBody>
      </p:sp>
      <p:sp>
        <p:nvSpPr>
          <p:cNvPr id="10" name="s7-l2">
            <a:extLst xmlns:a="http://schemas.openxmlformats.org/drawingml/2006/main">
              <a:ext uri="{FF2B5EF4-FFF2-40B4-BE49-F238E27FC236}">
                <a16:creationId xmlns:a16="http://schemas.microsoft.com/office/drawing/2014/main" id="{3239F3EE-3004-4390-A575-22C6A7E9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4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Pruned + KD｜−16.36%</a:t>
            </a:r>
          </a:p>
        </p:txBody>
      </p:sp>
      <p:sp>
        <p:nvSpPr>
          <p:cNvPr id="11" name="s7-v3">
            <a:extLst xmlns:a="http://schemas.openxmlformats.org/drawingml/2006/main">
              <a:ext uri="{FF2B5EF4-FFF2-40B4-BE49-F238E27FC236}">
                <a16:creationId xmlns:a16="http://schemas.microsoft.com/office/drawing/2014/main" id="{27AD3CC4-09DC-4D84-952C-536233C1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5.682ms</a:t>
            </a:r>
          </a:p>
        </p:txBody>
      </p:sp>
      <p:sp>
        <p:nvSpPr>
          <p:cNvPr id="12" name="s7-l3">
            <a:extLst xmlns:a="http://schemas.openxmlformats.org/drawingml/2006/main">
              <a:ext uri="{FF2B5EF4-FFF2-40B4-BE49-F238E27FC236}">
                <a16:creationId xmlns:a16="http://schemas.microsoft.com/office/drawing/2014/main" id="{777A1CF7-8072-44A8-A1B5-88BBCED8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3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FP16 latency｜仅 −0.34%</a:t>
            </a:r>
          </a:p>
        </p:txBody>
      </p:sp>
      <p:sp>
        <p:nvSpPr>
          <p:cNvPr id="13" name="s7-data">
            <a:extLst xmlns:a="http://schemas.openxmlformats.org/drawingml/2006/main">
              <a:ext uri="{FF2B5EF4-FFF2-40B4-BE49-F238E27FC236}">
                <a16:creationId xmlns:a16="http://schemas.microsoft.com/office/drawing/2014/main" id="{EB931DA8-5C8C-4E79-82C6-B0CA748E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14500"/>
            <a:ext cx="29527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Checkpoint  8.42 → 7.06 MB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−16.20%｜Pose  0.5146 → 0.4153</a:t>
            </a:r>
          </a:p>
        </p:txBody>
      </p:sp>
      <p:sp>
        <p:nvSpPr>
          <p:cNvPr id="14" name="s7-image-frame">
            <a:extLst xmlns:a="http://schemas.openxmlformats.org/drawingml/2006/main">
              <a:ext uri="{FF2B5EF4-FFF2-40B4-BE49-F238E27FC236}">
                <a16:creationId xmlns:a16="http://schemas.microsoft.com/office/drawing/2014/main" id="{0CF844A8-3588-4041-B839-298F95C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113919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cca2f8b3245b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562100" y="3276600"/>
            <a:ext cx="9067800" cy="25908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6828435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2">
            <a:extLst xmlns:a="http://schemas.openxmlformats.org/drawingml/2006/main">
              <a:ext uri="{FF2B5EF4-FFF2-40B4-BE49-F238E27FC236}">
                <a16:creationId xmlns:a16="http://schemas.microsoft.com/office/drawing/2014/main" id="{FBDD2EA4-B671-4FF6-B4BB-7F2657B8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E5F7527-4FDD-4BDD-971E-BC40FF55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恢复蒸馏对齐双分支 raw outputs，不绑定隐藏通道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DCBD2FA4-F908-4AE1-93C3-E8A0A67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21</a:t>
            </a:r>
          </a:p>
        </p:txBody>
      </p:sp>
      <p:sp>
        <p:nvSpPr>
          <p:cNvPr id="4" name="s2-l1">
            <a:extLst xmlns:a="http://schemas.openxmlformats.org/drawingml/2006/main">
              <a:ext uri="{FF2B5EF4-FFF2-40B4-BE49-F238E27FC236}">
                <a16:creationId xmlns:a16="http://schemas.microsoft.com/office/drawing/2014/main" id="{4828FDAE-812C-4D47-B6D9-EC783D48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教师</a:t>
            </a:r>
          </a:p>
        </p:txBody>
      </p:sp>
      <p:sp>
        <p:nvSpPr>
          <p:cNvPr id="5" name="s2-b1">
            <a:extLst xmlns:a="http://schemas.openxmlformats.org/drawingml/2006/main">
              <a:ext uri="{FF2B5EF4-FFF2-40B4-BE49-F238E27FC236}">
                <a16:creationId xmlns:a16="http://schemas.microsoft.com/office/drawing/2014/main" id="{BA25FDA1-1438-4B1F-BB74-5E4B881C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95525"/>
            <a:ext cx="4476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009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640 baseline · eval / frozen
不进入 optimizer / EMA / checkpoint</a:t>
            </a:r>
          </a:p>
        </p:txBody>
      </p:sp>
      <p:sp>
        <p:nvSpPr>
          <p:cNvPr id="6" name="s2-l2">
            <a:extLst xmlns:a="http://schemas.openxmlformats.org/drawingml/2006/main">
              <a:ext uri="{FF2B5EF4-FFF2-40B4-BE49-F238E27FC236}">
                <a16:creationId xmlns:a16="http://schemas.microsoft.com/office/drawing/2014/main" id="{F98C2AF0-8EC6-47E9-897F-6830D0C3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学生</a:t>
            </a:r>
          </a:p>
        </p:txBody>
      </p:sp>
      <p:sp>
        <p:nvSpPr>
          <p:cNvPr id="7" name="s2-b2">
            <a:extLst xmlns:a="http://schemas.openxmlformats.org/drawingml/2006/main">
              <a:ext uri="{FF2B5EF4-FFF2-40B4-BE49-F238E27FC236}">
                <a16:creationId xmlns:a16="http://schemas.microsoft.com/office/drawing/2014/main" id="{6AB57DD4-2D5F-4AA0-BF7F-4705F0FB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4762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640 pruned model · trainable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100 epoch · batch 64 · 保留真实 GT 监督</a:t>
            </a:r>
          </a:p>
        </p:txBody>
      </p:sp>
      <p:sp>
        <p:nvSpPr>
          <p:cNvPr id="8" name="s2-l3">
            <a:extLst xmlns:a="http://schemas.openxmlformats.org/drawingml/2006/main">
              <a:ext uri="{FF2B5EF4-FFF2-40B4-BE49-F238E27FC236}">
                <a16:creationId xmlns:a16="http://schemas.microsoft.com/office/drawing/2014/main" id="{8ABCE45F-5158-428C-8C75-113F065A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部署目标</a:t>
            </a:r>
          </a:p>
        </p:txBody>
      </p:sp>
      <p:sp>
        <p:nvSpPr>
          <p:cNvPr id="9" name="s2-b3">
            <a:extLst xmlns:a="http://schemas.openxmlformats.org/drawingml/2006/main">
              <a:ext uri="{FF2B5EF4-FFF2-40B4-BE49-F238E27FC236}">
                <a16:creationId xmlns:a16="http://schemas.microsoft.com/office/drawing/2014/main" id="{AF9293B6-6A39-4894-A861-F83ED44A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476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9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L = Lsup + 0.25·LKD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部署只保留 Student；仍须通过 latency gate</a:t>
            </a:r>
          </a:p>
        </p:txBody>
      </p:sp>
      <p:sp>
        <p:nvSpPr>
          <p:cNvPr id="10" name="s2-image-frame">
            <a:extLst xmlns:a="http://schemas.openxmlformats.org/drawingml/2006/main">
              <a:ext uri="{FF2B5EF4-FFF2-40B4-BE49-F238E27FC236}">
                <a16:creationId xmlns:a16="http://schemas.microsoft.com/office/drawing/2014/main" id="{B78F0978-41B6-44D3-9E77-B91774FB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66875"/>
            <a:ext cx="61722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a4718b97d46e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619750" y="1666875"/>
            <a:ext cx="6172200" cy="43243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1271715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92E18254-DD6E-44FA-A7EA-A14FC558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1A7135E-D6BA-443E-88BB-2C1D4CC5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精度修复保护 Head，但训练前延迟门禁证明当前剪枝路径应停止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843EF000-5860-40A6-91B7-91FB7CE8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22</a:t>
            </a:r>
          </a:p>
        </p:txBody>
      </p:sp>
      <p:cxnSp>
        <p:nvCxnSpPr>
          <p:cNvPr id="59" name="s3-axis"/>
          <p:cNvCxnSpPr/>
          <p:nvPr/>
        </p:nvCxnSpPr>
        <p:spPr>
          <a:xfrm xmlns:a="http://schemas.openxmlformats.org/drawingml/2006/main">
            <a:off x="742950" y="3333750"/>
            <a:ext cx="106870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3-node1">
            <a:extLst xmlns:a="http://schemas.openxmlformats.org/drawingml/2006/main">
              <a:ext uri="{FF2B5EF4-FFF2-40B4-BE49-F238E27FC236}">
                <a16:creationId xmlns:a16="http://schemas.microsoft.com/office/drawing/2014/main" id="{CEB607B0-5191-4865-8BF2-D92A7046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node2">
            <a:extLst xmlns:a="http://schemas.openxmlformats.org/drawingml/2006/main">
              <a:ext uri="{FF2B5EF4-FFF2-40B4-BE49-F238E27FC236}">
                <a16:creationId xmlns:a16="http://schemas.microsoft.com/office/drawing/2014/main" id="{17CB668F-D74D-4192-89CE-3503DED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node3">
            <a:extLst xmlns:a="http://schemas.openxmlformats.org/drawingml/2006/main">
              <a:ext uri="{FF2B5EF4-FFF2-40B4-BE49-F238E27FC236}">
                <a16:creationId xmlns:a16="http://schemas.microsoft.com/office/drawing/2014/main" id="{D60B953B-D150-44C4-B5BE-BCB16F17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node4">
            <a:extLst xmlns:a="http://schemas.openxmlformats.org/drawingml/2006/main">
              <a:ext uri="{FF2B5EF4-FFF2-40B4-BE49-F238E27FC236}">
                <a16:creationId xmlns:a16="http://schemas.microsoft.com/office/drawing/2014/main" id="{4ED32FCC-3A52-4B8D-85CE-1614522B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-label1">
            <a:extLst xmlns:a="http://schemas.openxmlformats.org/drawingml/2006/main">
              <a:ext uri="{FF2B5EF4-FFF2-40B4-BE49-F238E27FC236}">
                <a16:creationId xmlns:a16="http://schemas.microsoft.com/office/drawing/2014/main" id="{F23FC516-5CDD-4360-94E3-E55A59BF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EVIDENCE</a:t>
            </a:r>
          </a:p>
        </p:txBody>
      </p:sp>
      <p:sp>
        <p:nvSpPr>
          <p:cNvPr id="10" name="s3-label2">
            <a:extLst xmlns:a="http://schemas.openxmlformats.org/drawingml/2006/main">
              <a:ext uri="{FF2B5EF4-FFF2-40B4-BE49-F238E27FC236}">
                <a16:creationId xmlns:a16="http://schemas.microsoft.com/office/drawing/2014/main" id="{C2E476CB-E5BC-4DFB-A9A7-8AAA2BB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REPAIR</a:t>
            </a:r>
          </a:p>
        </p:txBody>
      </p:sp>
      <p:sp>
        <p:nvSpPr>
          <p:cNvPr id="11" name="s3-label3">
            <a:extLst xmlns:a="http://schemas.openxmlformats.org/drawingml/2006/main">
              <a:ext uri="{FF2B5EF4-FFF2-40B4-BE49-F238E27FC236}">
                <a16:creationId xmlns:a16="http://schemas.microsoft.com/office/drawing/2014/main" id="{B62DE044-6CA7-486A-8C63-465254E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PRE-GATE</a:t>
            </a:r>
          </a:p>
        </p:txBody>
      </p:sp>
      <p:sp>
        <p:nvSpPr>
          <p:cNvPr id="12" name="s3-label4">
            <a:extLst xmlns:a="http://schemas.openxmlformats.org/drawingml/2006/main">
              <a:ext uri="{FF2B5EF4-FFF2-40B4-BE49-F238E27FC236}">
                <a16:creationId xmlns:a16="http://schemas.microsoft.com/office/drawing/2014/main" id="{9EEE30B3-EF42-464E-B7B9-EBADDA80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43200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STOP</a:t>
            </a:r>
          </a:p>
        </p:txBody>
      </p:sp>
      <p:sp>
        <p:nvSpPr>
          <p:cNvPr id="13" name="s3-title1">
            <a:extLst xmlns:a="http://schemas.openxmlformats.org/drawingml/2006/main">
              <a:ext uri="{FF2B5EF4-FFF2-40B4-BE49-F238E27FC236}">
                <a16:creationId xmlns:a16="http://schemas.microsoft.com/office/drawing/2014/main" id="{67430A42-3894-4E28-8BF5-8DE95541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定位敏感容量</a:t>
            </a:r>
          </a:p>
        </p:txBody>
      </p:sp>
      <p:sp>
        <p:nvSpPr>
          <p:cNvPr id="14" name="s3-body1">
            <a:extLst xmlns:a="http://schemas.openxmlformats.org/drawingml/2006/main">
              <a:ext uri="{FF2B5EF4-FFF2-40B4-BE49-F238E27FC236}">
                <a16:creationId xmlns:a16="http://schemas.microsoft.com/office/drawing/2014/main" id="{5A6A2AC7-03C2-47D6-B178-DBB4EBF3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36 / 53 根在 Head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Head 参数占比 53.9%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100e 早期达峰</a:t>
            </a:r>
          </a:p>
        </p:txBody>
      </p:sp>
      <p:sp>
        <p:nvSpPr>
          <p:cNvPr id="15" name="s3-title2">
            <a:extLst xmlns:a="http://schemas.openxmlformats.org/drawingml/2006/main">
              <a:ext uri="{FF2B5EF4-FFF2-40B4-BE49-F238E27FC236}">
                <a16:creationId xmlns:a16="http://schemas.microsoft.com/office/drawing/2014/main" id="{CD6B03EE-A8C2-4174-96BA-B89EBF1D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分层剪枝修复</a:t>
            </a:r>
          </a:p>
        </p:txBody>
      </p:sp>
      <p:sp>
        <p:nvSpPr>
          <p:cNvPr id="16" name="s3-body2">
            <a:extLst xmlns:a="http://schemas.openxmlformats.org/drawingml/2006/main">
              <a:ext uri="{FF2B5EF4-FFF2-40B4-BE49-F238E27FC236}">
                <a16:creationId xmlns:a16="http://schemas.microsoft.com/office/drawing/2014/main" id="{328A32BD-DA51-4867-9E06-ED06AB2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2857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Backbone / Neck 20%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Head 0% 完全保护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round-to-16</a:t>
            </a:r>
          </a:p>
        </p:txBody>
      </p:sp>
      <p:sp>
        <p:nvSpPr>
          <p:cNvPr id="17" name="s3-title3">
            <a:extLst xmlns:a="http://schemas.openxmlformats.org/drawingml/2006/main">
              <a:ext uri="{FF2B5EF4-FFF2-40B4-BE49-F238E27FC236}">
                <a16:creationId xmlns:a16="http://schemas.microsoft.com/office/drawing/2014/main" id="{86645C46-4239-4997-BF3F-7F5E867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结构收益不足</a:t>
            </a:r>
          </a:p>
        </p:txBody>
      </p:sp>
      <p:sp>
        <p:nvSpPr>
          <p:cNvPr id="18" name="s3-body3">
            <a:extLst xmlns:a="http://schemas.openxmlformats.org/drawingml/2006/main">
              <a:ext uri="{FF2B5EF4-FFF2-40B4-BE49-F238E27FC236}">
                <a16:creationId xmlns:a16="http://schemas.microsoft.com/office/drawing/2014/main" id="{BFB3DEE9-B78A-4C05-A291-60604385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参数 −4.71%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GFLOPs 13.5 → 12.9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FP16 5.701 → 5.923 ms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延迟 +3.89%（更慢）</a:t>
            </a:r>
          </a:p>
        </p:txBody>
      </p:sp>
      <p:sp>
        <p:nvSpPr>
          <p:cNvPr id="19" name="s3-title4">
            <a:extLst xmlns:a="http://schemas.openxmlformats.org/drawingml/2006/main">
              <a:ext uri="{FF2B5EF4-FFF2-40B4-BE49-F238E27FC236}">
                <a16:creationId xmlns:a16="http://schemas.microsoft.com/office/drawing/2014/main" id="{00D52671-1CBB-48CC-9D02-144982A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57959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15 / 15 TEST PASS</a:t>
            </a:r>
          </a:p>
          <a:p xmlns:a="http://schemas.openxmlformats.org/drawingml/2006/main">
            <a:pPr algn="r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FORMAL TRAIN: STOPPED</a:t>
            </a:r>
          </a:p>
        </p:txBody>
      </p:sp>
    </p:spTree>
    <p:extLst>
      <p:ext uri="{BB962C8B-B14F-4D97-AF65-F5344CB8AC3E}">
        <p14:creationId xmlns:p14="http://schemas.microsoft.com/office/powerpoint/2010/main" val="1054704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4">
            <a:extLst xmlns:a="http://schemas.openxmlformats.org/drawingml/2006/main">
              <a:ext uri="{FF2B5EF4-FFF2-40B4-BE49-F238E27FC236}">
                <a16:creationId xmlns:a16="http://schemas.microsoft.com/office/drawing/2014/main" id="{E1337F58-A6A9-4527-8756-BC5FD30B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EB9FBB8E-B20F-41A7-9CFF-8FCDD787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FastHead 不做任意剪枝：显式缩短 Pose / Box 输出塔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34230DE4-DB60-4843-9907-0AB0A594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23</a:t>
            </a:r>
          </a:p>
        </p:txBody>
      </p:sp>
      <p:sp>
        <p:nvSpPr>
          <p:cNvPr id="4" name="s4-left-title">
            <a:extLst xmlns:a="http://schemas.openxmlformats.org/drawingml/2006/main">
              <a:ext uri="{FF2B5EF4-FFF2-40B4-BE49-F238E27FC236}">
                <a16:creationId xmlns:a16="http://schemas.microsoft.com/office/drawing/2014/main" id="{A2477635-937A-4A9A-B33A-65FF1C6B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结构变量可控，部署图先验收</a:t>
            </a:r>
          </a:p>
        </p:txBody>
      </p:sp>
      <p:sp>
        <p:nvSpPr>
          <p:cNvPr id="5" name="s4-left-body">
            <a:extLst xmlns:a="http://schemas.openxmlformats.org/drawingml/2006/main">
              <a:ext uri="{FF2B5EF4-FFF2-40B4-BE49-F238E27FC236}">
                <a16:creationId xmlns:a16="http://schemas.microsoft.com/office/drawing/2014/main" id="{73F26C40-929A-45D0-B906-085A6CA3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409575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固定 Backbone / Neck 与输出语义，只改变 Pose Tower 宽度、深度和 Box Tower 深度。候选必须先过参数、GFLOPs、真实延迟三门禁。</a:t>
            </a:r>
          </a:p>
        </p:txBody>
      </p:sp>
      <p:sp>
        <p:nvSpPr>
          <p:cNvPr id="6" name="s4-code-bg">
            <a:extLst xmlns:a="http://schemas.openxmlformats.org/drawingml/2006/main">
              <a:ext uri="{FF2B5EF4-FFF2-40B4-BE49-F238E27FC236}">
                <a16:creationId xmlns:a16="http://schemas.microsoft.com/office/drawing/2014/main" id="{8FB7B538-7778-4F13-97AA-DF63C814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4-code">
            <a:extLst xmlns:a="http://schemas.openxmlformats.org/drawingml/2006/main">
              <a:ext uri="{FF2B5EF4-FFF2-40B4-BE49-F238E27FC236}">
                <a16:creationId xmlns:a16="http://schemas.microsoft.com/office/drawing/2014/main" id="{45BDBAC4-9728-42CF-9D51-688973D4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5623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t>Pose: 96×2 → {96×1, 64×2,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t>64×1, 32×1}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t>Box depth: 2 → 1</a:t>
            </a:r>
          </a:p>
        </p:txBody>
      </p:sp>
      <p:cxnSp>
        <p:nvCxnSpPr>
          <p:cNvPr id="107" name="s4-arrow1"/>
          <p:cNvCxnSpPr/>
          <p:nvPr/>
        </p:nvCxnSpPr>
        <p:spPr>
          <a:xfrm xmlns:a="http://schemas.openxmlformats.org/drawingml/2006/main">
            <a:off x="5048250" y="2876550"/>
            <a:ext cx="114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108" name="s4-arrow2"/>
          <p:cNvCxnSpPr/>
          <p:nvPr/>
        </p:nvCxnSpPr>
        <p:spPr>
          <a:xfrm xmlns:a="http://schemas.openxmlformats.org/drawingml/2006/main">
            <a:off x="7762875" y="2876550"/>
            <a:ext cx="114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0" name="s4-n1">
            <a:extLst xmlns:a="http://schemas.openxmlformats.org/drawingml/2006/main">
              <a:ext uri="{FF2B5EF4-FFF2-40B4-BE49-F238E27FC236}">
                <a16:creationId xmlns:a16="http://schemas.microsoft.com/office/drawing/2014/main" id="{038804CA-7AE9-4B5C-8A1A-09EC8747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14550"/>
            <a:ext cx="2333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4-n1t">
            <a:extLst xmlns:a="http://schemas.openxmlformats.org/drawingml/2006/main">
              <a:ext uri="{FF2B5EF4-FFF2-40B4-BE49-F238E27FC236}">
                <a16:creationId xmlns:a16="http://schemas.microsoft.com/office/drawing/2014/main" id="{C1B7F502-BFA3-4DE0-A109-EC83C354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765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06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Baseline Head</a:t>
            </a:r>
          </a:p>
        </p:txBody>
      </p:sp>
      <p:sp>
        <p:nvSpPr>
          <p:cNvPr id="12" name="s4-n1b">
            <a:extLst xmlns:a="http://schemas.openxmlformats.org/drawingml/2006/main">
              <a:ext uri="{FF2B5EF4-FFF2-40B4-BE49-F238E27FC236}">
                <a16:creationId xmlns:a16="http://schemas.microsoft.com/office/drawing/2014/main" id="{79939B4A-6DB6-4443-935C-5ED4159A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0990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Pose 96×2 · Box×2</a:t>
            </a:r>
          </a:p>
        </p:txBody>
      </p:sp>
      <p:sp>
        <p:nvSpPr>
          <p:cNvPr id="13" name="s4-n2">
            <a:extLst xmlns:a="http://schemas.openxmlformats.org/drawingml/2006/main">
              <a:ext uri="{FF2B5EF4-FFF2-40B4-BE49-F238E27FC236}">
                <a16:creationId xmlns:a16="http://schemas.microsoft.com/office/drawing/2014/main" id="{E6E0FB75-6B73-447A-9D66-3EB8A938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14550"/>
            <a:ext cx="2333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4-n2t">
            <a:extLst xmlns:a="http://schemas.openxmlformats.org/drawingml/2006/main">
              <a:ext uri="{FF2B5EF4-FFF2-40B4-BE49-F238E27FC236}">
                <a16:creationId xmlns:a16="http://schemas.microsoft.com/office/drawing/2014/main" id="{C7E2C77D-5746-4EB7-BB68-31A32DAE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765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17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FastHead Search</a:t>
            </a:r>
          </a:p>
        </p:txBody>
      </p:sp>
      <p:sp>
        <p:nvSpPr>
          <p:cNvPr id="15" name="s4-n2b">
            <a:extLst xmlns:a="http://schemas.openxmlformats.org/drawingml/2006/main">
              <a:ext uri="{FF2B5EF4-FFF2-40B4-BE49-F238E27FC236}">
                <a16:creationId xmlns:a16="http://schemas.microsoft.com/office/drawing/2014/main" id="{A2A1C012-13BD-463A-A342-6EE78620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0990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8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width / depth ablation</a:t>
            </a:r>
          </a:p>
        </p:txBody>
      </p:sp>
      <p:sp>
        <p:nvSpPr>
          <p:cNvPr id="16" name="s4-n3">
            <a:extLst xmlns:a="http://schemas.openxmlformats.org/drawingml/2006/main">
              <a:ext uri="{FF2B5EF4-FFF2-40B4-BE49-F238E27FC236}">
                <a16:creationId xmlns:a16="http://schemas.microsoft.com/office/drawing/2014/main" id="{2EF1589B-5778-403B-B03B-EA70FE87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114550"/>
            <a:ext cx="1362075" cy="156210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4-n3t">
            <a:extLst xmlns:a="http://schemas.openxmlformats.org/drawingml/2006/main">
              <a:ext uri="{FF2B5EF4-FFF2-40B4-BE49-F238E27FC236}">
                <a16:creationId xmlns:a16="http://schemas.microsoft.com/office/drawing/2014/main" id="{E554EAE9-1E29-41EF-BABE-12EC9D13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457450"/>
            <a:ext cx="1047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49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Gate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then train</a:t>
            </a:r>
          </a:p>
        </p:txBody>
      </p:sp>
      <p:sp>
        <p:nvSpPr>
          <p:cNvPr id="18" name="s4-foot">
            <a:extLst xmlns:a="http://schemas.openxmlformats.org/drawingml/2006/main">
              <a:ext uri="{FF2B5EF4-FFF2-40B4-BE49-F238E27FC236}">
                <a16:creationId xmlns:a16="http://schemas.microsoft.com/office/drawing/2014/main" id="{8D619FAA-F475-4E3F-8DBD-108298C3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05300"/>
            <a:ext cx="66484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DFL64 / cls1 / pose42 及双分配语义保持不变；只训练通过真实延迟门禁的结构</a:t>
            </a:r>
          </a:p>
        </p:txBody>
      </p:sp>
    </p:spTree>
    <p:extLst>
      <p:ext uri="{BB962C8B-B14F-4D97-AF65-F5344CB8AC3E}">
        <p14:creationId xmlns:p14="http://schemas.microsoft.com/office/powerpoint/2010/main" val="19460946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0">
            <a:extLst xmlns:a="http://schemas.openxmlformats.org/drawingml/2006/main">
              <a:ext uri="{FF2B5EF4-FFF2-40B4-BE49-F238E27FC236}">
                <a16:creationId xmlns:a16="http://schemas.microsoft.com/office/drawing/2014/main" id="{8202CE1C-059F-40E4-93DA-2EA633A4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F6B04CD-11E2-4C1E-91D5-CDA93448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七组缩减实验先测延迟：更小不等于更快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9E38C73-2A80-4A6F-8C83-2CB1DF82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24</a:t>
            </a:r>
          </a:p>
        </p:txBody>
      </p:sp>
      <p:sp>
        <p:nvSpPr>
          <p:cNvPr id="4" name="s10-chart-frame">
            <a:extLst xmlns:a="http://schemas.openxmlformats.org/drawingml/2006/main">
              <a:ext uri="{FF2B5EF4-FFF2-40B4-BE49-F238E27FC236}">
                <a16:creationId xmlns:a16="http://schemas.microsoft.com/office/drawing/2014/main" id="{D9BD1F2A-45FB-4D64-9D0D-69A98D9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00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0-method">
            <a:extLst xmlns:a="http://schemas.openxmlformats.org/drawingml/2006/main">
              <a:ext uri="{FF2B5EF4-FFF2-40B4-BE49-F238E27FC236}">
                <a16:creationId xmlns:a16="http://schemas.microsoft.com/office/drawing/2014/main" id="{9BA9C8E9-574A-4B98-A93C-33EC5A2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4095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RTX 3090 Ti · 640 · batch1 · one-to-one-only · Conv/BN fuse · FP16</a:t>
            </a:r>
          </a:p>
        </p:txBody>
      </p:sp>
      <p:sp>
        <p:nvSpPr>
          <p:cNvPr id="6" name="s10-stat1">
            <a:extLst xmlns:a="http://schemas.openxmlformats.org/drawingml/2006/main">
              <a:ext uri="{FF2B5EF4-FFF2-40B4-BE49-F238E27FC236}">
                <a16:creationId xmlns:a16="http://schemas.microsoft.com/office/drawing/2014/main" id="{0882864E-963E-47A0-BBB5-A320F24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200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301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−24.64%</a:t>
            </a:r>
          </a:p>
        </p:txBody>
      </p:sp>
      <p:sp>
        <p:nvSpPr>
          <p:cNvPr id="7" name="s10-stat1l">
            <a:extLst xmlns:a="http://schemas.openxmlformats.org/drawingml/2006/main">
              <a:ext uri="{FF2B5EF4-FFF2-40B4-BE49-F238E27FC236}">
                <a16:creationId xmlns:a16="http://schemas.microsoft.com/office/drawing/2014/main" id="{41886ECD-DBD7-4E2E-A406-243B930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参数量</a:t>
            </a:r>
          </a:p>
        </p:txBody>
      </p:sp>
      <p:sp>
        <p:nvSpPr>
          <p:cNvPr id="8" name="s10-stat2">
            <a:extLst xmlns:a="http://schemas.openxmlformats.org/drawingml/2006/main">
              <a:ext uri="{FF2B5EF4-FFF2-40B4-BE49-F238E27FC236}">
                <a16:creationId xmlns:a16="http://schemas.microsoft.com/office/drawing/2014/main" id="{345622D2-EC3D-4EC5-8D75-B85861ED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1905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−6.51%</a:t>
            </a:r>
          </a:p>
        </p:txBody>
      </p:sp>
      <p:sp>
        <p:nvSpPr>
          <p:cNvPr id="9" name="s10-stat2l">
            <a:extLst xmlns:a="http://schemas.openxmlformats.org/drawingml/2006/main">
              <a:ext uri="{FF2B5EF4-FFF2-40B4-BE49-F238E27FC236}">
                <a16:creationId xmlns:a16="http://schemas.microsoft.com/office/drawing/2014/main" id="{151CF7FC-A3DD-4420-802B-2AF969D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训练前延迟</a:t>
            </a:r>
          </a:p>
        </p:txBody>
      </p:sp>
      <p:sp>
        <p:nvSpPr>
          <p:cNvPr id="10" name="s10-conclusion">
            <a:extLst xmlns:a="http://schemas.openxmlformats.org/drawingml/2006/main">
              <a:ext uri="{FF2B5EF4-FFF2-40B4-BE49-F238E27FC236}">
                <a16:creationId xmlns:a16="http://schemas.microsoft.com/office/drawing/2014/main" id="{B7288699-A378-4BB8-81DD-1922273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仅 64×1 + Box×1 通过；32×1 参数更少，却因通道对齐与小 Kernel 效率变慢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04850" y="1905000"/>
          <a:ext xmlns:a="http://schemas.openxmlformats.org/drawingml/2006/main" cx="60579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c13c3c9e054582"/>
          </a:graphicData>
        </a:graphic>
      </p:graphicFrame>
    </p:spTree>
    <p:extLst>
      <p:ext uri="{BB962C8B-B14F-4D97-AF65-F5344CB8AC3E}">
        <p14:creationId xmlns:p14="http://schemas.microsoft.com/office/powerpoint/2010/main" val="10899185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92E18254-DD6E-44FA-A7EA-A14FC558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1A7135E-D6BA-443E-88BB-2C1D4CC5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自适应 epoch 只在证据上升时续训，累计 50 轮后硬停止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843EF000-5860-40A6-91B7-91FB7CE8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25</a:t>
            </a:r>
          </a:p>
        </p:txBody>
      </p:sp>
      <p:cxnSp>
        <p:nvCxnSpPr>
          <p:cNvPr id="59" name="s3-axis"/>
          <p:cNvCxnSpPr/>
          <p:nvPr/>
        </p:nvCxnSpPr>
        <p:spPr>
          <a:xfrm xmlns:a="http://schemas.openxmlformats.org/drawingml/2006/main">
            <a:off x="742950" y="3333750"/>
            <a:ext cx="106870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3-node1">
            <a:extLst xmlns:a="http://schemas.openxmlformats.org/drawingml/2006/main">
              <a:ext uri="{FF2B5EF4-FFF2-40B4-BE49-F238E27FC236}">
                <a16:creationId xmlns:a16="http://schemas.microsoft.com/office/drawing/2014/main" id="{CEB607B0-5191-4865-8BF2-D92A7046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node2">
            <a:extLst xmlns:a="http://schemas.openxmlformats.org/drawingml/2006/main">
              <a:ext uri="{FF2B5EF4-FFF2-40B4-BE49-F238E27FC236}">
                <a16:creationId xmlns:a16="http://schemas.microsoft.com/office/drawing/2014/main" id="{17CB668F-D74D-4192-89CE-3503DED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node3">
            <a:extLst xmlns:a="http://schemas.openxmlformats.org/drawingml/2006/main">
              <a:ext uri="{FF2B5EF4-FFF2-40B4-BE49-F238E27FC236}">
                <a16:creationId xmlns:a16="http://schemas.microsoft.com/office/drawing/2014/main" id="{D60B953B-D150-44C4-B5BE-BCB16F17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node4">
            <a:extLst xmlns:a="http://schemas.openxmlformats.org/drawingml/2006/main">
              <a:ext uri="{FF2B5EF4-FFF2-40B4-BE49-F238E27FC236}">
                <a16:creationId xmlns:a16="http://schemas.microsoft.com/office/drawing/2014/main" id="{4ED32FCC-3A52-4B8D-85CE-1614522B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-label1">
            <a:extLst xmlns:a="http://schemas.openxmlformats.org/drawingml/2006/main">
              <a:ext uri="{FF2B5EF4-FFF2-40B4-BE49-F238E27FC236}">
                <a16:creationId xmlns:a16="http://schemas.microsoft.com/office/drawing/2014/main" id="{F23FC516-5CDD-4360-94E3-E55A59BF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10E</a:t>
            </a:r>
          </a:p>
        </p:txBody>
      </p:sp>
      <p:sp>
        <p:nvSpPr>
          <p:cNvPr id="10" name="s3-label2">
            <a:extLst xmlns:a="http://schemas.openxmlformats.org/drawingml/2006/main">
              <a:ext uri="{FF2B5EF4-FFF2-40B4-BE49-F238E27FC236}">
                <a16:creationId xmlns:a16="http://schemas.microsoft.com/office/drawing/2014/main" id="{C2E476CB-E5BC-4DFB-A9A7-8AAA2BB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TDD</a:t>
            </a:r>
          </a:p>
        </p:txBody>
      </p:sp>
      <p:sp>
        <p:nvSpPr>
          <p:cNvPr id="11" name="s3-label3">
            <a:extLst xmlns:a="http://schemas.openxmlformats.org/drawingml/2006/main">
              <a:ext uri="{FF2B5EF4-FFF2-40B4-BE49-F238E27FC236}">
                <a16:creationId xmlns:a16="http://schemas.microsoft.com/office/drawing/2014/main" id="{B62DE044-6CA7-486A-8C63-465254E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30E</a:t>
            </a:r>
          </a:p>
        </p:txBody>
      </p:sp>
      <p:sp>
        <p:nvSpPr>
          <p:cNvPr id="12" name="s3-label4">
            <a:extLst xmlns:a="http://schemas.openxmlformats.org/drawingml/2006/main">
              <a:ext uri="{FF2B5EF4-FFF2-40B4-BE49-F238E27FC236}">
                <a16:creationId xmlns:a16="http://schemas.microsoft.com/office/drawing/2014/main" id="{9EEE30B3-EF42-464E-B7B9-EBADDA80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43200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50E</a:t>
            </a:r>
          </a:p>
        </p:txBody>
      </p:sp>
      <p:sp>
        <p:nvSpPr>
          <p:cNvPr id="13" name="s3-title1">
            <a:extLst xmlns:a="http://schemas.openxmlformats.org/drawingml/2006/main">
              <a:ext uri="{FF2B5EF4-FFF2-40B4-BE49-F238E27FC236}">
                <a16:creationId xmlns:a16="http://schemas.microsoft.com/office/drawing/2014/main" id="{67430A42-3894-4E28-8BF5-8DE95541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短周期精度门禁</a:t>
            </a:r>
          </a:p>
        </p:txBody>
      </p:sp>
      <p:sp>
        <p:nvSpPr>
          <p:cNvPr id="14" name="s3-body1">
            <a:extLst xmlns:a="http://schemas.openxmlformats.org/drawingml/2006/main">
              <a:ext uri="{FF2B5EF4-FFF2-40B4-BE49-F238E27FC236}">
                <a16:creationId xmlns:a16="http://schemas.microsoft.com/office/drawing/2014/main" id="{5A6A2AC7-03C2-47D6-B178-DBB4EBF3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Pose 0.3181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末 4 轮持续上升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允许追加 20e</a:t>
            </a:r>
          </a:p>
        </p:txBody>
      </p:sp>
      <p:sp>
        <p:nvSpPr>
          <p:cNvPr id="15" name="s3-title2">
            <a:extLst xmlns:a="http://schemas.openxmlformats.org/drawingml/2006/main">
              <a:ext uri="{FF2B5EF4-FFF2-40B4-BE49-F238E27FC236}">
                <a16:creationId xmlns:a16="http://schemas.microsoft.com/office/drawing/2014/main" id="{CD6B03EE-A8C2-4174-96BA-B89EBF1D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设备迁移故障恢复</a:t>
            </a:r>
          </a:p>
        </p:txBody>
      </p:sp>
      <p:sp>
        <p:nvSpPr>
          <p:cNvPr id="16" name="s3-body2">
            <a:extLst xmlns:a="http://schemas.openxmlformats.org/drawingml/2006/main">
              <a:ext uri="{FF2B5EF4-FFF2-40B4-BE49-F238E27FC236}">
                <a16:creationId xmlns:a16="http://schemas.microsoft.com/office/drawing/2014/main" id="{328A32BD-DA51-4867-9E06-ED06AB2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2857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r2 首 batch 安全失败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丢弃陈旧 criterion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21 项聚焦测试通过</a:t>
            </a:r>
          </a:p>
        </p:txBody>
      </p:sp>
      <p:sp>
        <p:nvSpPr>
          <p:cNvPr id="17" name="s3-title3">
            <a:extLst xmlns:a="http://schemas.openxmlformats.org/drawingml/2006/main">
              <a:ext uri="{FF2B5EF4-FFF2-40B4-BE49-F238E27FC236}">
                <a16:creationId xmlns:a16="http://schemas.microsoft.com/office/drawing/2014/main" id="{86645C46-4239-4997-BF3F-7F5E867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累计 30 轮</a:t>
            </a:r>
          </a:p>
        </p:txBody>
      </p:sp>
      <p:sp>
        <p:nvSpPr>
          <p:cNvPr id="18" name="s3-body3">
            <a:extLst xmlns:a="http://schemas.openxmlformats.org/drawingml/2006/main">
              <a:ext uri="{FF2B5EF4-FFF2-40B4-BE49-F238E27FC236}">
                <a16:creationId xmlns:a16="http://schemas.microsoft.com/office/drawing/2014/main" id="{BFB3DEE9-B78A-4C05-A291-60604385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Pose 0.3631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Box 0.5428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NME 0.0781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末 5 轮仍上升</a:t>
            </a:r>
          </a:p>
        </p:txBody>
      </p:sp>
      <p:sp>
        <p:nvSpPr>
          <p:cNvPr id="19" name="s3-title4">
            <a:extLst xmlns:a="http://schemas.openxmlformats.org/drawingml/2006/main">
              <a:ext uri="{FF2B5EF4-FFF2-40B4-BE49-F238E27FC236}">
                <a16:creationId xmlns:a16="http://schemas.microsoft.com/office/drawing/2014/main" id="{00D52671-1CBB-48CC-9D02-144982A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68452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FINAL 50E</a:t>
            </a:r>
          </a:p>
          <a:p xmlns:a="http://schemas.openxmlformats.org/drawingml/2006/main">
            <a:pPr algn="r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NO MORE EXTENSION</a:t>
            </a:r>
          </a:p>
        </p:txBody>
      </p:sp>
    </p:spTree>
    <p:extLst>
      <p:ext uri="{BB962C8B-B14F-4D97-AF65-F5344CB8AC3E}">
        <p14:creationId xmlns:p14="http://schemas.microsoft.com/office/powerpoint/2010/main" val="10547044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0">
            <a:extLst xmlns:a="http://schemas.openxmlformats.org/drawingml/2006/main">
              <a:ext uri="{FF2B5EF4-FFF2-40B4-BE49-F238E27FC236}">
                <a16:creationId xmlns:a16="http://schemas.microsoft.com/office/drawing/2014/main" id="{8202CE1C-059F-40E4-93DA-2EA633A4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F6B04CD-11E2-4C1E-91D5-CDA93448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耗时瓶颈复盘：Head 变轻后，71.6% 时间仍在 Backbone + Neck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9E38C73-2A80-4A6F-8C83-2CB1DF82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26</a:t>
            </a:r>
          </a:p>
        </p:txBody>
      </p:sp>
      <p:sp>
        <p:nvSpPr>
          <p:cNvPr id="4" name="s10-chart-frame">
            <a:extLst xmlns:a="http://schemas.openxmlformats.org/drawingml/2006/main">
              <a:ext uri="{FF2B5EF4-FFF2-40B4-BE49-F238E27FC236}">
                <a16:creationId xmlns:a16="http://schemas.microsoft.com/office/drawing/2014/main" id="{D9BD1F2A-45FB-4D64-9D0D-69A98D9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00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0-method">
            <a:extLst xmlns:a="http://schemas.openxmlformats.org/drawingml/2006/main">
              <a:ext uri="{FF2B5EF4-FFF2-40B4-BE49-F238E27FC236}">
                <a16:creationId xmlns:a16="http://schemas.microsoft.com/office/drawing/2014/main" id="{9BA9C8E9-574A-4B98-A93C-33EC5A2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4095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绝对值：无 Hook 3×1000 benchmark；占比：CUDA Event 顶层模块剖析</a:t>
            </a:r>
          </a:p>
        </p:txBody>
      </p:sp>
      <p:sp>
        <p:nvSpPr>
          <p:cNvPr id="6" name="s10-stat1">
            <a:extLst xmlns:a="http://schemas.openxmlformats.org/drawingml/2006/main">
              <a:ext uri="{FF2B5EF4-FFF2-40B4-BE49-F238E27FC236}">
                <a16:creationId xmlns:a16="http://schemas.microsoft.com/office/drawing/2014/main" id="{0882864E-963E-47A0-BBB5-A320F24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200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−6.39%</a:t>
            </a:r>
          </a:p>
        </p:txBody>
      </p:sp>
      <p:sp>
        <p:nvSpPr>
          <p:cNvPr id="7" name="s10-stat1l">
            <a:extLst xmlns:a="http://schemas.openxmlformats.org/drawingml/2006/main">
              <a:ext uri="{FF2B5EF4-FFF2-40B4-BE49-F238E27FC236}">
                <a16:creationId xmlns:a16="http://schemas.microsoft.com/office/drawing/2014/main" id="{41886ECD-DBD7-4E2E-A406-243B930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官方同口径延迟</a:t>
            </a:r>
          </a:p>
        </p:txBody>
      </p:sp>
      <p:sp>
        <p:nvSpPr>
          <p:cNvPr id="8" name="s10-stat2">
            <a:extLst xmlns:a="http://schemas.openxmlformats.org/drawingml/2006/main">
              <a:ext uri="{FF2B5EF4-FFF2-40B4-BE49-F238E27FC236}">
                <a16:creationId xmlns:a16="http://schemas.microsoft.com/office/drawing/2014/main" id="{345622D2-EC3D-4EC5-8D75-B85861ED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1905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71.6%</a:t>
            </a:r>
          </a:p>
        </p:txBody>
      </p:sp>
      <p:sp>
        <p:nvSpPr>
          <p:cNvPr id="9" name="s10-stat2l">
            <a:extLst xmlns:a="http://schemas.openxmlformats.org/drawingml/2006/main">
              <a:ext uri="{FF2B5EF4-FFF2-40B4-BE49-F238E27FC236}">
                <a16:creationId xmlns:a16="http://schemas.microsoft.com/office/drawing/2014/main" id="{151CF7FC-A3DD-4420-802B-2AF969D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24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FastHead Backbone+Neck</a:t>
            </a:r>
          </a:p>
        </p:txBody>
      </p:sp>
      <p:sp>
        <p:nvSpPr>
          <p:cNvPr id="10" name="s10-conclusion">
            <a:extLst xmlns:a="http://schemas.openxmlformats.org/drawingml/2006/main">
              <a:ext uri="{FF2B5EF4-FFF2-40B4-BE49-F238E27FC236}">
                <a16:creationId xmlns:a16="http://schemas.microsoft.com/office/drawing/2014/main" id="{B7288699-A378-4BB8-81DD-1922273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Head 参数 −45.7%，Head 时间仅 −21.0%；Head 仍是最大单模块 28.4%，下一步应优化 PSA / C2f 与部署 Kernel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04850" y="1905000"/>
          <a:ext xmlns:a="http://schemas.openxmlformats.org/drawingml/2006/main" cx="60579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7dad82e7c740ed"/>
          </a:graphicData>
        </a:graphic>
      </p:graphicFrame>
    </p:spTree>
    <p:extLst>
      <p:ext uri="{BB962C8B-B14F-4D97-AF65-F5344CB8AC3E}">
        <p14:creationId xmlns:p14="http://schemas.microsoft.com/office/powerpoint/2010/main" val="108991854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76DDBAD-A408-4253-A12E-7D791F93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最终工程结论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63A72C2-986F-482A-AAC1-FA048D86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990600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速度门禁通过</a:t>
            </a:r>
          </a:p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精度门禁失败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7A15255-F704-496C-BE3E-6484D8BD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9906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FastHead：参数 −24.64% · 延迟 −6.39% · Pose mAP −0.13886｜不替换 200e baseline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C477F6B5-B7A1-4A48-BCE5-6E9C934F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部署仍选：200e baseline + 640 + one-to-one-only + Conv/BN fuse + FP16</a:t>
            </a:r>
          </a:p>
        </p:txBody>
      </p:sp>
    </p:spTree>
    <p:extLst>
      <p:ext uri="{BB962C8B-B14F-4D97-AF65-F5344CB8AC3E}">
        <p14:creationId xmlns:p14="http://schemas.microsoft.com/office/powerpoint/2010/main" val="256010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2026-07-24T02:02:51.6410000Z</dcterms:created>
  <dcterms:modified xsi:type="dcterms:W3CDTF">2026-07-24T02:02:51.6410000Z</dcterms:modified>
</coreProperties>
</file>